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c:v>
                </c:pt>
              </c:strCache>
            </c:strRef>
          </c:tx>
          <c:spPr>
            <a:solidFill>
              <a:srgbClr val="5B685D"/>
            </a:solidFill>
            <a:effectLst/>
          </c:spPr>
          <c:invertIfNegative val="0"/>
          <c:dLbls>
            <c:numFmt formatCode="#.##0 &quot;€&quot;" sourceLinked="0"/>
            <c:txPr>
              <a:bodyPr/>
              <a:lstStyle/>
              <a:p>
                <a:pPr>
                  <a:defRPr b="1" i="0" strike="noStrike" sz="1700" u="none">
                    <a:solidFill>
                      <a:srgbClr val="1A1819"/>
                    </a:solidFill>
                    <a:latin typeface="Calibri"/>
                  </a:defRPr>
                </a:pPr>
              </a:p>
            </c:txPr>
            <c:showLegendKey val="0"/>
            <c:showVal val="1"/>
            <c:showCatName val="0"/>
            <c:showSerName val="0"/>
            <c:showPercent val="0"/>
            <c:showBubbleSize val="0"/>
            <c:showLeaderLines val="0"/>
          </c:dLbls>
          <c:dPt>
            <c:idx val="0"/>
            <c:invertIfNegative val="0"/>
            <c:bubble3D val="0"/>
            <c:spPr>
              <a:solidFill>
                <a:srgbClr val="5B685D"/>
              </a:solidFill>
              <a:effectLst/>
            </c:spPr>
          </c:dPt>
          <c:dPt>
            <c:idx val="1"/>
            <c:invertIfNegative val="0"/>
            <c:bubble3D val="0"/>
            <c:spPr>
              <a:solidFill>
                <a:srgbClr val="B5544D"/>
              </a:solidFill>
              <a:effectLst/>
            </c:spPr>
          </c:dPt>
          <c:dPt>
            <c:idx val="2"/>
            <c:invertIfNegative val="0"/>
            <c:bubble3D val="0"/>
            <c:spPr>
              <a:solidFill>
                <a:srgbClr val="2E7D3A"/>
              </a:solidFill>
              <a:effectLst/>
            </c:spPr>
          </c:dPt>
          <c:cat>
            <c:multiLvlStrRef>
              <c:f>Sheet1!$A$2:$A$4</c:f>
              <c:multiLvlStrCache>
                <c:ptCount val="3"/>
                <c:lvl>
                  <c:pt idx="0">
                    <c:v>Angebot</c:v>
                  </c:pt>
                  <c:pt idx="1">
                    <c:v>zu knapp</c:v>
                  </c:pt>
                  <c:pt idx="2">
                    <c:v>richtig</c:v>
                  </c:pt>
                </c:lvl>
              </c:multiLvlStrCache>
            </c:multiLvlStrRef>
          </c:cat>
          <c:val>
            <c:numRef>
              <c:f>Sheet1!$B$2:$B$4</c:f>
              <c:numCache>
                <c:formatCode>General</c:formatCode>
                <c:ptCount val="3"/>
                <c:pt idx="0">
                  <c:v>33278</c:v>
                </c:pt>
                <c:pt idx="1">
                  <c:v>35000</c:v>
                </c:pt>
                <c:pt idx="2">
                  <c:v>45000</c:v>
                </c:pt>
              </c:numCache>
            </c:numRef>
          </c:val>
        </c:ser>
        <c:dLbls>
          <c:numFmt formatCode="#.##0 &quot;€&quot;" sourceLinked="0"/>
          <c:txPr>
            <a:bodyPr/>
            <a:lstStyle/>
            <a:p>
              <a:pPr>
                <a:defRPr b="1" i="0" strike="noStrike" sz="1700" u="none">
                  <a:solidFill>
                    <a:srgbClr val="1A1819"/>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500" b="0" i="0" u="none" strike="noStrike">
                <a:solidFill>
                  <a:srgbClr val="5B685D"/>
                </a:solidFill>
                <a:latin typeface="Calibri"/>
              </a:defRPr>
            </a:pPr>
            <a:endParaRPr lang="en-US"/>
          </a:p>
        </c:txPr>
        <c:crossAx val="2094734552"/>
        <c:crosses val="autoZero"/>
        <c:auto val="1"/>
        <c:lblAlgn val="ctr"/>
        <c:noMultiLvlLbl val="1"/>
      </c:catAx>
      <c:valAx>
        <c:axId val="2094734552"/>
        <c:scaling>
          <c:orientation val="minMax"/>
          <c:max val="5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BEGRUESSUNG
Erstes vollstaendiges Zusammenkommen nach der Sommerpause. Das Fruehstueck am 24.07. ist urlaubsbedingt ausgefallen.
Kurz abholen: Wer war weg, wer ist wieder da, wie war der Sommer.
Dann ansagen, wie das Meeting laeuft: Ich rede, die Folien zeigen nur das Wesentliche. Alle Details liegen als Handout in Teams - niemand muss mitschreiben.
Dauer: rund 45 Minuten, danach Zeit fuer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 nur kurz benennen, nicht ausbreiten.
01 GESETZ: Das GModG gilt. Was ab sofort zaehlt, was zum 01.01.2027 kommt, und ein Foerderfenster, das im November zufaellt.
02 MARKT: Foerderpraxis, neue Preise, unsere Sichtbarkeit, neue Werkzeuge, ein neuer Standort.
03 TEAM: Code of Conduct, Personelles, eine offene Stelle und Termine.
Ansage: Fragen gerne sofort dazwischen, nicht bis zum Schluss sammeln.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KAPITELSTART GESETZ
Die Teamschulung habt ihr alle gehabt, die Unterlagen liegen in Teams. Heute nur die Punkte, die im Alltag sofort wirken - kein Paragrafenritt.
Statusansage: Das Gesetz wurde am 09.07. von Bundestag und Bundesrat beschlossen und ist inzwischen verkuendet. Es ist geltendes Recht, keine Ankuendigung mehr.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GESCHWINDIGKEITEN - das ist die wichtigste Unterscheidung im ganzen Gesetz.
LINKS, GILT AB SOFORT:
- Die 65-Prozent-EE-Pflicht ist gestrichen, samt Betriebsverboten und 30-Jahre-Regel.
- Stattdessen freie Wahl aus einem Optionenkatalog. Wer fossil einbaut, bekommt ab 2029 steigende Bio-Anteile im Brennstoff.
- Die Pflichtberatung vor fossilem Einbau entfaellt. Wir dokumentieren unsere Empfehlung trotzdem schriftlich - das ist Eigenschutz.
- Bei irreparablem Ausfall gilt eine Karenz von 12 Monaten.
RECHTS, KOMMT ZU STUFE 2 (rund um den 01.01.2027):
- Neue Rechenregeln und neue Bezugsflaeche fuer jede Bilanz.
- Nichtwohngebaeude nur noch mit Bedarfsausweis.
- Erstmals Sanierungspflicht im Nichtwohn-Bestand.
- Bundesweite Solarpflicht und die GEIG-Pflichten fuer Stellplaetze.
KERNBOTSCHAFT: Wer noch mit 65-Prozent-Argumentation ins Kundengespraech geht, erzaehlt Recht von gestern. Aber: In der Bilanzierung aendert sich JETZT noch nichts. Wer gerade rechnet, rechnet weiter wie bisher.
Das exakte Stufe-2-Datum haengt am Verkuendungsmonat - erster Tag des sechsten Folgemonats. Ich gebe es im Sanierungs-Chat durch.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FUENF ZEITSTUFEN - bitte fotografieren lassen, das ist die Orientierung fuer die naechsten Jahre.
JETZT: 65 Prozent und Betriebsverbote gestrichen. Neues Heizungsrecht, Havarie-Regeln, neues Mietrecht.
01.01.2027 (Stufe 2): Neue Rechenregeln, neues Ausweisrecht, NWG-Sanierungspflicht, Solarpflicht und GEIG.
01.01.2028: Nullemission fuer neue oeffentliche Nichtwohngebaeude. CO2-Kosten und Netzentgelte gehen bei Vermietung zur Haelfte auf den Vermieter ueber. THG-Bericht ab 1.000 Quadratmeter.
01.01.2029: Bio-Anteil 10 Prozent fuer neue fossile Kessel. Brennstoffkosten haelftig. Gebaeudeautomation bis Ende 2029 nachgeruestet.
01.01.2030: Nullemission fuer alle Neubauten. Referenz-fp sinkt auf 0,70. Nichtwohngebaeude hoechstens 3,5-fache des Referenzwerts. Solarpflicht fuer neue Wohngebaeude.
DANACH: 2033 zweite NWG-Stufe, 2035 Bio-Anteil 30 Prozent, 2040 dann 60 Prozent, 2045 Brennstoffe klimaneutral ueber die Lieferantenquote.
Fuer den Alltag zaehlen die ersten beiden Stufen. Alles ab 2028 ist Planungshorizont - aber relevant, wenn wir heute Anlagen auslegen, die 20 Jahre laufen.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NEUE RECHENREGELN - gilt ab Stufe 2, rund um den 01.01.2027.
DIE NORM: DIN/TS 18599:2025-10 wird das einzige Bilanzierungsverfahren. DIN V 4701-10 und das alte Modellgebaeudeverfahren entfallen. Nutzungsprofile rutschen von Tabelle 5 in Tabelle 6. U-Wert-Normen sind aktualisiert.
DIE BEZUGSFLAECHE - das ist der eigentliche Hebel:
- Bisher Wohngebaeude: AN gleich 0,32 mal Ve. Eine Rechengroesse, meist deutlich groesser als die echte Wohnflaeche.
- Bisher Nichtwohngebaeude: Nettogrundflaeche.
- Neu fuer beide: 'Nutzflaeche', also die tatsaechlich beheizte oder gekuehlte Nettoraumflaeche nach DIN 277.
DIE FOLGE UND UNSERE WICHTIGSTE KUNDENBOTSCHAFT: Alle kWh-pro-Quadratmeter-Kennwerte verschieben sich systematisch nach oben. Alte und neue Ausweise sind nicht mehr direkt vergleichbar.
Das muessen wir aktiv erklaeren, BEVOR der Kunde es selbst merkt und uns einen Rechenfehler unterstellt.
WAS WIR VORBEREITEN: Software-Update Hottgenroth rechtzeitig einspielen. Projekte mit Fertigstellung ab 2027 schon jetzt vorausschauend kalkulieren.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GEIG - LADEINFRASTRUKTUR. Gilt ab Stufe 2.
WER MUSS WAS:
- Neubau Wohngebaeude ueber 3 Stellplaetze: 50 Prozent vorverkabeln, mindestens 1 Ladepunkt.
- Neubau Nichtwohngebaeude ueber 5 Stellplaetze: 50 Prozent vorverkabeln, 1 Ladepunkt je fuenftem Stellplatz.
- Grosse Renovierung, Wohngebaeude ueber 3 oder Nichtwohngebaeude ueber 5: wie Neubau, wenn Parkplatz oder Elektrik betroffen sind.
- Bestand Nichtwohngebaeude ueber 20 Stellplaetze, ab 01.01.2027: 1 Ladepunkt je 10 Stellplaetze ODER 50 Prozent Leitungsinfrastruktur.
DER HAEUFIGSTE FEHLER IN DER PRAXIS: 'Vorverkabeln' heisst anschlussfertig bis zum Endpunkt. Reine Leerrohre oder Kabelkanaele genuegen ausdruecklich NICHT. Das aendert die Kalkulation spuerbar - bitte bei Bauherren frueh ansprechen.
Neue Ladepunkte muessen ausserdem intelligentes Laden beherrschen.
UEBERLEITUNG zur naechsten Folie: Und genau dafuer gibt es gerade Geld - aber nicht mehr 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FOERDERPROGRAMM 'LADEN IM MEHRPARTEIENHAUS' - das ist der konkreteste Umsatzpunkt des ganzen Meetings.
Bundesprogramm des Verkehrsministeriums, 500 Millionen Euro Volumen.
FOERDERHOEHE je Stellplatz:
- bis 1.300 Euro ohne installierte Wallbox
- bis 1.500 Euro mit installierter Wallbox
- bis 2.000 Euro mit bidirektionaler Wallbox
FRIST: Antraege laufen seit dem 15.04.2026 und nur noch bis zum 10.11.2026. Wir haben also gut drei Monate. Danach ist das Programm zu.
VORAUSSETZUNGEN:
- Mindestens 20 Prozent der vorhandenen Stellplaetze werden vorverkabelt
- Mindestens 6 Stellplaetze werden elektrifiziert
- Der laufende Betrieb erfolgt mit erneuerbarem Strom
ANTRAGSBERECHTIGT: Wohnungseigentuemergemeinschaften, Vermieter und kleine Unternehmen. Gefoerdert werden Wallbox, Elektroinstallation, Netzanschluss und bauliche Massnahmen. Kombinierbar mit KfW- und Landesfoerderung, solange die Summe die foerderfaehigen Gesamtkosten nicht uebersteigt.
FUER UNS: Jede WEG und jeder Vermieter mit Stellplaetzen im Bestand ist ein Kandidat. Zielgruppe passt perfekt - das sind die Leute, die wir ohnehin zu Sanierung und Heizung beraten. Und die GEIG-Pflicht von der Folie davor liefert den Aufhaenger fuers Gespraech.
AUFGABE: Bitte geht eure laufenden Projekte durch, wo Stellplaetze dabei sind. Bei Fragen zur Antragstellung kommt auf mich 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FRISTENKALENDER - kurz stehen lassen und fotografieren lassen. Nicht vorlesen.
Die ausfuehrliche Tabelle mit allen Einzelfristen ist im Handout in Teams.
DIE WICHTIGSTEN PUNKTE:
- 10.11.2026: letzter Tag fuer Antraege 'Laden im Mehrparteienhaus'
- rund 01.01.2027: Stufe 2 mit neuen Rechenregeln, Ausweisrecht, NWG-Pflicht, Solarpflicht, GEIG
- 01.01.2027: GEIG fuer Bestands-NWG ueber 20 Stellplaetze, Solarpflicht neue NWG ueber 250 qm
- 30.09.2027: Heizungscheck fuer Anlagen von vor Oktober 2009 abgeschlossen
- 01.01.2028: Nullemission neue oeffentliche NWG, CO2 und Netzentgelte haelftig
- 01.01.2029: Bio-Anteil 10 Prozent, Brennstoffkosten-Teilung
- 31.12.2029: Gebaeudeautomation NWG ueber 70 kW nachgeruestet
- 01.01.2030: Nullemission alle Neubauten, NWG hoechstens 3,5-fach, Solarpflicht Wohngebaeude
- 01.01.2033: NWG hoechstens 2,95-fach, also mindestens Klasse E
- 2045: Brennstoffe klimaneutral ueber die Lieferantenquote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KAPITELSTART PRAXIS UND MARKT
Genug Gesetz. Jetzt zu dem, was bei uns im Haus passiert ist - und da war trotz Sommerpause einiges los.
Kommt: ein Merksatz zu Foerderantraegen, neue Preise, unsere Sichtbarkeit, neue Werkzeuge, ein Projekt zum Kennenlernen und ein neuer Standort.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PUFFER IN DER BZA - Merksatz von David aus dem Sanierungs-Chat, diese Woche.
SEIN ZITAT: 'Plant ausreichend Puffer in den Antraegen und BzAs ein. Wir haben ja keinen Nachteil, wenn da mehr drinsteht.'
DAS BEISPIEL: Angebot vom Heizungsbauer liegt bei 33.278 Euro. Dann sind 35.000 Euro in der BzA bei zwei Wohneinheiten zu knapp. Richtig waeren 42.000 bis 45.000 Euro.
WARUM DAS WICHTIG IST:
- Ein zu knapp bemessener Antrag wird zum Problem, sobald die Kosten steigen - und sie steigen fast immer.
- Ein hoeherer Ansatz kostet uns nichts. Abgerechnet wird ohnehin nach tatsaechlichem Aufwand.
- Nachtraegliche Korrekturen kosten Zeit, Nerven und im Zweifel das Vertrauen des Kunden.
Bitte ab sofort als Standard uebernehmen.
David kurz das Wort geben, falls er ergaenzen moechte.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NEUE PREISLISTE UND NEUER PREISRECHNER - beides liegt in Teams.
PREISLISTE 2026:
- Gueltig ab 01.01.2026, alle Preise inklusive Mehrwertsteuer
- Enthaelt jeweils den Eigenanteil des Kunden - das erspart die Rueckfrage im Gespraech
- Liegt als Excel und als PDF vor
PREISRECHNER:
- Positionen anklicken, die Summe rechnet sich automatisch
- Positionen 'nach Aufwand' sind bewusst nicht in der Summe enthalten
- Gedacht fuer das Gespraech am Tisch und fuer schnelle Auskuenfte am Telefon
ZWEI BITTEN:
Erstens: keine alten Preislisten mehr verwenden, auch nicht die ausgedruckte in der Schublade.
Zweitens: Wenn euch beim Arbeiten etwas fehlt oder falsch erscheint, sagt Bescheid. Der Rechner laesst sich schnell anpassen.
Wenn ein Rechner am Beamer haengt: den Preisrechner kurz live zeigen. Das ueberzeugt mehr als jede Beschreibung.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SICHTBARKEIT - kurzer Stolz-Moment fuers Team. Wir waren in der Sommerpause praesenter als manche im Vollbetrieb.
16.07. WEBINAR KFW UND BAFA: Neue Foerderbedingungen 2026, direkt vor der Sommerpause. Mit Steffi.
20.07. WEBINAR GMODG: 'Was sich jetzt aendert', erster Durchlauf. Mit Chiara und Steffi.
03.08. WEBINAR GMODG, ZWEITER DURCHLAUF: Teilnehmer aus dem Handwerk - Holz-Striewe, WW Energie, Dehrendorf, CH-PB.
06.08. WDR OSTWESTFALEN-LIPPE: Beitrag ueber das Kuehlen mit der Waermepumpe im Sommer, Kreis Hoexter - mit Zitat von uns. Marketing greift das fuer Social Media auf.
DANKE an Chiara und Steffi - die Webinare liefen, waehrend ich weg war.
BOTSCHAFT: Das ist unser Vorsprung. Wenn ihr im Kundengespraech oder im Netzwerk Fragen zum GModG bekommt, koennt ihr antworten. Andere lesen das Gesetz noch.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 IM ARBEITSALLTAG - nicht als Technik-Thema verkaufen, sondern als Arbeitserleichterung.
WAS DAMIT ENTSTANDEN IST:
1. Preisrechner - aus der Preisliste 2026 gebaut, sofort einsatzbereit
2. Sanierungsratgeber - wird gerade auf den neuen Rechtsstand gebracht
3. Design System - Unterlagen und Grafiken im WERK.E-Look, ohne Layout-Arbeit
4. Social Media - Beitraege und Bildmaterial, zuletzt zum Thema Tiny Houses
WENN IHR DAMIT ARBEITEN WOLLT:
- Sprecht mich an, ich richte einen Zugang ein. Das dauert fuenf Minuten.
- Keine Kundendaten und keine personenbezogenen Daten hineingeben. Das ist nicht verhandelbar.
- Jedes Ergebnis wird fachlich geprueft, bevor es das Haus verlaesst. Die Verantwortung bleibt bei uns.
DER GEDANKE DAHINTER: Die Werkzeuge nehmen uns die Fleissarbeit ab - Layout, Formulierung, Zusammenstellen. Die fachliche Einschaetzung, die unsere Kunden bezahlen, kommt weiter von uns.
Wer skeptisch ist: voellig in Ordnung. Niemand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ESW EINSPARCONTRACTING KREIS HERFORD - kurz vorgestellt, weil viele das Projekt noch nicht kennen.
WAS EINSPARCONTRACTING BEDEUTET - die drei Stationen im Kreis:
1. Ein Dienstleister modernisiert die Gebaeudetechnik auf eigene Rechnung.
2. Die eingesparte Energie finanziert die Massnahme.
3. Der Eigentuemer zahlt weiter wie bisher, bis sich das getragen hat - er muss selbst nicht investieren.
Voraussetzung ist eine belastbare Analyse: Wie viel laesst sich wirklich einsparen? Genau da kommen wir ins Spiel.
WER DRAN IST: Christoph Diermann und Dominik Schlueter. Auftraggeber ist der Kreis Herford. Bei Fragen sprecht die beiden direkt an.
PLATZHALTER-HINWEIS: Aktuellen Projektstand hier ergaenzen - Umfang, Anzahl der Liegenschaften, wo es gerade steht. Am besten Christoph oder Dominik zwei Minuten selbst berichten lassen.
WARUM DAS FUER UNS INTERESSANT IST: Kommunale Liegenschaften bekommen mit dem GModG erstmals verbindliche Mindeststandards. Wer heute im Kreis Herford ueberzeugt, hat morgen die Referenz fuer jeden anderen Kreis in OWL.
AUFRUF: Wenn ihr bei Kommunen oder groesseren Bestandshaltern im Gespraech seid - Einsparcontracting mitdenken und an Christoph oder Dominik weitergeben.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NEUER STANDORT DORTMUND
Wir gruenden einen eigenen Standort in Dortmund. Ab dem 01.10. laeuft dort die Terminvergabe.
PLATZHALTER-HINWEIS: Bitte ergaenzen, was du kommunizieren moechtest - wer leitet den Standort, welche Raeume, welches Leistungsspektrum, ob dort jemand aus dem Team hingeht.
EINORDNUNG: Mit Paderborn, Kassel und ab Oktober Dortmund decken wir einen deutlich groesseren Raum ab. Fuer das Team heisst das mittelfristig auch mehr Moeglichkeiten - wenn sich jemand veraendern oder wachsen moechte.
Das ist die Folie mit der besten Stimmung im ganzen Deck. Ruhig kurz Raum fuer Reaktionen und Fragen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POLO MARKTEINFUEHRUNGSEVENT IN KASSEL, 03.09.2026
Gemeinsamer Auftritt mit WERK.E Mitte, Glinicke, Audi Kassel, Autarkstrom und der Kasseler Sparkasse. Wir sind mit dabei.
Der Updatecall dazu lief am 05.08., ich habe zugesagt.
AUFRUF: Wer Lust hat mitzufahren, soll sich bei mir melden.
Passt inhaltlich gut zum Ladeinfrastruktur-Thema von vorhin - Elektromobilitaet und Gebaeude gehoeren zusammen, und genau da sitzen wir dazwischen.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OF CONDUCT - HIER UEBERGEBE ICH AN LARISSA.
Ich moderiere nur an und halte mich danach zurueck. Das ist ihr Thema und soll auch so wahrgenommen werden.
ANMODERATION:
Bei WERK.E arbeiten viele Menschen mit sehr unterschiedlichen Aufgaben zusammen - von der Sanierung bis zur Verwaltung. Der Kodex haelt fest, wie wir miteinander umgehen wollen. Kein Regelwerk von oben, sondern eine gemeinsame Verstaendigung.
Der Entwurf ist ausdruecklich ein Arbeitsstand - er soll sich durch die Rueckmeldungen des Teams noch veraendern.
ERARBEITET VON der AG Demokratie und Gleichstellung im Betrieb: Larissa, Alina, Marike, Lisa und Birgitta. Es gibt bereits eine gestaltete Fassung als PDF, die geht mit dem Protokoll an alle raus.
FRAGEN AN DAS TEAM: Passt die Richtung? Fehlt etwas Wesentliches?
Genug Zeit einplanen. Das ist der Beteiligungspunkt des Meetings, kein Tagesordnungspunkt zum Abhaken.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DEM TEAM - warm und kurz halten.
1. KATRIN KOMMT ZURUECK: In drei Monaten geht es fuer sie wieder los. Wir setzen uns Ende August zusammen und besprechen, wie der Wiedereinstieg aussieht. Nicht zu viel vorwegnehmen.
2. DOMINIK HAT GEHEIRATET: Am 31.07. in Rietberg. Herzlichen Glueckwunsch von uns allen. Ruhig kurz applaudieren lassen.
3. VERTRETUNG IM URLAUB: Melissa ist bis zum 24.08. im Urlaub und hat vorher genau das gemacht, was ich mir von allen wuensche - eine kurze Nachricht in den Chat mit klaren Zustaendigkeiten:
   info@ geht an Biggi, Antraege an Lisa, Rueckfragen an Alina, Drucken und Versand ebenfalls an Alina.
WARUM DAS HILFT: Niemand muss raten, an wen er sich wendet. Keine Mail bleibt liegen, kein Kunde wartet unnoetig - und wer im Urlaub ist, hat wirklich Urlaub.
TON: Als positives Beispiel nennen, nicht als Ermahnung an alle anderen.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OFFENE STELLE: HANDWERKER / HAUSMEISTER
Das ist bewusst ein Empfehlungsaufruf ans Team, keine Stellenanzeige. Bei dieser Rolle findet man ueber Kollegenempfehlungen fast immer schneller jemanden als ueber eine Ausschreibung.
DAS PROFIL: Jemand, der anpackt, mitdenkt und zuverlaessig ist. Handwerkliches Geschick und Fuehrerschein.
PLATZHALTER-HINWEIS: Bitte ergaenzen - Vollzeit oder Teilzeit, ab wann, Einsatzort, und ob es eine Praemie fuer eine erfolgreiche Empfehlung gibt. Eine Praemie waere hier der wirksamste Hebel, unbedingt nennen wenn es sie gibt.
WARUM JETZT: Wir wachsen - mit Kassel, mit Dortmund ab Oktober und mit immer mehr Objekten, die betreut werden wollen. Vieles davon erledigen wir bisher nebenher. Das soll jemand machen, der es richtig kann.
DER AUFRUF: Denkt an Nachbarn, ehemalige Kollegen, Handwerker von der Baustelle, Bekannte aus dem Verein. Eine Empfehlung von euch sagt mehr ueber einen Menschen aus als jede Bewerbungsmappe. Es reicht voellig, mir einen Namen und eine Nummer zu geben - den Rest uebernehme ich.
WICHTIG BEIM VORTRAGEN: Nicht als Randnotiz abhandeln. Kurz Stille lassen, damit die Leute wirklich ueberlegen. Direkt fragen, ob jemand spontan einen Namen im Kopf hat - und den sofort notieren, nicht auf spaeter vertroesten.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FIVE GRILLEN IM SEPTEMBER - Save the Date.
Genauer Termin folgt. Haltet euch die Abende im September frei.
PLATZHALTER-HINWEIS: Wenn der Termin schon steht, hier nennen.
DREI KURZE INFOS ZUM SCHLUSS, nur erwaehnen:
- JobRad-Inspektion: Wer mag, kann sein Rad durchchecken lassen. Ist bereits bezahlt.
- Volksbank-Event: Die Zusagen sind raus. Wer noch mit moechte, kurz melden.
- SC Paderborn: Karten fuers Auswaertsspiel in Mainz, VIP-Tagesticket 270 Euro. Interesse an Annika.
- Der neue Opel Grandland ist geliefert. Papiere liegen bei Melissa (pruefen: sie ist bis 24.08. im Urlaub, ggf. Vertretung nennen).
Lockerer Teil, entsprechend im Ton. Etwas Vorfreude aufs Grillen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 die sechs Merksaetze laut vorlesen. Das sind die Saetze, die im Kopf bleiben sollen.
1. Das GModG gilt. Die 65-Prozent-Pflicht ist Geschichte - keine alten Konzepte mehr im Kundengespraech.
2. Ab Stufe 2 rund um den 01.01.2027 rechnen wir neu. Alte und neue Kennwerte sind nicht vergleichbar.
3. Laden im Mehrparteienhaus: bis 2.000 Euro je Stellplatz - aber nur noch bis zum 10.11.2026. Das ist der Punkt mit dem Zeitdruck, bitte noch einmal betonen.
4. Puffer in die BzA. Wir haben keinen Nachteil, wenn mehr drinsteht.
5. Ab dem 01.10. sind wir auch in Dortmund.
6. Wir suchen einen Handwerker oder Hausmeister - denkt bitte nach, wen ihr kennt. Diesen Punkt ernst meinen, nicht nur vorlesen.
DANN: Raum fuer Fragen. Was ich nicht beantworten kann, notiere ich und pflege es nach.
Hinweis ans Team: Das ausfuehrliche Handout mit allen Details, Paragrafen und Fristen liegt in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6675120" y="411480"/>
            <a:ext cx="6035040" cy="6035040"/>
          </a:xfrm>
          <a:prstGeom prst="ellipse">
            <a:avLst/>
          </a:prstGeom>
          <a:ln w="19050">
            <a:solidFill>
              <a:srgbClr val="256A30"/>
            </a:solidFill>
            <a:prstDash val="solid"/>
          </a:ln>
        </p:spPr>
      </p:sp>
      <p:sp>
        <p:nvSpPr>
          <p:cNvPr id="3" name="Shape 1"/>
          <p:cNvSpPr/>
          <p:nvPr/>
        </p:nvSpPr>
        <p:spPr>
          <a:xfrm>
            <a:off x="7406640" y="1143000"/>
            <a:ext cx="4572000" cy="4572000"/>
          </a:xfrm>
          <a:prstGeom prst="ellipse">
            <a:avLst/>
          </a:prstGeom>
          <a:ln w="31750">
            <a:solidFill>
              <a:srgbClr val="256A30"/>
            </a:solidFill>
            <a:prstDash val="solid"/>
          </a:ln>
        </p:spPr>
      </p:sp>
      <p:sp>
        <p:nvSpPr>
          <p:cNvPr id="4" name="Shape 2"/>
          <p:cNvSpPr/>
          <p:nvPr/>
        </p:nvSpPr>
        <p:spPr>
          <a:xfrm>
            <a:off x="8138160" y="1874520"/>
            <a:ext cx="3108960" cy="3108960"/>
          </a:xfrm>
          <a:prstGeom prst="ellipse">
            <a:avLst/>
          </a:prstGeom>
          <a:solidFill>
            <a:srgbClr val="2E7D3A"/>
          </a:solidFill>
          <a:ln/>
        </p:spPr>
      </p:sp>
      <p:sp>
        <p:nvSpPr>
          <p:cNvPr id="5" name="Shape 3"/>
          <p:cNvSpPr/>
          <p:nvPr/>
        </p:nvSpPr>
        <p:spPr>
          <a:xfrm>
            <a:off x="9006840" y="2743200"/>
            <a:ext cx="1371600" cy="1371600"/>
          </a:xfrm>
          <a:prstGeom prst="ellipse">
            <a:avLst/>
          </a:prstGeom>
          <a:solidFill>
            <a:srgbClr val="58B264"/>
          </a:solidFill>
          <a:ln/>
        </p:spPr>
      </p:sp>
      <p:sp>
        <p:nvSpPr>
          <p:cNvPr id="6" name="Text 4"/>
          <p:cNvSpPr/>
          <p:nvPr/>
        </p:nvSpPr>
        <p:spPr>
          <a:xfrm>
            <a:off x="777240" y="1417320"/>
            <a:ext cx="5486400" cy="457200"/>
          </a:xfrm>
          <a:prstGeom prst="rect">
            <a:avLst/>
          </a:prstGeom>
          <a:noFill/>
          <a:ln/>
        </p:spPr>
        <p:txBody>
          <a:bodyPr wrap="square" lIns="0" tIns="0" rIns="0" bIns="0" rtlCol="0" anchor="ctr"/>
          <a:lstStyle/>
          <a:p>
            <a:pPr indent="0" marL="0">
              <a:buNone/>
            </a:pPr>
            <a:r>
              <a:rPr lang="en-US" sz="1800" b="1" spc="400" kern="0" dirty="0">
                <a:solidFill>
                  <a:srgbClr val="58B264"/>
                </a:solidFill>
                <a:latin typeface="Trebuchet MS" pitchFamily="34" charset="0"/>
                <a:ea typeface="Trebuchet MS" pitchFamily="34" charset="-122"/>
                <a:cs typeface="Trebuchet MS" pitchFamily="34" charset="-120"/>
              </a:rPr>
              <a:t>WERK.E</a:t>
            </a:r>
            <a:endParaRPr lang="en-US" sz="1800" dirty="0"/>
          </a:p>
        </p:txBody>
      </p:sp>
      <p:sp>
        <p:nvSpPr>
          <p:cNvPr id="7" name="Text 5"/>
          <p:cNvSpPr/>
          <p:nvPr/>
        </p:nvSpPr>
        <p:spPr>
          <a:xfrm>
            <a:off x="777240" y="2331720"/>
            <a:ext cx="6583680" cy="1920240"/>
          </a:xfrm>
          <a:prstGeom prst="rect">
            <a:avLst/>
          </a:prstGeom>
          <a:noFill/>
          <a:ln/>
        </p:spPr>
        <p:txBody>
          <a:bodyPr wrap="square" lIns="0" tIns="0" rIns="0" bIns="0" rtlCol="0" anchor="ctr"/>
          <a:lstStyle/>
          <a:p>
            <a:pPr indent="0" marL="0">
              <a:lnSpc>
                <a:spcPts val="6800"/>
              </a:lnSpc>
              <a:buNone/>
            </a:pPr>
            <a:r>
              <a:rPr lang="en-US" sz="6200" b="1" dirty="0">
                <a:solidFill>
                  <a:srgbClr val="FFFFFF"/>
                </a:solidFill>
                <a:latin typeface="Trebuchet MS" pitchFamily="34" charset="0"/>
                <a:ea typeface="Trebuchet MS" pitchFamily="34" charset="-122"/>
                <a:cs typeface="Trebuchet MS" pitchFamily="34" charset="-120"/>
              </a:rPr>
              <a:t>Willkommen</a:t>
            </a:r>
            <a:endParaRPr lang="en-US" sz="6200" dirty="0"/>
          </a:p>
          <a:p>
            <a:pPr indent="0" marL="0">
              <a:lnSpc>
                <a:spcPts val="6800"/>
              </a:lnSpc>
              <a:buNone/>
            </a:pPr>
            <a:r>
              <a:rPr lang="en-US" sz="6200" b="1" dirty="0">
                <a:solidFill>
                  <a:srgbClr val="FFFFFF"/>
                </a:solidFill>
                <a:latin typeface="Trebuchet MS" pitchFamily="34" charset="0"/>
                <a:ea typeface="Trebuchet MS" pitchFamily="34" charset="-122"/>
                <a:cs typeface="Trebuchet MS" pitchFamily="34" charset="-120"/>
              </a:rPr>
              <a:t>zurück</a:t>
            </a:r>
            <a:endParaRPr lang="en-US" sz="6200" dirty="0"/>
          </a:p>
        </p:txBody>
      </p:sp>
      <p:sp>
        <p:nvSpPr>
          <p:cNvPr id="8" name="Text 6"/>
          <p:cNvSpPr/>
          <p:nvPr/>
        </p:nvSpPr>
        <p:spPr>
          <a:xfrm>
            <a:off x="777240" y="4617720"/>
            <a:ext cx="4572000" cy="365760"/>
          </a:xfrm>
          <a:prstGeom prst="rect">
            <a:avLst/>
          </a:prstGeom>
          <a:noFill/>
          <a:ln/>
        </p:spPr>
        <p:txBody>
          <a:bodyPr wrap="square" lIns="0" tIns="0" rIns="0" bIns="0" rtlCol="0" anchor="ctr"/>
          <a:lstStyle/>
          <a:p>
            <a:pPr indent="0" marL="0">
              <a:buNone/>
            </a:pPr>
            <a:r>
              <a:rPr lang="en-US" sz="1500" dirty="0">
                <a:solidFill>
                  <a:srgbClr val="BFDCC4"/>
                </a:solidFill>
                <a:latin typeface="Calibri" pitchFamily="34" charset="0"/>
                <a:ea typeface="Calibri" pitchFamily="34" charset="-122"/>
                <a:cs typeface="Calibri" pitchFamily="34" charset="-120"/>
              </a:rPr>
              <a:t>07.08.2026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2</a:t>
            </a:r>
            <a:endParaRPr lang="en-US" sz="1000" dirty="0"/>
          </a:p>
        </p:txBody>
      </p:sp>
      <p:sp>
        <p:nvSpPr>
          <p:cNvPr id="3" name="Shape 1"/>
          <p:cNvSpPr/>
          <p:nvPr/>
        </p:nvSpPr>
        <p:spPr>
          <a:xfrm>
            <a:off x="2834640" y="3401568"/>
            <a:ext cx="6519672" cy="27432"/>
          </a:xfrm>
          <a:prstGeom prst="rect">
            <a:avLst/>
          </a:prstGeom>
          <a:solidFill>
            <a:srgbClr val="D5DDD6"/>
          </a:solidFill>
          <a:ln/>
        </p:spPr>
      </p:sp>
      <p:sp>
        <p:nvSpPr>
          <p:cNvPr id="4" name="Shape 2"/>
          <p:cNvSpPr/>
          <p:nvPr/>
        </p:nvSpPr>
        <p:spPr>
          <a:xfrm>
            <a:off x="1691640" y="2276856"/>
            <a:ext cx="2286000" cy="2286000"/>
          </a:xfrm>
          <a:prstGeom prst="ellipse">
            <a:avLst/>
          </a:prstGeom>
          <a:solidFill>
            <a:srgbClr val="2E7D3A"/>
          </a:solidFill>
          <a:ln/>
        </p:spPr>
      </p:sp>
      <p:sp>
        <p:nvSpPr>
          <p:cNvPr id="5" name="Text 3"/>
          <p:cNvSpPr/>
          <p:nvPr/>
        </p:nvSpPr>
        <p:spPr>
          <a:xfrm>
            <a:off x="1691640" y="2761488"/>
            <a:ext cx="2286000"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Trebuchet MS" pitchFamily="34" charset="0"/>
                <a:ea typeface="Trebuchet MS" pitchFamily="34" charset="-122"/>
                <a:cs typeface="Trebuchet MS" pitchFamily="34" charset="-120"/>
              </a:rPr>
              <a:t>01</a:t>
            </a:r>
            <a:endParaRPr lang="en-US" sz="5400" dirty="0"/>
          </a:p>
        </p:txBody>
      </p:sp>
      <p:sp>
        <p:nvSpPr>
          <p:cNvPr id="6" name="Text 4"/>
          <p:cNvSpPr/>
          <p:nvPr/>
        </p:nvSpPr>
        <p:spPr>
          <a:xfrm>
            <a:off x="1371600" y="4828032"/>
            <a:ext cx="2926080" cy="457200"/>
          </a:xfrm>
          <a:prstGeom prst="rect">
            <a:avLst/>
          </a:prstGeom>
          <a:noFill/>
          <a:ln/>
        </p:spPr>
        <p:txBody>
          <a:bodyPr wrap="square" lIns="0" tIns="0" rIns="0" bIns="0" rtlCol="0" anchor="ctr"/>
          <a:lstStyle/>
          <a:p>
            <a:pPr algn="ctr" indent="0" marL="0">
              <a:buNone/>
            </a:pPr>
            <a:r>
              <a:rPr lang="en-US" sz="2400" b="1" dirty="0">
                <a:solidFill>
                  <a:srgbClr val="1A1819"/>
                </a:solidFill>
                <a:latin typeface="Trebuchet MS" pitchFamily="34" charset="0"/>
                <a:ea typeface="Trebuchet MS" pitchFamily="34" charset="-122"/>
                <a:cs typeface="Trebuchet MS" pitchFamily="34" charset="-120"/>
              </a:rPr>
              <a:t>Gesetz</a:t>
            </a:r>
            <a:endParaRPr lang="en-US" sz="2400" dirty="0"/>
          </a:p>
        </p:txBody>
      </p:sp>
      <p:sp>
        <p:nvSpPr>
          <p:cNvPr id="7" name="Shape 5"/>
          <p:cNvSpPr/>
          <p:nvPr/>
        </p:nvSpPr>
        <p:spPr>
          <a:xfrm>
            <a:off x="4951476" y="2276856"/>
            <a:ext cx="2286000" cy="2286000"/>
          </a:xfrm>
          <a:prstGeom prst="ellipse">
            <a:avLst/>
          </a:prstGeom>
          <a:solidFill>
            <a:srgbClr val="58B264"/>
          </a:solidFill>
          <a:ln/>
        </p:spPr>
      </p:sp>
      <p:sp>
        <p:nvSpPr>
          <p:cNvPr id="8" name="Text 6"/>
          <p:cNvSpPr/>
          <p:nvPr/>
        </p:nvSpPr>
        <p:spPr>
          <a:xfrm>
            <a:off x="4951476" y="2761488"/>
            <a:ext cx="2286000"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Trebuchet MS" pitchFamily="34" charset="0"/>
                <a:ea typeface="Trebuchet MS" pitchFamily="34" charset="-122"/>
                <a:cs typeface="Trebuchet MS" pitchFamily="34" charset="-120"/>
              </a:rPr>
              <a:t>02</a:t>
            </a:r>
            <a:endParaRPr lang="en-US" sz="5400" dirty="0"/>
          </a:p>
        </p:txBody>
      </p:sp>
      <p:sp>
        <p:nvSpPr>
          <p:cNvPr id="9" name="Text 7"/>
          <p:cNvSpPr/>
          <p:nvPr/>
        </p:nvSpPr>
        <p:spPr>
          <a:xfrm>
            <a:off x="4631436" y="4828032"/>
            <a:ext cx="2926080" cy="457200"/>
          </a:xfrm>
          <a:prstGeom prst="rect">
            <a:avLst/>
          </a:prstGeom>
          <a:noFill/>
          <a:ln/>
        </p:spPr>
        <p:txBody>
          <a:bodyPr wrap="square" lIns="0" tIns="0" rIns="0" bIns="0" rtlCol="0" anchor="ctr"/>
          <a:lstStyle/>
          <a:p>
            <a:pPr algn="ctr" indent="0" marL="0">
              <a:buNone/>
            </a:pPr>
            <a:r>
              <a:rPr lang="en-US" sz="2400" b="1" dirty="0">
                <a:solidFill>
                  <a:srgbClr val="1A1819"/>
                </a:solidFill>
                <a:latin typeface="Trebuchet MS" pitchFamily="34" charset="0"/>
                <a:ea typeface="Trebuchet MS" pitchFamily="34" charset="-122"/>
                <a:cs typeface="Trebuchet MS" pitchFamily="34" charset="-120"/>
              </a:rPr>
              <a:t>Markt</a:t>
            </a:r>
            <a:endParaRPr lang="en-US" sz="2400" dirty="0"/>
          </a:p>
        </p:txBody>
      </p:sp>
      <p:sp>
        <p:nvSpPr>
          <p:cNvPr id="10" name="Shape 8"/>
          <p:cNvSpPr/>
          <p:nvPr/>
        </p:nvSpPr>
        <p:spPr>
          <a:xfrm>
            <a:off x="8211312" y="2276856"/>
            <a:ext cx="2286000" cy="2286000"/>
          </a:xfrm>
          <a:prstGeom prst="ellipse">
            <a:avLst/>
          </a:prstGeom>
          <a:solidFill>
            <a:srgbClr val="BFDCC4"/>
          </a:solidFill>
          <a:ln/>
        </p:spPr>
      </p:sp>
      <p:sp>
        <p:nvSpPr>
          <p:cNvPr id="11" name="Text 9"/>
          <p:cNvSpPr/>
          <p:nvPr/>
        </p:nvSpPr>
        <p:spPr>
          <a:xfrm>
            <a:off x="8211312" y="2761488"/>
            <a:ext cx="2286000" cy="914400"/>
          </a:xfrm>
          <a:prstGeom prst="rect">
            <a:avLst/>
          </a:prstGeom>
          <a:noFill/>
          <a:ln/>
        </p:spPr>
        <p:txBody>
          <a:bodyPr wrap="square" lIns="0" tIns="0" rIns="0" bIns="0" rtlCol="0" anchor="ctr"/>
          <a:lstStyle/>
          <a:p>
            <a:pPr algn="ctr" indent="0" marL="0">
              <a:buNone/>
            </a:pPr>
            <a:r>
              <a:rPr lang="en-US" sz="5400" b="1" dirty="0">
                <a:solidFill>
                  <a:srgbClr val="1A1819"/>
                </a:solidFill>
                <a:latin typeface="Trebuchet MS" pitchFamily="34" charset="0"/>
                <a:ea typeface="Trebuchet MS" pitchFamily="34" charset="-122"/>
                <a:cs typeface="Trebuchet MS" pitchFamily="34" charset="-120"/>
              </a:rPr>
              <a:t>03</a:t>
            </a:r>
            <a:endParaRPr lang="en-US" sz="5400" dirty="0"/>
          </a:p>
        </p:txBody>
      </p:sp>
      <p:sp>
        <p:nvSpPr>
          <p:cNvPr id="12" name="Text 10"/>
          <p:cNvSpPr/>
          <p:nvPr/>
        </p:nvSpPr>
        <p:spPr>
          <a:xfrm>
            <a:off x="7891272" y="4828032"/>
            <a:ext cx="2926080" cy="457200"/>
          </a:xfrm>
          <a:prstGeom prst="rect">
            <a:avLst/>
          </a:prstGeom>
          <a:noFill/>
          <a:ln/>
        </p:spPr>
        <p:txBody>
          <a:bodyPr wrap="square" lIns="0" tIns="0" rIns="0" bIns="0" rtlCol="0" anchor="ctr"/>
          <a:lstStyle/>
          <a:p>
            <a:pPr algn="ctr" indent="0" marL="0">
              <a:buNone/>
            </a:pPr>
            <a:r>
              <a:rPr lang="en-US" sz="2400" b="1" dirty="0">
                <a:solidFill>
                  <a:srgbClr val="1A1819"/>
                </a:solidFill>
                <a:latin typeface="Trebuchet MS" pitchFamily="34" charset="0"/>
                <a:ea typeface="Trebuchet MS" pitchFamily="34" charset="-122"/>
                <a:cs typeface="Trebuchet MS" pitchFamily="34" charset="-120"/>
              </a:rPr>
              <a:t>Team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3</a:t>
            </a:r>
            <a:endParaRPr lang="en-US" sz="1000" dirty="0"/>
          </a:p>
        </p:txBody>
      </p:sp>
      <p:sp>
        <p:nvSpPr>
          <p:cNvPr id="3" name="Shape 1"/>
          <p:cNvSpPr/>
          <p:nvPr/>
        </p:nvSpPr>
        <p:spPr>
          <a:xfrm>
            <a:off x="7680960" y="-548640"/>
            <a:ext cx="4754880" cy="4754880"/>
          </a:xfrm>
          <a:prstGeom prst="ellipse">
            <a:avLst/>
          </a:prstGeom>
          <a:solidFill>
            <a:srgbClr val="256A30"/>
          </a:solidFill>
          <a:ln/>
        </p:spPr>
      </p:sp>
      <p:sp>
        <p:nvSpPr>
          <p:cNvPr id="4" name="Shape 2"/>
          <p:cNvSpPr/>
          <p:nvPr/>
        </p:nvSpPr>
        <p:spPr>
          <a:xfrm>
            <a:off x="10241280" y="4297680"/>
            <a:ext cx="2194560" cy="2194560"/>
          </a:xfrm>
          <a:prstGeom prst="ellipse">
            <a:avLst/>
          </a:prstGeom>
          <a:solidFill>
            <a:srgbClr val="2E7D3A"/>
          </a:solidFill>
          <a:ln/>
        </p:spPr>
      </p:sp>
      <p:sp>
        <p:nvSpPr>
          <p:cNvPr id="5" name="Text 3"/>
          <p:cNvSpPr/>
          <p:nvPr/>
        </p:nvSpPr>
        <p:spPr>
          <a:xfrm>
            <a:off x="777240" y="1783080"/>
            <a:ext cx="3657600" cy="2240280"/>
          </a:xfrm>
          <a:prstGeom prst="rect">
            <a:avLst/>
          </a:prstGeom>
          <a:noFill/>
          <a:ln/>
        </p:spPr>
        <p:txBody>
          <a:bodyPr wrap="square" lIns="0" tIns="0" rIns="0" bIns="0" rtlCol="0" anchor="ctr"/>
          <a:lstStyle/>
          <a:p>
            <a:pPr indent="0" marL="0">
              <a:buNone/>
            </a:pPr>
            <a:r>
              <a:rPr lang="en-US" sz="14000" b="1" dirty="0">
                <a:solidFill>
                  <a:srgbClr val="58B264"/>
                </a:solidFill>
                <a:latin typeface="Trebuchet MS" pitchFamily="34" charset="0"/>
                <a:ea typeface="Trebuchet MS" pitchFamily="34" charset="-122"/>
                <a:cs typeface="Trebuchet MS" pitchFamily="34" charset="-120"/>
              </a:rPr>
              <a:t>01</a:t>
            </a:r>
            <a:endParaRPr lang="en-US" sz="14000" dirty="0"/>
          </a:p>
        </p:txBody>
      </p:sp>
      <p:sp>
        <p:nvSpPr>
          <p:cNvPr id="6" name="Text 4"/>
          <p:cNvSpPr/>
          <p:nvPr/>
        </p:nvSpPr>
        <p:spPr>
          <a:xfrm>
            <a:off x="777240" y="4160520"/>
            <a:ext cx="7315200" cy="914400"/>
          </a:xfrm>
          <a:prstGeom prst="rect">
            <a:avLst/>
          </a:prstGeom>
          <a:noFill/>
          <a:ln/>
        </p:spPr>
        <p:txBody>
          <a:bodyPr wrap="square" lIns="0" tIns="0" rIns="0" bIns="0" rtlCol="0" anchor="ctr"/>
          <a:lstStyle/>
          <a:p>
            <a:pPr indent="0" marL="0">
              <a:buNone/>
            </a:pPr>
            <a:r>
              <a:rPr lang="en-US" sz="5200" b="1" dirty="0">
                <a:solidFill>
                  <a:srgbClr val="FFFFFF"/>
                </a:solidFill>
                <a:latin typeface="Trebuchet MS" pitchFamily="34" charset="0"/>
                <a:ea typeface="Trebuchet MS" pitchFamily="34" charset="-122"/>
                <a:cs typeface="Trebuchet MS" pitchFamily="34" charset="-120"/>
              </a:rPr>
              <a:t>Das GModG</a:t>
            </a:r>
            <a:endParaRPr lang="en-US" sz="5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Zwei Geschwindigkeiten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777240" y="2148840"/>
            <a:ext cx="4572000" cy="3291840"/>
          </a:xfrm>
          <a:prstGeom prst="roundRect">
            <a:avLst>
              <a:gd name="adj" fmla="val 3889"/>
            </a:avLst>
          </a:prstGeom>
          <a:solidFill>
            <a:srgbClr val="2E7D3A"/>
          </a:solidFill>
          <a:ln/>
        </p:spPr>
      </p:sp>
      <p:sp>
        <p:nvSpPr>
          <p:cNvPr id="5" name="Text 3"/>
          <p:cNvSpPr/>
          <p:nvPr/>
        </p:nvSpPr>
        <p:spPr>
          <a:xfrm>
            <a:off x="777240" y="3063240"/>
            <a:ext cx="4572000" cy="1280160"/>
          </a:xfrm>
          <a:prstGeom prst="rect">
            <a:avLst/>
          </a:prstGeom>
          <a:noFill/>
          <a:ln/>
        </p:spPr>
        <p:txBody>
          <a:bodyPr wrap="square" lIns="0" tIns="0" rIns="0" bIns="0" rtlCol="0" anchor="ctr"/>
          <a:lstStyle/>
          <a:p>
            <a:pPr algn="ctr" indent="0" marL="0">
              <a:buNone/>
            </a:pPr>
            <a:r>
              <a:rPr lang="en-US" sz="6200" b="1" dirty="0">
                <a:solidFill>
                  <a:srgbClr val="FFFFFF"/>
                </a:solidFill>
                <a:latin typeface="Trebuchet MS" pitchFamily="34" charset="0"/>
                <a:ea typeface="Trebuchet MS" pitchFamily="34" charset="-122"/>
                <a:cs typeface="Trebuchet MS" pitchFamily="34" charset="-120"/>
              </a:rPr>
              <a:t>jetzt</a:t>
            </a:r>
            <a:endParaRPr lang="en-US" sz="6200" dirty="0"/>
          </a:p>
        </p:txBody>
      </p:sp>
      <p:sp>
        <p:nvSpPr>
          <p:cNvPr id="6" name="Shape 4"/>
          <p:cNvSpPr/>
          <p:nvPr/>
        </p:nvSpPr>
        <p:spPr>
          <a:xfrm>
            <a:off x="5742432" y="3364992"/>
            <a:ext cx="777240" cy="868680"/>
          </a:xfrm>
          <a:prstGeom prst="chevron">
            <a:avLst/>
          </a:prstGeom>
          <a:solidFill>
            <a:srgbClr val="D5DDD6"/>
          </a:solidFill>
          <a:ln/>
        </p:spPr>
      </p:sp>
      <p:sp>
        <p:nvSpPr>
          <p:cNvPr id="7" name="Shape 5"/>
          <p:cNvSpPr/>
          <p:nvPr/>
        </p:nvSpPr>
        <p:spPr>
          <a:xfrm>
            <a:off x="6839712" y="2148840"/>
            <a:ext cx="4572000" cy="3291840"/>
          </a:xfrm>
          <a:prstGeom prst="roundRect">
            <a:avLst>
              <a:gd name="adj" fmla="val 3889"/>
            </a:avLst>
          </a:prstGeom>
          <a:solidFill>
            <a:srgbClr val="F5F6F3"/>
          </a:solidFill>
          <a:ln/>
        </p:spPr>
      </p:sp>
      <p:sp>
        <p:nvSpPr>
          <p:cNvPr id="8" name="Text 6"/>
          <p:cNvSpPr/>
          <p:nvPr/>
        </p:nvSpPr>
        <p:spPr>
          <a:xfrm>
            <a:off x="6839712" y="3063240"/>
            <a:ext cx="4572000" cy="1280160"/>
          </a:xfrm>
          <a:prstGeom prst="rect">
            <a:avLst/>
          </a:prstGeom>
          <a:noFill/>
          <a:ln/>
        </p:spPr>
        <p:txBody>
          <a:bodyPr wrap="square" lIns="0" tIns="0" rIns="0" bIns="0" rtlCol="0" anchor="ctr"/>
          <a:lstStyle/>
          <a:p>
            <a:pPr algn="ctr" indent="0" marL="0">
              <a:buNone/>
            </a:pPr>
            <a:r>
              <a:rPr lang="en-US" sz="6200" b="1" dirty="0">
                <a:solidFill>
                  <a:srgbClr val="5B685D"/>
                </a:solidFill>
                <a:latin typeface="Trebuchet MS" pitchFamily="34" charset="0"/>
                <a:ea typeface="Trebuchet MS" pitchFamily="34" charset="-122"/>
                <a:cs typeface="Trebuchet MS" pitchFamily="34" charset="-120"/>
              </a:rPr>
              <a:t>2027</a:t>
            </a:r>
            <a:endParaRPr lang="en-US" sz="6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Fünf Stufen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1874520" y="3639312"/>
            <a:ext cx="8485632" cy="32004"/>
          </a:xfrm>
          <a:prstGeom prst="rect">
            <a:avLst/>
          </a:prstGeom>
          <a:solidFill>
            <a:srgbClr val="D5DDD6"/>
          </a:solidFill>
          <a:ln/>
        </p:spPr>
      </p:sp>
      <p:sp>
        <p:nvSpPr>
          <p:cNvPr id="5" name="Shape 3"/>
          <p:cNvSpPr/>
          <p:nvPr/>
        </p:nvSpPr>
        <p:spPr>
          <a:xfrm>
            <a:off x="982980" y="2766060"/>
            <a:ext cx="1783080" cy="1783080"/>
          </a:xfrm>
          <a:prstGeom prst="ellipse">
            <a:avLst/>
          </a:prstGeom>
          <a:solidFill>
            <a:srgbClr val="2E7D3A"/>
          </a:solidFill>
          <a:ln/>
        </p:spPr>
      </p:sp>
      <p:sp>
        <p:nvSpPr>
          <p:cNvPr id="6" name="Text 4"/>
          <p:cNvSpPr/>
          <p:nvPr/>
        </p:nvSpPr>
        <p:spPr>
          <a:xfrm>
            <a:off x="822960" y="3337560"/>
            <a:ext cx="210312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jetzt</a:t>
            </a:r>
            <a:endParaRPr lang="en-US" sz="2400" dirty="0"/>
          </a:p>
        </p:txBody>
      </p:sp>
      <p:sp>
        <p:nvSpPr>
          <p:cNvPr id="7" name="Shape 5"/>
          <p:cNvSpPr/>
          <p:nvPr/>
        </p:nvSpPr>
        <p:spPr>
          <a:xfrm>
            <a:off x="3218688" y="2880360"/>
            <a:ext cx="1554480" cy="1554480"/>
          </a:xfrm>
          <a:prstGeom prst="ellipse">
            <a:avLst/>
          </a:prstGeom>
          <a:solidFill>
            <a:srgbClr val="58B264"/>
          </a:solidFill>
          <a:ln/>
        </p:spPr>
      </p:sp>
      <p:sp>
        <p:nvSpPr>
          <p:cNvPr id="8" name="Text 6"/>
          <p:cNvSpPr/>
          <p:nvPr/>
        </p:nvSpPr>
        <p:spPr>
          <a:xfrm>
            <a:off x="2944368" y="3337560"/>
            <a:ext cx="210312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Trebuchet MS" pitchFamily="34" charset="0"/>
                <a:ea typeface="Trebuchet MS" pitchFamily="34" charset="-122"/>
                <a:cs typeface="Trebuchet MS" pitchFamily="34" charset="-120"/>
              </a:rPr>
              <a:t>2027</a:t>
            </a:r>
            <a:endParaRPr lang="en-US" sz="2600" dirty="0"/>
          </a:p>
        </p:txBody>
      </p:sp>
      <p:sp>
        <p:nvSpPr>
          <p:cNvPr id="9" name="Shape 7"/>
          <p:cNvSpPr/>
          <p:nvPr/>
        </p:nvSpPr>
        <p:spPr>
          <a:xfrm>
            <a:off x="5454396" y="2994660"/>
            <a:ext cx="1325880" cy="1325880"/>
          </a:xfrm>
          <a:prstGeom prst="ellipse">
            <a:avLst/>
          </a:prstGeom>
          <a:solidFill>
            <a:srgbClr val="BFDCC4"/>
          </a:solidFill>
          <a:ln/>
        </p:spPr>
      </p:sp>
      <p:sp>
        <p:nvSpPr>
          <p:cNvPr id="10" name="Text 8"/>
          <p:cNvSpPr/>
          <p:nvPr/>
        </p:nvSpPr>
        <p:spPr>
          <a:xfrm>
            <a:off x="5065776" y="3337560"/>
            <a:ext cx="2103120" cy="640080"/>
          </a:xfrm>
          <a:prstGeom prst="rect">
            <a:avLst/>
          </a:prstGeom>
          <a:noFill/>
          <a:ln/>
        </p:spPr>
        <p:txBody>
          <a:bodyPr wrap="square" lIns="0" tIns="0" rIns="0" bIns="0" rtlCol="0" anchor="ctr"/>
          <a:lstStyle/>
          <a:p>
            <a:pPr algn="ctr" indent="0" marL="0">
              <a:buNone/>
            </a:pPr>
            <a:r>
              <a:rPr lang="en-US" sz="2600" b="1" dirty="0">
                <a:solidFill>
                  <a:srgbClr val="1A1819"/>
                </a:solidFill>
                <a:latin typeface="Trebuchet MS" pitchFamily="34" charset="0"/>
                <a:ea typeface="Trebuchet MS" pitchFamily="34" charset="-122"/>
                <a:cs typeface="Trebuchet MS" pitchFamily="34" charset="-120"/>
              </a:rPr>
              <a:t>2028</a:t>
            </a:r>
            <a:endParaRPr lang="en-US" sz="2600" dirty="0"/>
          </a:p>
        </p:txBody>
      </p:sp>
      <p:sp>
        <p:nvSpPr>
          <p:cNvPr id="11" name="Shape 9"/>
          <p:cNvSpPr/>
          <p:nvPr/>
        </p:nvSpPr>
        <p:spPr>
          <a:xfrm>
            <a:off x="7575804" y="2994660"/>
            <a:ext cx="1325880" cy="1325880"/>
          </a:xfrm>
          <a:prstGeom prst="ellipse">
            <a:avLst/>
          </a:prstGeom>
          <a:solidFill>
            <a:srgbClr val="BFDCC4"/>
          </a:solidFill>
          <a:ln/>
        </p:spPr>
      </p:sp>
      <p:sp>
        <p:nvSpPr>
          <p:cNvPr id="12" name="Text 10"/>
          <p:cNvSpPr/>
          <p:nvPr/>
        </p:nvSpPr>
        <p:spPr>
          <a:xfrm>
            <a:off x="7187184" y="3337560"/>
            <a:ext cx="2103120" cy="640080"/>
          </a:xfrm>
          <a:prstGeom prst="rect">
            <a:avLst/>
          </a:prstGeom>
          <a:noFill/>
          <a:ln/>
        </p:spPr>
        <p:txBody>
          <a:bodyPr wrap="square" lIns="0" tIns="0" rIns="0" bIns="0" rtlCol="0" anchor="ctr"/>
          <a:lstStyle/>
          <a:p>
            <a:pPr algn="ctr" indent="0" marL="0">
              <a:buNone/>
            </a:pPr>
            <a:r>
              <a:rPr lang="en-US" sz="2600" b="1" dirty="0">
                <a:solidFill>
                  <a:srgbClr val="1A1819"/>
                </a:solidFill>
                <a:latin typeface="Trebuchet MS" pitchFamily="34" charset="0"/>
                <a:ea typeface="Trebuchet MS" pitchFamily="34" charset="-122"/>
                <a:cs typeface="Trebuchet MS" pitchFamily="34" charset="-120"/>
              </a:rPr>
              <a:t>2029</a:t>
            </a:r>
            <a:endParaRPr lang="en-US" sz="2600" dirty="0"/>
          </a:p>
        </p:txBody>
      </p:sp>
      <p:sp>
        <p:nvSpPr>
          <p:cNvPr id="13" name="Shape 11"/>
          <p:cNvSpPr/>
          <p:nvPr/>
        </p:nvSpPr>
        <p:spPr>
          <a:xfrm>
            <a:off x="9697212" y="2994660"/>
            <a:ext cx="1325880" cy="1325880"/>
          </a:xfrm>
          <a:prstGeom prst="ellipse">
            <a:avLst/>
          </a:prstGeom>
          <a:solidFill>
            <a:srgbClr val="BFDCC4"/>
          </a:solidFill>
          <a:ln/>
        </p:spPr>
      </p:sp>
      <p:sp>
        <p:nvSpPr>
          <p:cNvPr id="14" name="Text 12"/>
          <p:cNvSpPr/>
          <p:nvPr/>
        </p:nvSpPr>
        <p:spPr>
          <a:xfrm>
            <a:off x="9308592" y="3337560"/>
            <a:ext cx="2103120" cy="640080"/>
          </a:xfrm>
          <a:prstGeom prst="rect">
            <a:avLst/>
          </a:prstGeom>
          <a:noFill/>
          <a:ln/>
        </p:spPr>
        <p:txBody>
          <a:bodyPr wrap="square" lIns="0" tIns="0" rIns="0" bIns="0" rtlCol="0" anchor="ctr"/>
          <a:lstStyle/>
          <a:p>
            <a:pPr algn="ctr" indent="0" marL="0">
              <a:buNone/>
            </a:pPr>
            <a:r>
              <a:rPr lang="en-US" sz="2600" b="1" dirty="0">
                <a:solidFill>
                  <a:srgbClr val="1A1819"/>
                </a:solidFill>
                <a:latin typeface="Trebuchet MS" pitchFamily="34" charset="0"/>
                <a:ea typeface="Trebuchet MS" pitchFamily="34" charset="-122"/>
                <a:cs typeface="Trebuchet MS" pitchFamily="34" charset="-120"/>
              </a:rPr>
              <a:t>2030</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Neue Rechenregeln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6</a:t>
            </a:r>
            <a:endParaRPr lang="en-US" sz="1000" dirty="0"/>
          </a:p>
        </p:txBody>
      </p:sp>
      <p:sp>
        <p:nvSpPr>
          <p:cNvPr id="4" name="Shape 2"/>
          <p:cNvSpPr/>
          <p:nvPr/>
        </p:nvSpPr>
        <p:spPr>
          <a:xfrm>
            <a:off x="2148840" y="3977640"/>
            <a:ext cx="2377440" cy="1417320"/>
          </a:xfrm>
          <a:prstGeom prst="roundRect">
            <a:avLst>
              <a:gd name="adj" fmla="val 6452"/>
            </a:avLst>
          </a:prstGeom>
          <a:solidFill>
            <a:srgbClr val="D5DDD6"/>
          </a:solidFill>
          <a:ln/>
        </p:spPr>
      </p:sp>
      <p:sp>
        <p:nvSpPr>
          <p:cNvPr id="5" name="Shape 3"/>
          <p:cNvSpPr/>
          <p:nvPr/>
        </p:nvSpPr>
        <p:spPr>
          <a:xfrm>
            <a:off x="7662672" y="2880360"/>
            <a:ext cx="2377440" cy="2514600"/>
          </a:xfrm>
          <a:prstGeom prst="roundRect">
            <a:avLst>
              <a:gd name="adj" fmla="val 3846"/>
            </a:avLst>
          </a:prstGeom>
          <a:solidFill>
            <a:srgbClr val="2E7D3A"/>
          </a:solidFill>
          <a:ln/>
        </p:spPr>
      </p:sp>
      <p:sp>
        <p:nvSpPr>
          <p:cNvPr id="6" name="Shape 4"/>
          <p:cNvSpPr/>
          <p:nvPr/>
        </p:nvSpPr>
        <p:spPr>
          <a:xfrm>
            <a:off x="5074920" y="4041648"/>
            <a:ext cx="2057400" cy="777240"/>
          </a:xfrm>
          <a:prstGeom prst="rightArrow">
            <a:avLst/>
          </a:prstGeom>
          <a:solidFill>
            <a:srgbClr val="BFDCC4"/>
          </a:solidFill>
          <a:ln/>
        </p:spPr>
      </p:sp>
      <p:sp>
        <p:nvSpPr>
          <p:cNvPr id="7" name="Text 5"/>
          <p:cNvSpPr/>
          <p:nvPr/>
        </p:nvSpPr>
        <p:spPr>
          <a:xfrm>
            <a:off x="3657600" y="2103120"/>
            <a:ext cx="4873752" cy="502920"/>
          </a:xfrm>
          <a:prstGeom prst="rect">
            <a:avLst/>
          </a:prstGeom>
          <a:noFill/>
          <a:ln/>
        </p:spPr>
        <p:txBody>
          <a:bodyPr wrap="square" lIns="0" tIns="0" rIns="0" bIns="0" rtlCol="0" anchor="ctr"/>
          <a:lstStyle/>
          <a:p>
            <a:pPr algn="ctr" indent="0" marL="0">
              <a:buNone/>
            </a:pPr>
            <a:r>
              <a:rPr lang="en-US" sz="3000" b="1" dirty="0">
                <a:solidFill>
                  <a:srgbClr val="5B685D"/>
                </a:solidFill>
                <a:latin typeface="Trebuchet MS" pitchFamily="34" charset="0"/>
                <a:ea typeface="Trebuchet MS" pitchFamily="34" charset="-122"/>
                <a:cs typeface="Trebuchet MS" pitchFamily="34" charset="-120"/>
              </a:rPr>
              <a:t>kWh/m²</a:t>
            </a:r>
            <a:endParaRPr lang="en-US" sz="3000" dirty="0"/>
          </a:p>
        </p:txBody>
      </p:sp>
      <p:sp>
        <p:nvSpPr>
          <p:cNvPr id="8" name="Shape 6"/>
          <p:cNvSpPr/>
          <p:nvPr/>
        </p:nvSpPr>
        <p:spPr>
          <a:xfrm>
            <a:off x="2148840" y="5440680"/>
            <a:ext cx="7891272" cy="27432"/>
          </a:xfrm>
          <a:prstGeom prst="rect">
            <a:avLst/>
          </a:prstGeom>
          <a:solidFill>
            <a:srgbClr val="D5DDD6"/>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Stellplätze verkabeln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7</a:t>
            </a:r>
            <a:endParaRPr lang="en-US" sz="1000" dirty="0"/>
          </a:p>
        </p:txBody>
      </p:sp>
      <p:sp>
        <p:nvSpPr>
          <p:cNvPr id="4" name="Shape 2"/>
          <p:cNvSpPr/>
          <p:nvPr/>
        </p:nvSpPr>
        <p:spPr>
          <a:xfrm>
            <a:off x="763524" y="2514600"/>
            <a:ext cx="868680" cy="1691640"/>
          </a:xfrm>
          <a:prstGeom prst="roundRect">
            <a:avLst>
              <a:gd name="adj" fmla="val 8421"/>
            </a:avLst>
          </a:prstGeom>
          <a:solidFill>
            <a:srgbClr val="2E7D3A"/>
          </a:solidFill>
          <a:ln/>
        </p:spPr>
      </p:sp>
      <p:sp>
        <p:nvSpPr>
          <p:cNvPr id="5" name="Shape 3"/>
          <p:cNvSpPr/>
          <p:nvPr/>
        </p:nvSpPr>
        <p:spPr>
          <a:xfrm>
            <a:off x="1005840" y="3108960"/>
            <a:ext cx="384048" cy="566928"/>
          </a:xfrm>
          <a:prstGeom prst="lightningBolt">
            <a:avLst/>
          </a:prstGeom>
          <a:solidFill>
            <a:srgbClr val="FFFFFF"/>
          </a:solidFill>
          <a:ln/>
        </p:spPr>
      </p:sp>
      <p:sp>
        <p:nvSpPr>
          <p:cNvPr id="6" name="Shape 4"/>
          <p:cNvSpPr/>
          <p:nvPr/>
        </p:nvSpPr>
        <p:spPr>
          <a:xfrm>
            <a:off x="1851660" y="2514600"/>
            <a:ext cx="868680" cy="1691640"/>
          </a:xfrm>
          <a:prstGeom prst="roundRect">
            <a:avLst>
              <a:gd name="adj" fmla="val 8421"/>
            </a:avLst>
          </a:prstGeom>
          <a:solidFill>
            <a:srgbClr val="2E7D3A"/>
          </a:solidFill>
          <a:ln/>
        </p:spPr>
      </p:sp>
      <p:sp>
        <p:nvSpPr>
          <p:cNvPr id="7" name="Shape 5"/>
          <p:cNvSpPr/>
          <p:nvPr/>
        </p:nvSpPr>
        <p:spPr>
          <a:xfrm>
            <a:off x="2093976" y="3108960"/>
            <a:ext cx="384048" cy="566928"/>
          </a:xfrm>
          <a:prstGeom prst="lightningBolt">
            <a:avLst/>
          </a:prstGeom>
          <a:solidFill>
            <a:srgbClr val="FFFFFF"/>
          </a:solidFill>
          <a:ln/>
        </p:spPr>
      </p:sp>
      <p:sp>
        <p:nvSpPr>
          <p:cNvPr id="8" name="Shape 6"/>
          <p:cNvSpPr/>
          <p:nvPr/>
        </p:nvSpPr>
        <p:spPr>
          <a:xfrm>
            <a:off x="2939796" y="2514600"/>
            <a:ext cx="868680" cy="1691640"/>
          </a:xfrm>
          <a:prstGeom prst="roundRect">
            <a:avLst>
              <a:gd name="adj" fmla="val 8421"/>
            </a:avLst>
          </a:prstGeom>
          <a:solidFill>
            <a:srgbClr val="2E7D3A"/>
          </a:solidFill>
          <a:ln/>
        </p:spPr>
      </p:sp>
      <p:sp>
        <p:nvSpPr>
          <p:cNvPr id="9" name="Shape 7"/>
          <p:cNvSpPr/>
          <p:nvPr/>
        </p:nvSpPr>
        <p:spPr>
          <a:xfrm>
            <a:off x="3182112" y="3108960"/>
            <a:ext cx="384048" cy="566928"/>
          </a:xfrm>
          <a:prstGeom prst="lightningBolt">
            <a:avLst/>
          </a:prstGeom>
          <a:solidFill>
            <a:srgbClr val="FFFFFF"/>
          </a:solidFill>
          <a:ln/>
        </p:spPr>
      </p:sp>
      <p:sp>
        <p:nvSpPr>
          <p:cNvPr id="10" name="Shape 8"/>
          <p:cNvSpPr/>
          <p:nvPr/>
        </p:nvSpPr>
        <p:spPr>
          <a:xfrm>
            <a:off x="4027932" y="2514600"/>
            <a:ext cx="868680" cy="1691640"/>
          </a:xfrm>
          <a:prstGeom prst="roundRect">
            <a:avLst>
              <a:gd name="adj" fmla="val 8421"/>
            </a:avLst>
          </a:prstGeom>
          <a:solidFill>
            <a:srgbClr val="2E7D3A"/>
          </a:solidFill>
          <a:ln/>
        </p:spPr>
      </p:sp>
      <p:sp>
        <p:nvSpPr>
          <p:cNvPr id="11" name="Shape 9"/>
          <p:cNvSpPr/>
          <p:nvPr/>
        </p:nvSpPr>
        <p:spPr>
          <a:xfrm>
            <a:off x="4270248" y="3108960"/>
            <a:ext cx="384048" cy="566928"/>
          </a:xfrm>
          <a:prstGeom prst="lightningBolt">
            <a:avLst/>
          </a:prstGeom>
          <a:solidFill>
            <a:srgbClr val="FFFFFF"/>
          </a:solidFill>
          <a:ln/>
        </p:spPr>
      </p:sp>
      <p:sp>
        <p:nvSpPr>
          <p:cNvPr id="12" name="Shape 10"/>
          <p:cNvSpPr/>
          <p:nvPr/>
        </p:nvSpPr>
        <p:spPr>
          <a:xfrm>
            <a:off x="5116068" y="2514600"/>
            <a:ext cx="868680" cy="1691640"/>
          </a:xfrm>
          <a:prstGeom prst="roundRect">
            <a:avLst>
              <a:gd name="adj" fmla="val 8421"/>
            </a:avLst>
          </a:prstGeom>
          <a:solidFill>
            <a:srgbClr val="2E7D3A"/>
          </a:solidFill>
          <a:ln/>
        </p:spPr>
      </p:sp>
      <p:sp>
        <p:nvSpPr>
          <p:cNvPr id="13" name="Shape 11"/>
          <p:cNvSpPr/>
          <p:nvPr/>
        </p:nvSpPr>
        <p:spPr>
          <a:xfrm>
            <a:off x="5358384" y="3108960"/>
            <a:ext cx="384048" cy="566928"/>
          </a:xfrm>
          <a:prstGeom prst="lightningBolt">
            <a:avLst/>
          </a:prstGeom>
          <a:solidFill>
            <a:srgbClr val="FFFFFF"/>
          </a:solidFill>
          <a:ln/>
        </p:spPr>
      </p:sp>
      <p:sp>
        <p:nvSpPr>
          <p:cNvPr id="14" name="Shape 12"/>
          <p:cNvSpPr/>
          <p:nvPr/>
        </p:nvSpPr>
        <p:spPr>
          <a:xfrm>
            <a:off x="6204204" y="2514600"/>
            <a:ext cx="868680" cy="1691640"/>
          </a:xfrm>
          <a:prstGeom prst="roundRect">
            <a:avLst>
              <a:gd name="adj" fmla="val 8421"/>
            </a:avLst>
          </a:prstGeom>
          <a:solidFill>
            <a:srgbClr val="F5F6F3"/>
          </a:solidFill>
          <a:ln/>
        </p:spPr>
      </p:sp>
      <p:sp>
        <p:nvSpPr>
          <p:cNvPr id="15" name="Shape 13"/>
          <p:cNvSpPr/>
          <p:nvPr/>
        </p:nvSpPr>
        <p:spPr>
          <a:xfrm>
            <a:off x="7292340" y="2514600"/>
            <a:ext cx="868680" cy="1691640"/>
          </a:xfrm>
          <a:prstGeom prst="roundRect">
            <a:avLst>
              <a:gd name="adj" fmla="val 8421"/>
            </a:avLst>
          </a:prstGeom>
          <a:solidFill>
            <a:srgbClr val="F5F6F3"/>
          </a:solidFill>
          <a:ln/>
        </p:spPr>
      </p:sp>
      <p:sp>
        <p:nvSpPr>
          <p:cNvPr id="16" name="Shape 14"/>
          <p:cNvSpPr/>
          <p:nvPr/>
        </p:nvSpPr>
        <p:spPr>
          <a:xfrm>
            <a:off x="8380476" y="2514600"/>
            <a:ext cx="868680" cy="1691640"/>
          </a:xfrm>
          <a:prstGeom prst="roundRect">
            <a:avLst>
              <a:gd name="adj" fmla="val 8421"/>
            </a:avLst>
          </a:prstGeom>
          <a:solidFill>
            <a:srgbClr val="F5F6F3"/>
          </a:solidFill>
          <a:ln/>
        </p:spPr>
      </p:sp>
      <p:sp>
        <p:nvSpPr>
          <p:cNvPr id="17" name="Shape 15"/>
          <p:cNvSpPr/>
          <p:nvPr/>
        </p:nvSpPr>
        <p:spPr>
          <a:xfrm>
            <a:off x="9468612" y="2514600"/>
            <a:ext cx="868680" cy="1691640"/>
          </a:xfrm>
          <a:prstGeom prst="roundRect">
            <a:avLst>
              <a:gd name="adj" fmla="val 8421"/>
            </a:avLst>
          </a:prstGeom>
          <a:solidFill>
            <a:srgbClr val="F5F6F3"/>
          </a:solidFill>
          <a:ln/>
        </p:spPr>
      </p:sp>
      <p:sp>
        <p:nvSpPr>
          <p:cNvPr id="18" name="Shape 16"/>
          <p:cNvSpPr/>
          <p:nvPr/>
        </p:nvSpPr>
        <p:spPr>
          <a:xfrm>
            <a:off x="10556748" y="2514600"/>
            <a:ext cx="868680" cy="1691640"/>
          </a:xfrm>
          <a:prstGeom prst="roundRect">
            <a:avLst>
              <a:gd name="adj" fmla="val 8421"/>
            </a:avLst>
          </a:prstGeom>
          <a:solidFill>
            <a:srgbClr val="F5F6F3"/>
          </a:solidFill>
          <a:ln/>
        </p:spPr>
      </p:sp>
      <p:sp>
        <p:nvSpPr>
          <p:cNvPr id="19" name="Text 17"/>
          <p:cNvSpPr/>
          <p:nvPr/>
        </p:nvSpPr>
        <p:spPr>
          <a:xfrm>
            <a:off x="763524" y="4617720"/>
            <a:ext cx="10661904" cy="868680"/>
          </a:xfrm>
          <a:prstGeom prst="rect">
            <a:avLst/>
          </a:prstGeom>
          <a:noFill/>
          <a:ln/>
        </p:spPr>
        <p:txBody>
          <a:bodyPr wrap="square" lIns="0" tIns="0" rIns="0" bIns="0" rtlCol="0" anchor="ctr"/>
          <a:lstStyle/>
          <a:p>
            <a:pPr algn="ctr" indent="0" marL="0">
              <a:buNone/>
            </a:pPr>
            <a:r>
              <a:rPr lang="en-US" sz="5200" b="1" dirty="0">
                <a:solidFill>
                  <a:srgbClr val="2E7D3A"/>
                </a:solidFill>
                <a:latin typeface="Trebuchet MS" pitchFamily="34" charset="0"/>
                <a:ea typeface="Trebuchet MS" pitchFamily="34" charset="-122"/>
                <a:cs typeface="Trebuchet MS" pitchFamily="34" charset="-120"/>
              </a:rPr>
              <a:t>50 %</a:t>
            </a:r>
            <a:endParaRPr lang="en-US" sz="5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FFFFFF"/>
                </a:solidFill>
                <a:latin typeface="Trebuchet MS" pitchFamily="34" charset="0"/>
                <a:ea typeface="Trebuchet MS" pitchFamily="34" charset="-122"/>
                <a:cs typeface="Trebuchet MS" pitchFamily="34" charset="-120"/>
              </a:rPr>
              <a:t>Fördergeld</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8</a:t>
            </a:r>
            <a:endParaRPr lang="en-US" sz="1000" dirty="0"/>
          </a:p>
        </p:txBody>
      </p:sp>
      <p:sp>
        <p:nvSpPr>
          <p:cNvPr id="4" name="Text 2"/>
          <p:cNvSpPr/>
          <p:nvPr/>
        </p:nvSpPr>
        <p:spPr>
          <a:xfrm>
            <a:off x="777240" y="1847088"/>
            <a:ext cx="10607040" cy="1874520"/>
          </a:xfrm>
          <a:prstGeom prst="rect">
            <a:avLst/>
          </a:prstGeom>
          <a:noFill/>
          <a:ln/>
        </p:spPr>
        <p:txBody>
          <a:bodyPr wrap="square" lIns="0" tIns="0" rIns="0" bIns="0" rtlCol="0" anchor="ctr"/>
          <a:lstStyle/>
          <a:p>
            <a:pPr algn="ctr" indent="0" marL="0">
              <a:buNone/>
            </a:pPr>
            <a:r>
              <a:rPr lang="en-US" sz="11600" b="1" dirty="0">
                <a:solidFill>
                  <a:srgbClr val="58B264"/>
                </a:solidFill>
                <a:latin typeface="Trebuchet MS" pitchFamily="34" charset="0"/>
                <a:ea typeface="Trebuchet MS" pitchFamily="34" charset="-122"/>
                <a:cs typeface="Trebuchet MS" pitchFamily="34" charset="-120"/>
              </a:rPr>
              <a:t>2.000 €</a:t>
            </a:r>
            <a:endParaRPr lang="en-US" sz="11600" dirty="0"/>
          </a:p>
        </p:txBody>
      </p:sp>
      <p:sp>
        <p:nvSpPr>
          <p:cNvPr id="5" name="Shape 3"/>
          <p:cNvSpPr/>
          <p:nvPr/>
        </p:nvSpPr>
        <p:spPr>
          <a:xfrm>
            <a:off x="2011680" y="4434840"/>
            <a:ext cx="8165592" cy="310896"/>
          </a:xfrm>
          <a:prstGeom prst="roundRect">
            <a:avLst>
              <a:gd name="adj" fmla="val 50000"/>
            </a:avLst>
          </a:prstGeom>
          <a:solidFill>
            <a:srgbClr val="3A4A3C"/>
          </a:solidFill>
          <a:ln/>
        </p:spPr>
      </p:sp>
      <p:sp>
        <p:nvSpPr>
          <p:cNvPr id="6" name="Shape 4"/>
          <p:cNvSpPr/>
          <p:nvPr/>
        </p:nvSpPr>
        <p:spPr>
          <a:xfrm>
            <a:off x="2011680" y="4434840"/>
            <a:ext cx="4531904" cy="310896"/>
          </a:xfrm>
          <a:prstGeom prst="roundRect">
            <a:avLst>
              <a:gd name="adj" fmla="val 50000"/>
            </a:avLst>
          </a:prstGeom>
          <a:solidFill>
            <a:srgbClr val="2E7D3A"/>
          </a:solidFill>
          <a:ln/>
        </p:spPr>
      </p:sp>
      <p:sp>
        <p:nvSpPr>
          <p:cNvPr id="7" name="Shape 5"/>
          <p:cNvSpPr/>
          <p:nvPr/>
        </p:nvSpPr>
        <p:spPr>
          <a:xfrm>
            <a:off x="6269264" y="4315968"/>
            <a:ext cx="548640" cy="548640"/>
          </a:xfrm>
          <a:prstGeom prst="ellipse">
            <a:avLst/>
          </a:prstGeom>
          <a:solidFill>
            <a:srgbClr val="FFFFFF"/>
          </a:solidFill>
          <a:ln/>
        </p:spPr>
      </p:sp>
      <p:sp>
        <p:nvSpPr>
          <p:cNvPr id="8" name="Text 6"/>
          <p:cNvSpPr/>
          <p:nvPr/>
        </p:nvSpPr>
        <p:spPr>
          <a:xfrm>
            <a:off x="1188720" y="4910328"/>
            <a:ext cx="1645920" cy="329184"/>
          </a:xfrm>
          <a:prstGeom prst="rect">
            <a:avLst/>
          </a:prstGeom>
          <a:noFill/>
          <a:ln/>
        </p:spPr>
        <p:txBody>
          <a:bodyPr wrap="square" lIns="0" tIns="0" rIns="0" bIns="0" rtlCol="0" anchor="ctr"/>
          <a:lstStyle/>
          <a:p>
            <a:pPr algn="ctr" indent="0" marL="0">
              <a:buNone/>
            </a:pPr>
            <a:r>
              <a:rPr lang="en-US" sz="1300" dirty="0">
                <a:solidFill>
                  <a:srgbClr val="5B685D"/>
                </a:solidFill>
                <a:latin typeface="Calibri" pitchFamily="34" charset="0"/>
                <a:ea typeface="Calibri" pitchFamily="34" charset="-122"/>
                <a:cs typeface="Calibri" pitchFamily="34" charset="-120"/>
              </a:rPr>
              <a:t>15.04.</a:t>
            </a:r>
            <a:endParaRPr lang="en-US" sz="1300" dirty="0"/>
          </a:p>
        </p:txBody>
      </p:sp>
      <p:sp>
        <p:nvSpPr>
          <p:cNvPr id="9" name="Text 7"/>
          <p:cNvSpPr/>
          <p:nvPr/>
        </p:nvSpPr>
        <p:spPr>
          <a:xfrm>
            <a:off x="8988552" y="4910328"/>
            <a:ext cx="2377440" cy="329184"/>
          </a:xfrm>
          <a:prstGeom prst="rect">
            <a:avLst/>
          </a:prstGeom>
          <a:noFill/>
          <a:ln/>
        </p:spPr>
        <p:txBody>
          <a:bodyPr wrap="square" lIns="0" tIns="0" rIns="0" bIns="0" rtlCol="0" anchor="ctr"/>
          <a:lstStyle/>
          <a:p>
            <a:pPr algn="ctr" indent="0" marL="0">
              <a:buNone/>
            </a:pPr>
            <a:r>
              <a:rPr lang="en-US" sz="1500" b="1" dirty="0">
                <a:solidFill>
                  <a:srgbClr val="58B264"/>
                </a:solidFill>
                <a:latin typeface="Calibri" pitchFamily="34" charset="0"/>
                <a:ea typeface="Calibri" pitchFamily="34" charset="-122"/>
                <a:cs typeface="Calibri" pitchFamily="34" charset="-120"/>
              </a:rPr>
              <a:t>10.11.2026</a:t>
            </a:r>
            <a:endParaRPr lang="en-US" sz="1500" dirty="0"/>
          </a:p>
        </p:txBody>
      </p:sp>
      <p:sp>
        <p:nvSpPr>
          <p:cNvPr id="10" name="Text 8"/>
          <p:cNvSpPr/>
          <p:nvPr/>
        </p:nvSpPr>
        <p:spPr>
          <a:xfrm>
            <a:off x="5720624" y="3776472"/>
            <a:ext cx="164592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heute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Alle Fristen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1417320" y="3621024"/>
            <a:ext cx="9381744" cy="32004"/>
          </a:xfrm>
          <a:prstGeom prst="rect">
            <a:avLst/>
          </a:prstGeom>
          <a:solidFill>
            <a:srgbClr val="D5DDD6"/>
          </a:solidFill>
          <a:ln/>
        </p:spPr>
      </p:sp>
      <p:sp>
        <p:nvSpPr>
          <p:cNvPr id="5" name="Shape 3"/>
          <p:cNvSpPr/>
          <p:nvPr/>
        </p:nvSpPr>
        <p:spPr>
          <a:xfrm>
            <a:off x="996696" y="3218688"/>
            <a:ext cx="841248" cy="841248"/>
          </a:xfrm>
          <a:prstGeom prst="ellipse">
            <a:avLst/>
          </a:prstGeom>
          <a:solidFill>
            <a:srgbClr val="2E7D3A"/>
          </a:solidFill>
          <a:ln/>
        </p:spPr>
      </p:sp>
      <p:sp>
        <p:nvSpPr>
          <p:cNvPr id="6" name="Text 4"/>
          <p:cNvSpPr/>
          <p:nvPr/>
        </p:nvSpPr>
        <p:spPr>
          <a:xfrm>
            <a:off x="548640" y="2606040"/>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2026</a:t>
            </a:r>
            <a:endParaRPr lang="en-US" sz="2100" dirty="0"/>
          </a:p>
        </p:txBody>
      </p:sp>
      <p:sp>
        <p:nvSpPr>
          <p:cNvPr id="7" name="Shape 5"/>
          <p:cNvSpPr/>
          <p:nvPr/>
        </p:nvSpPr>
        <p:spPr>
          <a:xfrm>
            <a:off x="2560320" y="3218688"/>
            <a:ext cx="841248" cy="841248"/>
          </a:xfrm>
          <a:prstGeom prst="ellipse">
            <a:avLst/>
          </a:prstGeom>
          <a:solidFill>
            <a:srgbClr val="2E7D3A"/>
          </a:solidFill>
          <a:ln/>
        </p:spPr>
      </p:sp>
      <p:sp>
        <p:nvSpPr>
          <p:cNvPr id="8" name="Text 6"/>
          <p:cNvSpPr/>
          <p:nvPr/>
        </p:nvSpPr>
        <p:spPr>
          <a:xfrm>
            <a:off x="2112264" y="4224528"/>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2027</a:t>
            </a:r>
            <a:endParaRPr lang="en-US" sz="2100" dirty="0"/>
          </a:p>
        </p:txBody>
      </p:sp>
      <p:sp>
        <p:nvSpPr>
          <p:cNvPr id="9" name="Shape 7"/>
          <p:cNvSpPr/>
          <p:nvPr/>
        </p:nvSpPr>
        <p:spPr>
          <a:xfrm>
            <a:off x="4187952" y="3282696"/>
            <a:ext cx="713232" cy="713232"/>
          </a:xfrm>
          <a:prstGeom prst="ellipse">
            <a:avLst/>
          </a:prstGeom>
          <a:solidFill>
            <a:srgbClr val="58B264"/>
          </a:solidFill>
          <a:ln/>
        </p:spPr>
      </p:sp>
      <p:sp>
        <p:nvSpPr>
          <p:cNvPr id="10" name="Text 8"/>
          <p:cNvSpPr/>
          <p:nvPr/>
        </p:nvSpPr>
        <p:spPr>
          <a:xfrm>
            <a:off x="3675888" y="2606040"/>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2028</a:t>
            </a:r>
            <a:endParaRPr lang="en-US" sz="2100" dirty="0"/>
          </a:p>
        </p:txBody>
      </p:sp>
      <p:sp>
        <p:nvSpPr>
          <p:cNvPr id="11" name="Shape 9"/>
          <p:cNvSpPr/>
          <p:nvPr/>
        </p:nvSpPr>
        <p:spPr>
          <a:xfrm>
            <a:off x="5751576" y="3282696"/>
            <a:ext cx="713232" cy="713232"/>
          </a:xfrm>
          <a:prstGeom prst="ellipse">
            <a:avLst/>
          </a:prstGeom>
          <a:solidFill>
            <a:srgbClr val="58B264"/>
          </a:solidFill>
          <a:ln/>
        </p:spPr>
      </p:sp>
      <p:sp>
        <p:nvSpPr>
          <p:cNvPr id="12" name="Text 10"/>
          <p:cNvSpPr/>
          <p:nvPr/>
        </p:nvSpPr>
        <p:spPr>
          <a:xfrm>
            <a:off x="5239512" y="4224528"/>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2029</a:t>
            </a:r>
            <a:endParaRPr lang="en-US" sz="2100" dirty="0"/>
          </a:p>
        </p:txBody>
      </p:sp>
      <p:sp>
        <p:nvSpPr>
          <p:cNvPr id="13" name="Shape 11"/>
          <p:cNvSpPr/>
          <p:nvPr/>
        </p:nvSpPr>
        <p:spPr>
          <a:xfrm>
            <a:off x="7315200" y="3282696"/>
            <a:ext cx="713232" cy="713232"/>
          </a:xfrm>
          <a:prstGeom prst="ellipse">
            <a:avLst/>
          </a:prstGeom>
          <a:solidFill>
            <a:srgbClr val="BFDCC4"/>
          </a:solidFill>
          <a:ln/>
        </p:spPr>
      </p:sp>
      <p:sp>
        <p:nvSpPr>
          <p:cNvPr id="14" name="Text 12"/>
          <p:cNvSpPr/>
          <p:nvPr/>
        </p:nvSpPr>
        <p:spPr>
          <a:xfrm>
            <a:off x="6803136" y="2606040"/>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2030</a:t>
            </a:r>
            <a:endParaRPr lang="en-US" sz="2100" dirty="0"/>
          </a:p>
        </p:txBody>
      </p:sp>
      <p:sp>
        <p:nvSpPr>
          <p:cNvPr id="15" name="Shape 13"/>
          <p:cNvSpPr/>
          <p:nvPr/>
        </p:nvSpPr>
        <p:spPr>
          <a:xfrm>
            <a:off x="8933688" y="3337560"/>
            <a:ext cx="603504" cy="603504"/>
          </a:xfrm>
          <a:prstGeom prst="ellipse">
            <a:avLst/>
          </a:prstGeom>
          <a:solidFill>
            <a:srgbClr val="BFDCC4"/>
          </a:solidFill>
          <a:ln/>
        </p:spPr>
      </p:sp>
      <p:sp>
        <p:nvSpPr>
          <p:cNvPr id="16" name="Text 14"/>
          <p:cNvSpPr/>
          <p:nvPr/>
        </p:nvSpPr>
        <p:spPr>
          <a:xfrm>
            <a:off x="8366760" y="4224528"/>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2033</a:t>
            </a:r>
            <a:endParaRPr lang="en-US" sz="2100" dirty="0"/>
          </a:p>
        </p:txBody>
      </p:sp>
      <p:sp>
        <p:nvSpPr>
          <p:cNvPr id="17" name="Shape 15"/>
          <p:cNvSpPr/>
          <p:nvPr/>
        </p:nvSpPr>
        <p:spPr>
          <a:xfrm>
            <a:off x="10497312" y="3337560"/>
            <a:ext cx="603504" cy="603504"/>
          </a:xfrm>
          <a:prstGeom prst="ellipse">
            <a:avLst/>
          </a:prstGeom>
          <a:solidFill>
            <a:srgbClr val="D5DDD6"/>
          </a:solidFill>
          <a:ln/>
        </p:spPr>
      </p:sp>
      <p:sp>
        <p:nvSpPr>
          <p:cNvPr id="18" name="Text 16"/>
          <p:cNvSpPr/>
          <p:nvPr/>
        </p:nvSpPr>
        <p:spPr>
          <a:xfrm>
            <a:off x="9930384" y="2606040"/>
            <a:ext cx="1737360" cy="457200"/>
          </a:xfrm>
          <a:prstGeom prst="rect">
            <a:avLst/>
          </a:prstGeom>
          <a:noFill/>
          <a:ln/>
        </p:spPr>
        <p:txBody>
          <a:bodyPr wrap="square" lIns="0" tIns="0" rIns="0" bIns="0" rtlCol="0" anchor="ctr"/>
          <a:lstStyle/>
          <a:p>
            <a:pPr algn="ctr" indent="0" marL="0">
              <a:buNone/>
            </a:pPr>
            <a:r>
              <a:rPr lang="en-US" sz="2100" b="1" dirty="0">
                <a:solidFill>
                  <a:srgbClr val="1A1819"/>
                </a:solidFill>
                <a:latin typeface="Trebuchet MS" pitchFamily="34" charset="0"/>
                <a:ea typeface="Trebuchet MS" pitchFamily="34" charset="-122"/>
                <a:cs typeface="Trebuchet MS" pitchFamily="34" charset="-120"/>
              </a:rPr>
              <a:t>2045</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10</a:t>
            </a:r>
            <a:endParaRPr lang="en-US" sz="1000" dirty="0"/>
          </a:p>
        </p:txBody>
      </p:sp>
      <p:sp>
        <p:nvSpPr>
          <p:cNvPr id="3" name="Shape 1"/>
          <p:cNvSpPr/>
          <p:nvPr/>
        </p:nvSpPr>
        <p:spPr>
          <a:xfrm>
            <a:off x="7680960" y="-548640"/>
            <a:ext cx="4754880" cy="4754880"/>
          </a:xfrm>
          <a:prstGeom prst="ellipse">
            <a:avLst/>
          </a:prstGeom>
          <a:solidFill>
            <a:srgbClr val="256A30"/>
          </a:solidFill>
          <a:ln/>
        </p:spPr>
      </p:sp>
      <p:sp>
        <p:nvSpPr>
          <p:cNvPr id="4" name="Shape 2"/>
          <p:cNvSpPr/>
          <p:nvPr/>
        </p:nvSpPr>
        <p:spPr>
          <a:xfrm>
            <a:off x="10241280" y="4297680"/>
            <a:ext cx="2194560" cy="2194560"/>
          </a:xfrm>
          <a:prstGeom prst="ellipse">
            <a:avLst/>
          </a:prstGeom>
          <a:solidFill>
            <a:srgbClr val="2E7D3A"/>
          </a:solidFill>
          <a:ln/>
        </p:spPr>
      </p:sp>
      <p:sp>
        <p:nvSpPr>
          <p:cNvPr id="5" name="Text 3"/>
          <p:cNvSpPr/>
          <p:nvPr/>
        </p:nvSpPr>
        <p:spPr>
          <a:xfrm>
            <a:off x="777240" y="1783080"/>
            <a:ext cx="3657600" cy="2240280"/>
          </a:xfrm>
          <a:prstGeom prst="rect">
            <a:avLst/>
          </a:prstGeom>
          <a:noFill/>
          <a:ln/>
        </p:spPr>
        <p:txBody>
          <a:bodyPr wrap="square" lIns="0" tIns="0" rIns="0" bIns="0" rtlCol="0" anchor="ctr"/>
          <a:lstStyle/>
          <a:p>
            <a:pPr indent="0" marL="0">
              <a:buNone/>
            </a:pPr>
            <a:r>
              <a:rPr lang="en-US" sz="14000" b="1" dirty="0">
                <a:solidFill>
                  <a:srgbClr val="58B264"/>
                </a:solidFill>
                <a:latin typeface="Trebuchet MS" pitchFamily="34" charset="0"/>
                <a:ea typeface="Trebuchet MS" pitchFamily="34" charset="-122"/>
                <a:cs typeface="Trebuchet MS" pitchFamily="34" charset="-120"/>
              </a:rPr>
              <a:t>02</a:t>
            </a:r>
            <a:endParaRPr lang="en-US" sz="14000" dirty="0"/>
          </a:p>
        </p:txBody>
      </p:sp>
      <p:sp>
        <p:nvSpPr>
          <p:cNvPr id="6" name="Text 4"/>
          <p:cNvSpPr/>
          <p:nvPr/>
        </p:nvSpPr>
        <p:spPr>
          <a:xfrm>
            <a:off x="777240" y="4160520"/>
            <a:ext cx="7315200" cy="914400"/>
          </a:xfrm>
          <a:prstGeom prst="rect">
            <a:avLst/>
          </a:prstGeom>
          <a:noFill/>
          <a:ln/>
        </p:spPr>
        <p:txBody>
          <a:bodyPr wrap="square" lIns="0" tIns="0" rIns="0" bIns="0" rtlCol="0" anchor="ctr"/>
          <a:lstStyle/>
          <a:p>
            <a:pPr indent="0" marL="0">
              <a:buNone/>
            </a:pPr>
            <a:r>
              <a:rPr lang="en-US" sz="5200" b="1" dirty="0">
                <a:solidFill>
                  <a:srgbClr val="FFFFFF"/>
                </a:solidFill>
                <a:latin typeface="Trebuchet MS" pitchFamily="34" charset="0"/>
                <a:ea typeface="Trebuchet MS" pitchFamily="34" charset="-122"/>
                <a:cs typeface="Trebuchet MS" pitchFamily="34" charset="-120"/>
              </a:rPr>
              <a:t>Praxis</a:t>
            </a:r>
            <a:endParaRPr lang="en-US" sz="5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Mehr Puffer</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11</a:t>
            </a:r>
            <a:endParaRPr lang="en-US" sz="1000" dirty="0"/>
          </a:p>
        </p:txBody>
      </p:sp>
      <p:graphicFrame>
        <p:nvGraphicFramePr>
          <p:cNvPr id="4" name="Chart 0" descr=""/>
          <p:cNvGraphicFramePr/>
          <p:nvPr/>
        </p:nvGraphicFramePr>
        <p:xfrm>
          <a:off x="2194560" y="1965960"/>
          <a:ext cx="7772400" cy="37947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Neue Preise</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12</a:t>
            </a:r>
            <a:endParaRPr lang="en-US" sz="1000" dirty="0"/>
          </a:p>
        </p:txBody>
      </p:sp>
      <p:sp>
        <p:nvSpPr>
          <p:cNvPr id="4" name="Shape 2"/>
          <p:cNvSpPr/>
          <p:nvPr/>
        </p:nvSpPr>
        <p:spPr>
          <a:xfrm>
            <a:off x="2788920" y="2103120"/>
            <a:ext cx="3063240" cy="3794760"/>
          </a:xfrm>
          <a:prstGeom prst="roundRect">
            <a:avLst>
              <a:gd name="adj" fmla="val 3582"/>
            </a:avLst>
          </a:prstGeom>
          <a:solidFill>
            <a:srgbClr val="F5F6F3"/>
          </a:solidFill>
          <a:ln/>
        </p:spPr>
      </p:sp>
      <p:sp>
        <p:nvSpPr>
          <p:cNvPr id="5" name="Shape 3"/>
          <p:cNvSpPr/>
          <p:nvPr/>
        </p:nvSpPr>
        <p:spPr>
          <a:xfrm>
            <a:off x="3154680" y="2606040"/>
            <a:ext cx="2331720" cy="182880"/>
          </a:xfrm>
          <a:prstGeom prst="roundRect">
            <a:avLst>
              <a:gd name="adj" fmla="val 50000"/>
            </a:avLst>
          </a:prstGeom>
          <a:solidFill>
            <a:srgbClr val="D5DDD6"/>
          </a:solidFill>
          <a:ln/>
        </p:spPr>
      </p:sp>
      <p:sp>
        <p:nvSpPr>
          <p:cNvPr id="6" name="Shape 4"/>
          <p:cNvSpPr/>
          <p:nvPr/>
        </p:nvSpPr>
        <p:spPr>
          <a:xfrm>
            <a:off x="3154680" y="3118104"/>
            <a:ext cx="2331720" cy="182880"/>
          </a:xfrm>
          <a:prstGeom prst="roundRect">
            <a:avLst>
              <a:gd name="adj" fmla="val 50000"/>
            </a:avLst>
          </a:prstGeom>
          <a:solidFill>
            <a:srgbClr val="D5DDD6"/>
          </a:solidFill>
          <a:ln/>
        </p:spPr>
      </p:sp>
      <p:sp>
        <p:nvSpPr>
          <p:cNvPr id="7" name="Shape 5"/>
          <p:cNvSpPr/>
          <p:nvPr/>
        </p:nvSpPr>
        <p:spPr>
          <a:xfrm>
            <a:off x="3154680" y="3630168"/>
            <a:ext cx="2331720" cy="182880"/>
          </a:xfrm>
          <a:prstGeom prst="roundRect">
            <a:avLst>
              <a:gd name="adj" fmla="val 50000"/>
            </a:avLst>
          </a:prstGeom>
          <a:solidFill>
            <a:srgbClr val="D5DDD6"/>
          </a:solidFill>
          <a:ln/>
        </p:spPr>
      </p:sp>
      <p:sp>
        <p:nvSpPr>
          <p:cNvPr id="8" name="Shape 6"/>
          <p:cNvSpPr/>
          <p:nvPr/>
        </p:nvSpPr>
        <p:spPr>
          <a:xfrm>
            <a:off x="3154680" y="4142232"/>
            <a:ext cx="2331720" cy="182880"/>
          </a:xfrm>
          <a:prstGeom prst="roundRect">
            <a:avLst>
              <a:gd name="adj" fmla="val 50000"/>
            </a:avLst>
          </a:prstGeom>
          <a:solidFill>
            <a:srgbClr val="D5DDD6"/>
          </a:solidFill>
          <a:ln/>
        </p:spPr>
      </p:sp>
      <p:sp>
        <p:nvSpPr>
          <p:cNvPr id="9" name="Shape 7"/>
          <p:cNvSpPr/>
          <p:nvPr/>
        </p:nvSpPr>
        <p:spPr>
          <a:xfrm>
            <a:off x="3154680" y="4654296"/>
            <a:ext cx="2331720" cy="182880"/>
          </a:xfrm>
          <a:prstGeom prst="roundRect">
            <a:avLst>
              <a:gd name="adj" fmla="val 50000"/>
            </a:avLst>
          </a:prstGeom>
          <a:solidFill>
            <a:srgbClr val="D5DDD6"/>
          </a:solidFill>
          <a:ln/>
        </p:spPr>
      </p:sp>
      <p:sp>
        <p:nvSpPr>
          <p:cNvPr id="10" name="Shape 8"/>
          <p:cNvSpPr/>
          <p:nvPr/>
        </p:nvSpPr>
        <p:spPr>
          <a:xfrm>
            <a:off x="3154680" y="5166360"/>
            <a:ext cx="1325880" cy="182880"/>
          </a:xfrm>
          <a:prstGeom prst="roundRect">
            <a:avLst>
              <a:gd name="adj" fmla="val 50000"/>
            </a:avLst>
          </a:prstGeom>
          <a:solidFill>
            <a:srgbClr val="D5DDD6"/>
          </a:solidFill>
          <a:ln/>
        </p:spPr>
      </p:sp>
      <p:sp>
        <p:nvSpPr>
          <p:cNvPr id="11" name="Shape 9"/>
          <p:cNvSpPr/>
          <p:nvPr/>
        </p:nvSpPr>
        <p:spPr>
          <a:xfrm>
            <a:off x="6355080" y="2103120"/>
            <a:ext cx="3063240" cy="3794760"/>
          </a:xfrm>
          <a:prstGeom prst="roundRect">
            <a:avLst>
              <a:gd name="adj" fmla="val 3582"/>
            </a:avLst>
          </a:prstGeom>
          <a:solidFill>
            <a:srgbClr val="2E7D3A"/>
          </a:solidFill>
          <a:ln/>
        </p:spPr>
      </p:sp>
      <p:sp>
        <p:nvSpPr>
          <p:cNvPr id="12" name="Shape 10"/>
          <p:cNvSpPr/>
          <p:nvPr/>
        </p:nvSpPr>
        <p:spPr>
          <a:xfrm>
            <a:off x="6748272" y="2514600"/>
            <a:ext cx="2286000" cy="777240"/>
          </a:xfrm>
          <a:prstGeom prst="roundRect">
            <a:avLst>
              <a:gd name="adj" fmla="val 9412"/>
            </a:avLst>
          </a:prstGeom>
          <a:solidFill>
            <a:srgbClr val="FFFFFF"/>
          </a:solidFill>
          <a:ln/>
        </p:spPr>
      </p:sp>
      <p:sp>
        <p:nvSpPr>
          <p:cNvPr id="13" name="Shape 11"/>
          <p:cNvSpPr/>
          <p:nvPr/>
        </p:nvSpPr>
        <p:spPr>
          <a:xfrm>
            <a:off x="6784848" y="3602736"/>
            <a:ext cx="475488" cy="475488"/>
          </a:xfrm>
          <a:prstGeom prst="ellipse">
            <a:avLst/>
          </a:prstGeom>
          <a:solidFill>
            <a:srgbClr val="58B264"/>
          </a:solidFill>
          <a:ln/>
        </p:spPr>
      </p:sp>
      <p:sp>
        <p:nvSpPr>
          <p:cNvPr id="14" name="Shape 12"/>
          <p:cNvSpPr/>
          <p:nvPr/>
        </p:nvSpPr>
        <p:spPr>
          <a:xfrm>
            <a:off x="7653528" y="3602736"/>
            <a:ext cx="475488" cy="475488"/>
          </a:xfrm>
          <a:prstGeom prst="ellipse">
            <a:avLst/>
          </a:prstGeom>
          <a:solidFill>
            <a:srgbClr val="58B264"/>
          </a:solidFill>
          <a:ln/>
        </p:spPr>
      </p:sp>
      <p:sp>
        <p:nvSpPr>
          <p:cNvPr id="15" name="Shape 13"/>
          <p:cNvSpPr/>
          <p:nvPr/>
        </p:nvSpPr>
        <p:spPr>
          <a:xfrm>
            <a:off x="8522208" y="3602736"/>
            <a:ext cx="475488" cy="475488"/>
          </a:xfrm>
          <a:prstGeom prst="ellipse">
            <a:avLst/>
          </a:prstGeom>
          <a:solidFill>
            <a:srgbClr val="58B264"/>
          </a:solidFill>
          <a:ln/>
        </p:spPr>
      </p:sp>
      <p:sp>
        <p:nvSpPr>
          <p:cNvPr id="16" name="Shape 14"/>
          <p:cNvSpPr/>
          <p:nvPr/>
        </p:nvSpPr>
        <p:spPr>
          <a:xfrm>
            <a:off x="6784848" y="4261104"/>
            <a:ext cx="475488" cy="475488"/>
          </a:xfrm>
          <a:prstGeom prst="ellipse">
            <a:avLst/>
          </a:prstGeom>
          <a:solidFill>
            <a:srgbClr val="58B264"/>
          </a:solidFill>
          <a:ln/>
        </p:spPr>
      </p:sp>
      <p:sp>
        <p:nvSpPr>
          <p:cNvPr id="17" name="Shape 15"/>
          <p:cNvSpPr/>
          <p:nvPr/>
        </p:nvSpPr>
        <p:spPr>
          <a:xfrm>
            <a:off x="7653528" y="4261104"/>
            <a:ext cx="475488" cy="475488"/>
          </a:xfrm>
          <a:prstGeom prst="ellipse">
            <a:avLst/>
          </a:prstGeom>
          <a:solidFill>
            <a:srgbClr val="58B264"/>
          </a:solidFill>
          <a:ln/>
        </p:spPr>
      </p:sp>
      <p:sp>
        <p:nvSpPr>
          <p:cNvPr id="18" name="Shape 16"/>
          <p:cNvSpPr/>
          <p:nvPr/>
        </p:nvSpPr>
        <p:spPr>
          <a:xfrm>
            <a:off x="8522208" y="4261104"/>
            <a:ext cx="475488" cy="475488"/>
          </a:xfrm>
          <a:prstGeom prst="ellipse">
            <a:avLst/>
          </a:prstGeom>
          <a:solidFill>
            <a:srgbClr val="58B264"/>
          </a:solidFill>
          <a:ln/>
        </p:spPr>
      </p:sp>
      <p:sp>
        <p:nvSpPr>
          <p:cNvPr id="19" name="Shape 17"/>
          <p:cNvSpPr/>
          <p:nvPr/>
        </p:nvSpPr>
        <p:spPr>
          <a:xfrm>
            <a:off x="6784848" y="4919472"/>
            <a:ext cx="475488" cy="475488"/>
          </a:xfrm>
          <a:prstGeom prst="ellipse">
            <a:avLst/>
          </a:prstGeom>
          <a:solidFill>
            <a:srgbClr val="58B264"/>
          </a:solidFill>
          <a:ln/>
        </p:spPr>
      </p:sp>
      <p:sp>
        <p:nvSpPr>
          <p:cNvPr id="20" name="Shape 18"/>
          <p:cNvSpPr/>
          <p:nvPr/>
        </p:nvSpPr>
        <p:spPr>
          <a:xfrm>
            <a:off x="7653528" y="4919472"/>
            <a:ext cx="475488" cy="475488"/>
          </a:xfrm>
          <a:prstGeom prst="ellipse">
            <a:avLst/>
          </a:prstGeom>
          <a:solidFill>
            <a:srgbClr val="58B264"/>
          </a:solidFill>
          <a:ln/>
        </p:spPr>
      </p:sp>
      <p:sp>
        <p:nvSpPr>
          <p:cNvPr id="21" name="Shape 19"/>
          <p:cNvSpPr/>
          <p:nvPr/>
        </p:nvSpPr>
        <p:spPr>
          <a:xfrm>
            <a:off x="8522208" y="4919472"/>
            <a:ext cx="475488" cy="475488"/>
          </a:xfrm>
          <a:prstGeom prst="ellipse">
            <a:avLst/>
          </a:prstGeom>
          <a:solidFill>
            <a:srgbClr val="58B264"/>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Vier Auftritte</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13</a:t>
            </a:r>
            <a:endParaRPr lang="en-US" sz="1000" dirty="0"/>
          </a:p>
        </p:txBody>
      </p:sp>
      <p:sp>
        <p:nvSpPr>
          <p:cNvPr id="4" name="Shape 2"/>
          <p:cNvSpPr/>
          <p:nvPr/>
        </p:nvSpPr>
        <p:spPr>
          <a:xfrm>
            <a:off x="2331720" y="3730752"/>
            <a:ext cx="7516368" cy="32004"/>
          </a:xfrm>
          <a:prstGeom prst="rect">
            <a:avLst/>
          </a:prstGeom>
          <a:solidFill>
            <a:srgbClr val="D5DDD6"/>
          </a:solidFill>
          <a:ln/>
        </p:spPr>
      </p:sp>
      <p:sp>
        <p:nvSpPr>
          <p:cNvPr id="5" name="Shape 3"/>
          <p:cNvSpPr/>
          <p:nvPr/>
        </p:nvSpPr>
        <p:spPr>
          <a:xfrm>
            <a:off x="1645920" y="3063240"/>
            <a:ext cx="1371600" cy="1371600"/>
          </a:xfrm>
          <a:prstGeom prst="ellipse">
            <a:avLst/>
          </a:prstGeom>
          <a:solidFill>
            <a:srgbClr val="BFDCC4"/>
          </a:solidFill>
          <a:ln/>
        </p:spPr>
      </p:sp>
      <p:sp>
        <p:nvSpPr>
          <p:cNvPr id="6" name="Text 4"/>
          <p:cNvSpPr/>
          <p:nvPr/>
        </p:nvSpPr>
        <p:spPr>
          <a:xfrm>
            <a:off x="1325880" y="3474720"/>
            <a:ext cx="2011680" cy="548640"/>
          </a:xfrm>
          <a:prstGeom prst="rect">
            <a:avLst/>
          </a:prstGeom>
          <a:noFill/>
          <a:ln/>
        </p:spPr>
        <p:txBody>
          <a:bodyPr wrap="square" lIns="0" tIns="0" rIns="0" bIns="0" rtlCol="0" anchor="ctr"/>
          <a:lstStyle/>
          <a:p>
            <a:pPr algn="ctr" indent="0" marL="0">
              <a:buNone/>
            </a:pPr>
            <a:r>
              <a:rPr lang="en-US" sz="2000" b="1" dirty="0">
                <a:solidFill>
                  <a:srgbClr val="1A1819"/>
                </a:solidFill>
                <a:latin typeface="Trebuchet MS" pitchFamily="34" charset="0"/>
                <a:ea typeface="Trebuchet MS" pitchFamily="34" charset="-122"/>
                <a:cs typeface="Trebuchet MS" pitchFamily="34" charset="-120"/>
              </a:rPr>
              <a:t>16.07.</a:t>
            </a:r>
            <a:endParaRPr lang="en-US" sz="2000" dirty="0"/>
          </a:p>
        </p:txBody>
      </p:sp>
      <p:sp>
        <p:nvSpPr>
          <p:cNvPr id="7" name="Shape 5"/>
          <p:cNvSpPr/>
          <p:nvPr/>
        </p:nvSpPr>
        <p:spPr>
          <a:xfrm>
            <a:off x="4151376" y="3063240"/>
            <a:ext cx="1371600" cy="1371600"/>
          </a:xfrm>
          <a:prstGeom prst="ellipse">
            <a:avLst/>
          </a:prstGeom>
          <a:solidFill>
            <a:srgbClr val="58B264"/>
          </a:solidFill>
          <a:ln/>
        </p:spPr>
      </p:sp>
      <p:sp>
        <p:nvSpPr>
          <p:cNvPr id="8" name="Text 6"/>
          <p:cNvSpPr/>
          <p:nvPr/>
        </p:nvSpPr>
        <p:spPr>
          <a:xfrm>
            <a:off x="3831336" y="347472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20.07.</a:t>
            </a:r>
            <a:endParaRPr lang="en-US" sz="2000" dirty="0"/>
          </a:p>
        </p:txBody>
      </p:sp>
      <p:sp>
        <p:nvSpPr>
          <p:cNvPr id="9" name="Shape 7"/>
          <p:cNvSpPr/>
          <p:nvPr/>
        </p:nvSpPr>
        <p:spPr>
          <a:xfrm>
            <a:off x="6656832" y="3063240"/>
            <a:ext cx="1371600" cy="1371600"/>
          </a:xfrm>
          <a:prstGeom prst="ellipse">
            <a:avLst/>
          </a:prstGeom>
          <a:solidFill>
            <a:srgbClr val="58B264"/>
          </a:solidFill>
          <a:ln/>
        </p:spPr>
      </p:sp>
      <p:sp>
        <p:nvSpPr>
          <p:cNvPr id="10" name="Text 8"/>
          <p:cNvSpPr/>
          <p:nvPr/>
        </p:nvSpPr>
        <p:spPr>
          <a:xfrm>
            <a:off x="6336792" y="347472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03.08.</a:t>
            </a:r>
            <a:endParaRPr lang="en-US" sz="2000" dirty="0"/>
          </a:p>
        </p:txBody>
      </p:sp>
      <p:sp>
        <p:nvSpPr>
          <p:cNvPr id="11" name="Shape 9"/>
          <p:cNvSpPr/>
          <p:nvPr/>
        </p:nvSpPr>
        <p:spPr>
          <a:xfrm>
            <a:off x="9002268" y="2903220"/>
            <a:ext cx="1691640" cy="1691640"/>
          </a:xfrm>
          <a:prstGeom prst="ellipse">
            <a:avLst/>
          </a:prstGeom>
          <a:solidFill>
            <a:srgbClr val="2E7D3A"/>
          </a:solidFill>
          <a:ln/>
        </p:spPr>
      </p:sp>
      <p:sp>
        <p:nvSpPr>
          <p:cNvPr id="12" name="Text 10"/>
          <p:cNvSpPr/>
          <p:nvPr/>
        </p:nvSpPr>
        <p:spPr>
          <a:xfrm>
            <a:off x="8842248" y="347472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Trebuchet MS" pitchFamily="34" charset="0"/>
                <a:ea typeface="Trebuchet MS" pitchFamily="34" charset="-122"/>
                <a:cs typeface="Trebuchet MS" pitchFamily="34" charset="-120"/>
              </a:rPr>
              <a:t>06.08.</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Neue Werkzeuge</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1037844" y="2651760"/>
            <a:ext cx="2240280" cy="2240280"/>
          </a:xfrm>
          <a:prstGeom prst="roundRect">
            <a:avLst>
              <a:gd name="adj" fmla="val 5714"/>
            </a:avLst>
          </a:prstGeom>
          <a:solidFill>
            <a:srgbClr val="2E7D3A"/>
          </a:solidFill>
          <a:ln/>
        </p:spPr>
      </p:sp>
      <p:sp>
        <p:nvSpPr>
          <p:cNvPr id="5" name="Shape 3"/>
          <p:cNvSpPr/>
          <p:nvPr/>
        </p:nvSpPr>
        <p:spPr>
          <a:xfrm>
            <a:off x="1421892" y="2971800"/>
            <a:ext cx="1472184" cy="502920"/>
          </a:xfrm>
          <a:prstGeom prst="roundRect">
            <a:avLst>
              <a:gd name="adj" fmla="val 10909"/>
            </a:avLst>
          </a:prstGeom>
          <a:solidFill>
            <a:srgbClr val="FFFFFF"/>
          </a:solidFill>
          <a:ln/>
        </p:spPr>
      </p:sp>
      <p:sp>
        <p:nvSpPr>
          <p:cNvPr id="6" name="Shape 4"/>
          <p:cNvSpPr/>
          <p:nvPr/>
        </p:nvSpPr>
        <p:spPr>
          <a:xfrm>
            <a:off x="1540764" y="3776472"/>
            <a:ext cx="310896" cy="310896"/>
          </a:xfrm>
          <a:prstGeom prst="ellipse">
            <a:avLst/>
          </a:prstGeom>
          <a:solidFill>
            <a:srgbClr val="58B264"/>
          </a:solidFill>
          <a:ln/>
        </p:spPr>
      </p:sp>
      <p:sp>
        <p:nvSpPr>
          <p:cNvPr id="7" name="Shape 5"/>
          <p:cNvSpPr/>
          <p:nvPr/>
        </p:nvSpPr>
        <p:spPr>
          <a:xfrm>
            <a:off x="2007108" y="3776472"/>
            <a:ext cx="310896" cy="310896"/>
          </a:xfrm>
          <a:prstGeom prst="ellipse">
            <a:avLst/>
          </a:prstGeom>
          <a:solidFill>
            <a:srgbClr val="58B264"/>
          </a:solidFill>
          <a:ln/>
        </p:spPr>
      </p:sp>
      <p:sp>
        <p:nvSpPr>
          <p:cNvPr id="8" name="Shape 6"/>
          <p:cNvSpPr/>
          <p:nvPr/>
        </p:nvSpPr>
        <p:spPr>
          <a:xfrm>
            <a:off x="2473452" y="3776472"/>
            <a:ext cx="310896" cy="310896"/>
          </a:xfrm>
          <a:prstGeom prst="ellipse">
            <a:avLst/>
          </a:prstGeom>
          <a:solidFill>
            <a:srgbClr val="58B264"/>
          </a:solidFill>
          <a:ln/>
        </p:spPr>
      </p:sp>
      <p:sp>
        <p:nvSpPr>
          <p:cNvPr id="9" name="Shape 7"/>
          <p:cNvSpPr/>
          <p:nvPr/>
        </p:nvSpPr>
        <p:spPr>
          <a:xfrm>
            <a:off x="1540764" y="4343400"/>
            <a:ext cx="310896" cy="310896"/>
          </a:xfrm>
          <a:prstGeom prst="ellipse">
            <a:avLst/>
          </a:prstGeom>
          <a:solidFill>
            <a:srgbClr val="58B264"/>
          </a:solidFill>
          <a:ln/>
        </p:spPr>
      </p:sp>
      <p:sp>
        <p:nvSpPr>
          <p:cNvPr id="10" name="Shape 8"/>
          <p:cNvSpPr/>
          <p:nvPr/>
        </p:nvSpPr>
        <p:spPr>
          <a:xfrm>
            <a:off x="2007108" y="4343400"/>
            <a:ext cx="310896" cy="310896"/>
          </a:xfrm>
          <a:prstGeom prst="ellipse">
            <a:avLst/>
          </a:prstGeom>
          <a:solidFill>
            <a:srgbClr val="58B264"/>
          </a:solidFill>
          <a:ln/>
        </p:spPr>
      </p:sp>
      <p:sp>
        <p:nvSpPr>
          <p:cNvPr id="11" name="Shape 9"/>
          <p:cNvSpPr/>
          <p:nvPr/>
        </p:nvSpPr>
        <p:spPr>
          <a:xfrm>
            <a:off x="2473452" y="4343400"/>
            <a:ext cx="310896" cy="310896"/>
          </a:xfrm>
          <a:prstGeom prst="ellipse">
            <a:avLst/>
          </a:prstGeom>
          <a:solidFill>
            <a:srgbClr val="58B264"/>
          </a:solidFill>
          <a:ln/>
        </p:spPr>
      </p:sp>
      <p:sp>
        <p:nvSpPr>
          <p:cNvPr id="12" name="Shape 10"/>
          <p:cNvSpPr/>
          <p:nvPr/>
        </p:nvSpPr>
        <p:spPr>
          <a:xfrm>
            <a:off x="3662172" y="2651760"/>
            <a:ext cx="2240280" cy="2240280"/>
          </a:xfrm>
          <a:prstGeom prst="roundRect">
            <a:avLst>
              <a:gd name="adj" fmla="val 5714"/>
            </a:avLst>
          </a:prstGeom>
          <a:solidFill>
            <a:srgbClr val="F5F6F3"/>
          </a:solidFill>
          <a:ln/>
        </p:spPr>
      </p:sp>
      <p:sp>
        <p:nvSpPr>
          <p:cNvPr id="13" name="Shape 11"/>
          <p:cNvSpPr/>
          <p:nvPr/>
        </p:nvSpPr>
        <p:spPr>
          <a:xfrm>
            <a:off x="4046220" y="2999232"/>
            <a:ext cx="1472184" cy="155448"/>
          </a:xfrm>
          <a:prstGeom prst="roundRect">
            <a:avLst>
              <a:gd name="adj" fmla="val 47059"/>
            </a:avLst>
          </a:prstGeom>
          <a:solidFill>
            <a:srgbClr val="D5DDD6"/>
          </a:solidFill>
          <a:ln/>
        </p:spPr>
      </p:sp>
      <p:sp>
        <p:nvSpPr>
          <p:cNvPr id="14" name="Shape 12"/>
          <p:cNvSpPr/>
          <p:nvPr/>
        </p:nvSpPr>
        <p:spPr>
          <a:xfrm>
            <a:off x="4046220" y="3346704"/>
            <a:ext cx="1472184" cy="155448"/>
          </a:xfrm>
          <a:prstGeom prst="roundRect">
            <a:avLst>
              <a:gd name="adj" fmla="val 47059"/>
            </a:avLst>
          </a:prstGeom>
          <a:solidFill>
            <a:srgbClr val="D5DDD6"/>
          </a:solidFill>
          <a:ln/>
        </p:spPr>
      </p:sp>
      <p:sp>
        <p:nvSpPr>
          <p:cNvPr id="15" name="Shape 13"/>
          <p:cNvSpPr/>
          <p:nvPr/>
        </p:nvSpPr>
        <p:spPr>
          <a:xfrm>
            <a:off x="4046220" y="3694176"/>
            <a:ext cx="1472184" cy="155448"/>
          </a:xfrm>
          <a:prstGeom prst="roundRect">
            <a:avLst>
              <a:gd name="adj" fmla="val 47059"/>
            </a:avLst>
          </a:prstGeom>
          <a:solidFill>
            <a:srgbClr val="D5DDD6"/>
          </a:solidFill>
          <a:ln/>
        </p:spPr>
      </p:sp>
      <p:sp>
        <p:nvSpPr>
          <p:cNvPr id="16" name="Shape 14"/>
          <p:cNvSpPr/>
          <p:nvPr/>
        </p:nvSpPr>
        <p:spPr>
          <a:xfrm>
            <a:off x="4046220" y="4041648"/>
            <a:ext cx="1472184" cy="155448"/>
          </a:xfrm>
          <a:prstGeom prst="roundRect">
            <a:avLst>
              <a:gd name="adj" fmla="val 47059"/>
            </a:avLst>
          </a:prstGeom>
          <a:solidFill>
            <a:srgbClr val="D5DDD6"/>
          </a:solidFill>
          <a:ln/>
        </p:spPr>
      </p:sp>
      <p:sp>
        <p:nvSpPr>
          <p:cNvPr id="17" name="Shape 15"/>
          <p:cNvSpPr/>
          <p:nvPr/>
        </p:nvSpPr>
        <p:spPr>
          <a:xfrm>
            <a:off x="4046220" y="4389120"/>
            <a:ext cx="822960" cy="155448"/>
          </a:xfrm>
          <a:prstGeom prst="roundRect">
            <a:avLst>
              <a:gd name="adj" fmla="val 47059"/>
            </a:avLst>
          </a:prstGeom>
          <a:solidFill>
            <a:srgbClr val="D5DDD6"/>
          </a:solidFill>
          <a:ln/>
        </p:spPr>
      </p:sp>
      <p:sp>
        <p:nvSpPr>
          <p:cNvPr id="18" name="Shape 16"/>
          <p:cNvSpPr/>
          <p:nvPr/>
        </p:nvSpPr>
        <p:spPr>
          <a:xfrm>
            <a:off x="6286500" y="2651760"/>
            <a:ext cx="2240280" cy="2240280"/>
          </a:xfrm>
          <a:prstGeom prst="roundRect">
            <a:avLst>
              <a:gd name="adj" fmla="val 5714"/>
            </a:avLst>
          </a:prstGeom>
          <a:solidFill>
            <a:srgbClr val="F5F6F3"/>
          </a:solidFill>
          <a:ln/>
        </p:spPr>
      </p:sp>
      <p:sp>
        <p:nvSpPr>
          <p:cNvPr id="19" name="Shape 17"/>
          <p:cNvSpPr/>
          <p:nvPr/>
        </p:nvSpPr>
        <p:spPr>
          <a:xfrm>
            <a:off x="6789420" y="3150108"/>
            <a:ext cx="1234440" cy="1234440"/>
          </a:xfrm>
          <a:prstGeom prst="ellipse">
            <a:avLst/>
          </a:prstGeom>
          <a:solidFill>
            <a:srgbClr val="EDF5EE"/>
          </a:solidFill>
          <a:ln/>
        </p:spPr>
      </p:sp>
      <p:sp>
        <p:nvSpPr>
          <p:cNvPr id="20" name="Shape 18"/>
          <p:cNvSpPr/>
          <p:nvPr/>
        </p:nvSpPr>
        <p:spPr>
          <a:xfrm>
            <a:off x="6894576" y="3328416"/>
            <a:ext cx="475488" cy="475488"/>
          </a:xfrm>
          <a:prstGeom prst="ellipse">
            <a:avLst/>
          </a:prstGeom>
          <a:solidFill>
            <a:srgbClr val="2E7D3A"/>
          </a:solidFill>
          <a:ln/>
        </p:spPr>
      </p:sp>
      <p:sp>
        <p:nvSpPr>
          <p:cNvPr id="21" name="Shape 19"/>
          <p:cNvSpPr/>
          <p:nvPr/>
        </p:nvSpPr>
        <p:spPr>
          <a:xfrm>
            <a:off x="7498080" y="3410712"/>
            <a:ext cx="402336" cy="402336"/>
          </a:xfrm>
          <a:prstGeom prst="ellipse">
            <a:avLst/>
          </a:prstGeom>
          <a:solidFill>
            <a:srgbClr val="58B264"/>
          </a:solidFill>
          <a:ln/>
        </p:spPr>
      </p:sp>
      <p:sp>
        <p:nvSpPr>
          <p:cNvPr id="22" name="Shape 20"/>
          <p:cNvSpPr/>
          <p:nvPr/>
        </p:nvSpPr>
        <p:spPr>
          <a:xfrm>
            <a:off x="7223760" y="3977640"/>
            <a:ext cx="365760" cy="365760"/>
          </a:xfrm>
          <a:prstGeom prst="ellipse">
            <a:avLst/>
          </a:prstGeom>
          <a:solidFill>
            <a:srgbClr val="BFDCC4"/>
          </a:solidFill>
          <a:ln/>
        </p:spPr>
      </p:sp>
      <p:sp>
        <p:nvSpPr>
          <p:cNvPr id="23" name="Shape 21"/>
          <p:cNvSpPr/>
          <p:nvPr/>
        </p:nvSpPr>
        <p:spPr>
          <a:xfrm>
            <a:off x="8910828" y="2651760"/>
            <a:ext cx="2240280" cy="2240280"/>
          </a:xfrm>
          <a:prstGeom prst="roundRect">
            <a:avLst>
              <a:gd name="adj" fmla="val 5714"/>
            </a:avLst>
          </a:prstGeom>
          <a:solidFill>
            <a:srgbClr val="58B264"/>
          </a:solidFill>
          <a:ln/>
        </p:spPr>
      </p:sp>
      <p:sp>
        <p:nvSpPr>
          <p:cNvPr id="24" name="Shape 22"/>
          <p:cNvSpPr/>
          <p:nvPr/>
        </p:nvSpPr>
        <p:spPr>
          <a:xfrm>
            <a:off x="9276588" y="3063240"/>
            <a:ext cx="1508760" cy="1188720"/>
          </a:xfrm>
          <a:prstGeom prst="roundRect">
            <a:avLst>
              <a:gd name="adj" fmla="val 10769"/>
            </a:avLst>
          </a:prstGeom>
          <a:solidFill>
            <a:srgbClr val="FFFFFF"/>
          </a:solidFill>
          <a:ln/>
        </p:spPr>
      </p:sp>
      <p:sp>
        <p:nvSpPr>
          <p:cNvPr id="25" name="Shape 23"/>
          <p:cNvSpPr/>
          <p:nvPr/>
        </p:nvSpPr>
        <p:spPr>
          <a:xfrm rot="10800000">
            <a:off x="9596628" y="4224528"/>
            <a:ext cx="502920" cy="438912"/>
          </a:xfrm>
          <a:prstGeom prst="triangle">
            <a:avLst/>
          </a:prstGeom>
          <a:solidFill>
            <a:srgbClr val="FFFFFF"/>
          </a:solidFill>
          <a:ln/>
        </p:spPr>
      </p:sp>
      <p:sp>
        <p:nvSpPr>
          <p:cNvPr id="26" name="Shape 24"/>
          <p:cNvSpPr/>
          <p:nvPr/>
        </p:nvSpPr>
        <p:spPr>
          <a:xfrm>
            <a:off x="9505188" y="3310128"/>
            <a:ext cx="1234440" cy="137160"/>
          </a:xfrm>
          <a:prstGeom prst="roundRect">
            <a:avLst>
              <a:gd name="adj" fmla="val 46667"/>
            </a:avLst>
          </a:prstGeom>
          <a:solidFill>
            <a:srgbClr val="BFDCC4"/>
          </a:solidFill>
          <a:ln/>
        </p:spPr>
      </p:sp>
      <p:sp>
        <p:nvSpPr>
          <p:cNvPr id="27" name="Shape 25"/>
          <p:cNvSpPr/>
          <p:nvPr/>
        </p:nvSpPr>
        <p:spPr>
          <a:xfrm>
            <a:off x="9505188" y="3602736"/>
            <a:ext cx="1234440" cy="137160"/>
          </a:xfrm>
          <a:prstGeom prst="roundRect">
            <a:avLst>
              <a:gd name="adj" fmla="val 46667"/>
            </a:avLst>
          </a:prstGeom>
          <a:solidFill>
            <a:srgbClr val="BFDCC4"/>
          </a:solidFill>
          <a:ln/>
        </p:spPr>
      </p:sp>
      <p:sp>
        <p:nvSpPr>
          <p:cNvPr id="28" name="Shape 26"/>
          <p:cNvSpPr/>
          <p:nvPr/>
        </p:nvSpPr>
        <p:spPr>
          <a:xfrm>
            <a:off x="9505188" y="3895344"/>
            <a:ext cx="658368" cy="137160"/>
          </a:xfrm>
          <a:prstGeom prst="roundRect">
            <a:avLst>
              <a:gd name="adj" fmla="val 46667"/>
            </a:avLst>
          </a:prstGeom>
          <a:solidFill>
            <a:srgbClr val="BFDCC4"/>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Einsparcontracting</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3945636" y="1783080"/>
            <a:ext cx="4297680" cy="4297680"/>
          </a:xfrm>
          <a:prstGeom prst="donut">
            <a:avLst/>
          </a:prstGeom>
          <a:solidFill>
            <a:srgbClr val="EDF5EE"/>
          </a:solidFill>
          <a:ln/>
        </p:spPr>
      </p:sp>
      <p:sp>
        <p:nvSpPr>
          <p:cNvPr id="5" name="Shape 3"/>
          <p:cNvSpPr/>
          <p:nvPr/>
        </p:nvSpPr>
        <p:spPr>
          <a:xfrm>
            <a:off x="5385816" y="1741932"/>
            <a:ext cx="1417320" cy="1417320"/>
          </a:xfrm>
          <a:prstGeom prst="ellipse">
            <a:avLst/>
          </a:prstGeom>
          <a:solidFill>
            <a:srgbClr val="2E7D3A"/>
          </a:solidFill>
          <a:ln/>
        </p:spPr>
      </p:sp>
      <p:sp>
        <p:nvSpPr>
          <p:cNvPr id="6" name="Text 4"/>
          <p:cNvSpPr/>
          <p:nvPr/>
        </p:nvSpPr>
        <p:spPr>
          <a:xfrm>
            <a:off x="5381244" y="2084832"/>
            <a:ext cx="1426464"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Trebuchet MS" pitchFamily="34" charset="0"/>
                <a:ea typeface="Trebuchet MS" pitchFamily="34" charset="-122"/>
                <a:cs typeface="Trebuchet MS" pitchFamily="34" charset="-120"/>
              </a:rPr>
              <a:t>1</a:t>
            </a:r>
            <a:endParaRPr lang="en-US" sz="3400" dirty="0"/>
          </a:p>
        </p:txBody>
      </p:sp>
      <p:sp>
        <p:nvSpPr>
          <p:cNvPr id="7" name="Shape 5"/>
          <p:cNvSpPr/>
          <p:nvPr/>
        </p:nvSpPr>
        <p:spPr>
          <a:xfrm>
            <a:off x="6674571" y="3963924"/>
            <a:ext cx="1417320" cy="1417320"/>
          </a:xfrm>
          <a:prstGeom prst="ellipse">
            <a:avLst/>
          </a:prstGeom>
          <a:solidFill>
            <a:srgbClr val="58B264"/>
          </a:solidFill>
          <a:ln/>
        </p:spPr>
      </p:sp>
      <p:sp>
        <p:nvSpPr>
          <p:cNvPr id="8" name="Text 6"/>
          <p:cNvSpPr/>
          <p:nvPr/>
        </p:nvSpPr>
        <p:spPr>
          <a:xfrm>
            <a:off x="6669999" y="4306824"/>
            <a:ext cx="1426464"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Trebuchet MS" pitchFamily="34" charset="0"/>
                <a:ea typeface="Trebuchet MS" pitchFamily="34" charset="-122"/>
                <a:cs typeface="Trebuchet MS" pitchFamily="34" charset="-120"/>
              </a:rPr>
              <a:t>2</a:t>
            </a:r>
            <a:endParaRPr lang="en-US" sz="3400" dirty="0"/>
          </a:p>
        </p:txBody>
      </p:sp>
      <p:sp>
        <p:nvSpPr>
          <p:cNvPr id="9" name="Shape 7"/>
          <p:cNvSpPr/>
          <p:nvPr/>
        </p:nvSpPr>
        <p:spPr>
          <a:xfrm>
            <a:off x="4097061" y="3963924"/>
            <a:ext cx="1417320" cy="1417320"/>
          </a:xfrm>
          <a:prstGeom prst="ellipse">
            <a:avLst/>
          </a:prstGeom>
          <a:solidFill>
            <a:srgbClr val="BFDCC4"/>
          </a:solidFill>
          <a:ln/>
        </p:spPr>
      </p:sp>
      <p:sp>
        <p:nvSpPr>
          <p:cNvPr id="10" name="Text 8"/>
          <p:cNvSpPr/>
          <p:nvPr/>
        </p:nvSpPr>
        <p:spPr>
          <a:xfrm>
            <a:off x="4092489" y="4306824"/>
            <a:ext cx="1426464" cy="731520"/>
          </a:xfrm>
          <a:prstGeom prst="rect">
            <a:avLst/>
          </a:prstGeom>
          <a:noFill/>
          <a:ln/>
        </p:spPr>
        <p:txBody>
          <a:bodyPr wrap="square" lIns="0" tIns="0" rIns="0" bIns="0" rtlCol="0" anchor="ctr"/>
          <a:lstStyle/>
          <a:p>
            <a:pPr algn="ctr" indent="0" marL="0">
              <a:buNone/>
            </a:pPr>
            <a:r>
              <a:rPr lang="en-US" sz="3400" b="1" dirty="0">
                <a:solidFill>
                  <a:srgbClr val="1A1819"/>
                </a:solidFill>
                <a:latin typeface="Trebuchet MS" pitchFamily="34" charset="0"/>
                <a:ea typeface="Trebuchet MS" pitchFamily="34" charset="-122"/>
                <a:cs typeface="Trebuchet MS" pitchFamily="34" charset="-120"/>
              </a:rPr>
              <a:t>3</a:t>
            </a:r>
            <a:endParaRPr lang="en-US" sz="3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FFFFFF"/>
                </a:solidFill>
                <a:latin typeface="Trebuchet MS" pitchFamily="34" charset="0"/>
                <a:ea typeface="Trebuchet MS" pitchFamily="34" charset="-122"/>
                <a:cs typeface="Trebuchet MS" pitchFamily="34" charset="-120"/>
              </a:rPr>
              <a:t>Dortmund</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rot="13500000">
            <a:off x="4956048" y="2103120"/>
            <a:ext cx="2286000" cy="2286000"/>
          </a:xfrm>
          <a:prstGeom prst="teardrop">
            <a:avLst/>
          </a:prstGeom>
          <a:solidFill>
            <a:srgbClr val="58B264"/>
          </a:solidFill>
          <a:ln/>
        </p:spPr>
      </p:sp>
      <p:sp>
        <p:nvSpPr>
          <p:cNvPr id="5" name="Shape 3"/>
          <p:cNvSpPr/>
          <p:nvPr/>
        </p:nvSpPr>
        <p:spPr>
          <a:xfrm>
            <a:off x="5628132" y="2660904"/>
            <a:ext cx="932688" cy="932688"/>
          </a:xfrm>
          <a:prstGeom prst="ellipse">
            <a:avLst/>
          </a:prstGeom>
          <a:solidFill>
            <a:srgbClr val="1A1819"/>
          </a:solidFill>
          <a:ln/>
        </p:spPr>
      </p:sp>
      <p:sp>
        <p:nvSpPr>
          <p:cNvPr id="6" name="Shape 4"/>
          <p:cNvSpPr/>
          <p:nvPr/>
        </p:nvSpPr>
        <p:spPr>
          <a:xfrm>
            <a:off x="5175504" y="4526280"/>
            <a:ext cx="1828800" cy="310896"/>
          </a:xfrm>
          <a:prstGeom prst="ellipse">
            <a:avLst/>
          </a:prstGeom>
          <a:solidFill>
            <a:srgbClr val="256A30"/>
          </a:solidFill>
          <a:ln/>
        </p:spPr>
      </p:sp>
      <p:sp>
        <p:nvSpPr>
          <p:cNvPr id="7" name="Text 5"/>
          <p:cNvSpPr/>
          <p:nvPr/>
        </p:nvSpPr>
        <p:spPr>
          <a:xfrm>
            <a:off x="1828800" y="5074920"/>
            <a:ext cx="8531352" cy="822960"/>
          </a:xfrm>
          <a:prstGeom prst="rect">
            <a:avLst/>
          </a:prstGeom>
          <a:noFill/>
          <a:ln/>
        </p:spPr>
        <p:txBody>
          <a:bodyPr wrap="square" lIns="0" tIns="0" rIns="0" bIns="0" rtlCol="0" anchor="ctr"/>
          <a:lstStyle/>
          <a:p>
            <a:pPr algn="ctr" indent="0" marL="0">
              <a:buNone/>
            </a:pPr>
            <a:r>
              <a:rPr lang="en-US" sz="5000" b="1" dirty="0">
                <a:solidFill>
                  <a:srgbClr val="FFFFFF"/>
                </a:solidFill>
                <a:latin typeface="Trebuchet MS" pitchFamily="34" charset="0"/>
                <a:ea typeface="Trebuchet MS" pitchFamily="34" charset="-122"/>
                <a:cs typeface="Trebuchet MS" pitchFamily="34" charset="-120"/>
              </a:rPr>
              <a:t>01.10.2026</a:t>
            </a:r>
            <a:endParaRPr lang="en-US" sz="5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Kassel</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17</a:t>
            </a:r>
            <a:endParaRPr lang="en-US" sz="1000" dirty="0"/>
          </a:p>
        </p:txBody>
      </p:sp>
      <p:sp>
        <p:nvSpPr>
          <p:cNvPr id="4" name="Shape 2"/>
          <p:cNvSpPr/>
          <p:nvPr/>
        </p:nvSpPr>
        <p:spPr>
          <a:xfrm>
            <a:off x="4069080" y="3246120"/>
            <a:ext cx="4069080" cy="1143000"/>
          </a:xfrm>
          <a:prstGeom prst="roundRect">
            <a:avLst>
              <a:gd name="adj" fmla="val 24000"/>
            </a:avLst>
          </a:prstGeom>
          <a:solidFill>
            <a:srgbClr val="2E7D3A"/>
          </a:solidFill>
          <a:ln/>
        </p:spPr>
      </p:sp>
      <p:sp>
        <p:nvSpPr>
          <p:cNvPr id="5" name="Shape 3"/>
          <p:cNvSpPr/>
          <p:nvPr/>
        </p:nvSpPr>
        <p:spPr>
          <a:xfrm>
            <a:off x="4956048" y="2487168"/>
            <a:ext cx="2286000" cy="960120"/>
          </a:xfrm>
          <a:prstGeom prst="roundRect">
            <a:avLst>
              <a:gd name="adj" fmla="val 26667"/>
            </a:avLst>
          </a:prstGeom>
          <a:solidFill>
            <a:srgbClr val="58B264"/>
          </a:solidFill>
          <a:ln/>
        </p:spPr>
      </p:sp>
      <p:sp>
        <p:nvSpPr>
          <p:cNvPr id="6" name="Shape 4"/>
          <p:cNvSpPr/>
          <p:nvPr/>
        </p:nvSpPr>
        <p:spPr>
          <a:xfrm>
            <a:off x="4608576" y="3968496"/>
            <a:ext cx="932688" cy="932688"/>
          </a:xfrm>
          <a:prstGeom prst="ellipse">
            <a:avLst/>
          </a:prstGeom>
          <a:solidFill>
            <a:srgbClr val="1A1819"/>
          </a:solidFill>
          <a:ln/>
        </p:spPr>
      </p:sp>
      <p:sp>
        <p:nvSpPr>
          <p:cNvPr id="7" name="Shape 5"/>
          <p:cNvSpPr/>
          <p:nvPr/>
        </p:nvSpPr>
        <p:spPr>
          <a:xfrm>
            <a:off x="4864608" y="4224528"/>
            <a:ext cx="420624" cy="420624"/>
          </a:xfrm>
          <a:prstGeom prst="ellipse">
            <a:avLst/>
          </a:prstGeom>
          <a:solidFill>
            <a:srgbClr val="D5DDD6"/>
          </a:solidFill>
          <a:ln/>
        </p:spPr>
      </p:sp>
      <p:sp>
        <p:nvSpPr>
          <p:cNvPr id="8" name="Shape 6"/>
          <p:cNvSpPr/>
          <p:nvPr/>
        </p:nvSpPr>
        <p:spPr>
          <a:xfrm>
            <a:off x="6647688" y="3968496"/>
            <a:ext cx="932688" cy="932688"/>
          </a:xfrm>
          <a:prstGeom prst="ellipse">
            <a:avLst/>
          </a:prstGeom>
          <a:solidFill>
            <a:srgbClr val="1A1819"/>
          </a:solidFill>
          <a:ln/>
        </p:spPr>
      </p:sp>
      <p:sp>
        <p:nvSpPr>
          <p:cNvPr id="9" name="Shape 7"/>
          <p:cNvSpPr/>
          <p:nvPr/>
        </p:nvSpPr>
        <p:spPr>
          <a:xfrm>
            <a:off x="6903720" y="4224528"/>
            <a:ext cx="420624" cy="420624"/>
          </a:xfrm>
          <a:prstGeom prst="ellipse">
            <a:avLst/>
          </a:prstGeom>
          <a:solidFill>
            <a:srgbClr val="D5DDD6"/>
          </a:solidFill>
          <a:ln/>
        </p:spPr>
      </p:sp>
      <p:sp>
        <p:nvSpPr>
          <p:cNvPr id="10" name="Shape 8"/>
          <p:cNvSpPr/>
          <p:nvPr/>
        </p:nvSpPr>
        <p:spPr>
          <a:xfrm>
            <a:off x="8549640" y="3127248"/>
            <a:ext cx="621792" cy="960120"/>
          </a:xfrm>
          <a:prstGeom prst="lightningBolt">
            <a:avLst/>
          </a:prstGeom>
          <a:solidFill>
            <a:srgbClr val="58B264"/>
          </a:solidFill>
          <a:ln/>
        </p:spPr>
      </p:sp>
      <p:sp>
        <p:nvSpPr>
          <p:cNvPr id="11" name="Text 9"/>
          <p:cNvSpPr/>
          <p:nvPr/>
        </p:nvSpPr>
        <p:spPr>
          <a:xfrm>
            <a:off x="1828800" y="5257800"/>
            <a:ext cx="8531352" cy="685800"/>
          </a:xfrm>
          <a:prstGeom prst="rect">
            <a:avLst/>
          </a:prstGeom>
          <a:noFill/>
          <a:ln/>
        </p:spPr>
        <p:txBody>
          <a:bodyPr wrap="square" lIns="0" tIns="0" rIns="0" bIns="0" rtlCol="0" anchor="ctr"/>
          <a:lstStyle/>
          <a:p>
            <a:pPr algn="ctr" indent="0" marL="0">
              <a:buNone/>
            </a:pPr>
            <a:r>
              <a:rPr lang="en-US" sz="3800" b="1" dirty="0">
                <a:solidFill>
                  <a:srgbClr val="2E7D3A"/>
                </a:solidFill>
                <a:latin typeface="Trebuchet MS" pitchFamily="34" charset="0"/>
                <a:ea typeface="Trebuchet MS" pitchFamily="34" charset="-122"/>
                <a:cs typeface="Trebuchet MS" pitchFamily="34" charset="-120"/>
              </a:rPr>
              <a:t>03.09.2026</a:t>
            </a:r>
            <a:endParaRPr lang="en-US" sz="3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Code of Conduct</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18</a:t>
            </a:r>
            <a:endParaRPr lang="en-US" sz="1000" dirty="0"/>
          </a:p>
        </p:txBody>
      </p:sp>
      <p:sp>
        <p:nvSpPr>
          <p:cNvPr id="4" name="Shape 2"/>
          <p:cNvSpPr/>
          <p:nvPr/>
        </p:nvSpPr>
        <p:spPr>
          <a:xfrm>
            <a:off x="5673852" y="1801368"/>
            <a:ext cx="841248" cy="841248"/>
          </a:xfrm>
          <a:prstGeom prst="ellipse">
            <a:avLst/>
          </a:prstGeom>
          <a:solidFill>
            <a:srgbClr val="2E7D3A"/>
          </a:solidFill>
          <a:ln/>
        </p:spPr>
      </p:sp>
      <p:sp>
        <p:nvSpPr>
          <p:cNvPr id="5" name="Shape 3"/>
          <p:cNvSpPr/>
          <p:nvPr/>
        </p:nvSpPr>
        <p:spPr>
          <a:xfrm>
            <a:off x="6629400" y="2137733"/>
            <a:ext cx="621792" cy="621792"/>
          </a:xfrm>
          <a:prstGeom prst="ellipse">
            <a:avLst/>
          </a:prstGeom>
          <a:solidFill>
            <a:srgbClr val="BFDCC4"/>
          </a:solidFill>
          <a:ln/>
        </p:spPr>
      </p:sp>
      <p:sp>
        <p:nvSpPr>
          <p:cNvPr id="6" name="Shape 4"/>
          <p:cNvSpPr/>
          <p:nvPr/>
        </p:nvSpPr>
        <p:spPr>
          <a:xfrm>
            <a:off x="7248583" y="2756916"/>
            <a:ext cx="621792" cy="621792"/>
          </a:xfrm>
          <a:prstGeom prst="ellipse">
            <a:avLst/>
          </a:prstGeom>
          <a:solidFill>
            <a:srgbClr val="BFDCC4"/>
          </a:solidFill>
          <a:ln/>
        </p:spPr>
      </p:sp>
      <p:sp>
        <p:nvSpPr>
          <p:cNvPr id="7" name="Shape 5"/>
          <p:cNvSpPr/>
          <p:nvPr/>
        </p:nvSpPr>
        <p:spPr>
          <a:xfrm>
            <a:off x="7475220" y="3602736"/>
            <a:ext cx="621792" cy="621792"/>
          </a:xfrm>
          <a:prstGeom prst="ellipse">
            <a:avLst/>
          </a:prstGeom>
          <a:solidFill>
            <a:srgbClr val="BFDCC4"/>
          </a:solidFill>
          <a:ln/>
        </p:spPr>
      </p:sp>
      <p:sp>
        <p:nvSpPr>
          <p:cNvPr id="8" name="Shape 6"/>
          <p:cNvSpPr/>
          <p:nvPr/>
        </p:nvSpPr>
        <p:spPr>
          <a:xfrm>
            <a:off x="7248583" y="4448556"/>
            <a:ext cx="621792" cy="621792"/>
          </a:xfrm>
          <a:prstGeom prst="ellipse">
            <a:avLst/>
          </a:prstGeom>
          <a:solidFill>
            <a:srgbClr val="BFDCC4"/>
          </a:solidFill>
          <a:ln/>
        </p:spPr>
      </p:sp>
      <p:sp>
        <p:nvSpPr>
          <p:cNvPr id="9" name="Shape 7"/>
          <p:cNvSpPr/>
          <p:nvPr/>
        </p:nvSpPr>
        <p:spPr>
          <a:xfrm>
            <a:off x="6629400" y="5067739"/>
            <a:ext cx="621792" cy="621792"/>
          </a:xfrm>
          <a:prstGeom prst="ellipse">
            <a:avLst/>
          </a:prstGeom>
          <a:solidFill>
            <a:srgbClr val="BFDCC4"/>
          </a:solidFill>
          <a:ln/>
        </p:spPr>
      </p:sp>
      <p:sp>
        <p:nvSpPr>
          <p:cNvPr id="10" name="Shape 8"/>
          <p:cNvSpPr/>
          <p:nvPr/>
        </p:nvSpPr>
        <p:spPr>
          <a:xfrm>
            <a:off x="5783580" y="5294376"/>
            <a:ext cx="621792" cy="621792"/>
          </a:xfrm>
          <a:prstGeom prst="ellipse">
            <a:avLst/>
          </a:prstGeom>
          <a:solidFill>
            <a:srgbClr val="BFDCC4"/>
          </a:solidFill>
          <a:ln/>
        </p:spPr>
      </p:sp>
      <p:sp>
        <p:nvSpPr>
          <p:cNvPr id="11" name="Shape 9"/>
          <p:cNvSpPr/>
          <p:nvPr/>
        </p:nvSpPr>
        <p:spPr>
          <a:xfrm>
            <a:off x="4937760" y="5067739"/>
            <a:ext cx="621792" cy="621792"/>
          </a:xfrm>
          <a:prstGeom prst="ellipse">
            <a:avLst/>
          </a:prstGeom>
          <a:solidFill>
            <a:srgbClr val="BFDCC4"/>
          </a:solidFill>
          <a:ln/>
        </p:spPr>
      </p:sp>
      <p:sp>
        <p:nvSpPr>
          <p:cNvPr id="12" name="Shape 10"/>
          <p:cNvSpPr/>
          <p:nvPr/>
        </p:nvSpPr>
        <p:spPr>
          <a:xfrm>
            <a:off x="4318577" y="4448556"/>
            <a:ext cx="621792" cy="621792"/>
          </a:xfrm>
          <a:prstGeom prst="ellipse">
            <a:avLst/>
          </a:prstGeom>
          <a:solidFill>
            <a:srgbClr val="BFDCC4"/>
          </a:solidFill>
          <a:ln/>
        </p:spPr>
      </p:sp>
      <p:sp>
        <p:nvSpPr>
          <p:cNvPr id="13" name="Shape 11"/>
          <p:cNvSpPr/>
          <p:nvPr/>
        </p:nvSpPr>
        <p:spPr>
          <a:xfrm>
            <a:off x="4091940" y="3602736"/>
            <a:ext cx="621792" cy="621792"/>
          </a:xfrm>
          <a:prstGeom prst="ellipse">
            <a:avLst/>
          </a:prstGeom>
          <a:solidFill>
            <a:srgbClr val="BFDCC4"/>
          </a:solidFill>
          <a:ln/>
        </p:spPr>
      </p:sp>
      <p:sp>
        <p:nvSpPr>
          <p:cNvPr id="14" name="Shape 12"/>
          <p:cNvSpPr/>
          <p:nvPr/>
        </p:nvSpPr>
        <p:spPr>
          <a:xfrm>
            <a:off x="4318577" y="2756916"/>
            <a:ext cx="621792" cy="621792"/>
          </a:xfrm>
          <a:prstGeom prst="ellipse">
            <a:avLst/>
          </a:prstGeom>
          <a:solidFill>
            <a:srgbClr val="BFDCC4"/>
          </a:solidFill>
          <a:ln/>
        </p:spPr>
      </p:sp>
      <p:sp>
        <p:nvSpPr>
          <p:cNvPr id="15" name="Shape 13"/>
          <p:cNvSpPr/>
          <p:nvPr/>
        </p:nvSpPr>
        <p:spPr>
          <a:xfrm>
            <a:off x="4937760" y="2137733"/>
            <a:ext cx="621792" cy="621792"/>
          </a:xfrm>
          <a:prstGeom prst="ellipse">
            <a:avLst/>
          </a:prstGeom>
          <a:solidFill>
            <a:srgbClr val="BFDCC4"/>
          </a:solidFill>
          <a:ln/>
        </p:spPr>
      </p:sp>
      <p:sp>
        <p:nvSpPr>
          <p:cNvPr id="16" name="Shape 14"/>
          <p:cNvSpPr/>
          <p:nvPr/>
        </p:nvSpPr>
        <p:spPr>
          <a:xfrm>
            <a:off x="5294376" y="3113532"/>
            <a:ext cx="1600200" cy="1600200"/>
          </a:xfrm>
          <a:prstGeom prst="ellipse">
            <a:avLst/>
          </a:prstGeom>
          <a:solidFill>
            <a:srgbClr val="EDF5EE"/>
          </a:solidFill>
          <a:ln/>
        </p:spPr>
      </p:sp>
      <p:sp>
        <p:nvSpPr>
          <p:cNvPr id="17" name="Shape 15"/>
          <p:cNvSpPr/>
          <p:nvPr/>
        </p:nvSpPr>
        <p:spPr>
          <a:xfrm>
            <a:off x="5811012" y="3630168"/>
            <a:ext cx="566928" cy="566928"/>
          </a:xfrm>
          <a:prstGeom prst="ellipse">
            <a:avLst/>
          </a:prstGeom>
          <a:solidFill>
            <a:srgbClr val="58B264"/>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Drei Neuigkeiten</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19</a:t>
            </a:r>
            <a:endParaRPr lang="en-US" sz="1000" dirty="0"/>
          </a:p>
        </p:txBody>
      </p:sp>
      <p:sp>
        <p:nvSpPr>
          <p:cNvPr id="4" name="Shape 2"/>
          <p:cNvSpPr/>
          <p:nvPr/>
        </p:nvSpPr>
        <p:spPr>
          <a:xfrm>
            <a:off x="1668780" y="2628900"/>
            <a:ext cx="2331720" cy="2331720"/>
          </a:xfrm>
          <a:prstGeom prst="ellipse">
            <a:avLst/>
          </a:prstGeom>
          <a:solidFill>
            <a:srgbClr val="EDF5EE"/>
          </a:solidFill>
          <a:ln/>
        </p:spPr>
      </p:sp>
      <p:sp>
        <p:nvSpPr>
          <p:cNvPr id="5" name="Shape 3"/>
          <p:cNvSpPr/>
          <p:nvPr/>
        </p:nvSpPr>
        <p:spPr>
          <a:xfrm>
            <a:off x="2057400" y="3017520"/>
            <a:ext cx="1554480" cy="1554480"/>
          </a:xfrm>
          <a:prstGeom prst="circularArrow">
            <a:avLst/>
          </a:prstGeom>
          <a:solidFill>
            <a:srgbClr val="2E7D3A"/>
          </a:solidFill>
          <a:ln/>
        </p:spPr>
      </p:sp>
      <p:sp>
        <p:nvSpPr>
          <p:cNvPr id="6" name="Shape 4"/>
          <p:cNvSpPr/>
          <p:nvPr/>
        </p:nvSpPr>
        <p:spPr>
          <a:xfrm>
            <a:off x="4928616" y="2628900"/>
            <a:ext cx="2331720" cy="2331720"/>
          </a:xfrm>
          <a:prstGeom prst="ellipse">
            <a:avLst/>
          </a:prstGeom>
          <a:solidFill>
            <a:srgbClr val="EDF5EE"/>
          </a:solidFill>
          <a:ln/>
        </p:spPr>
      </p:sp>
      <p:sp>
        <p:nvSpPr>
          <p:cNvPr id="7" name="Shape 5"/>
          <p:cNvSpPr/>
          <p:nvPr/>
        </p:nvSpPr>
        <p:spPr>
          <a:xfrm>
            <a:off x="5257800" y="3268980"/>
            <a:ext cx="1051560" cy="1051560"/>
          </a:xfrm>
          <a:prstGeom prst="ellipse">
            <a:avLst/>
          </a:prstGeom>
          <a:ln w="88900">
            <a:solidFill>
              <a:srgbClr val="2E7D3A"/>
            </a:solidFill>
            <a:prstDash val="solid"/>
          </a:ln>
        </p:spPr>
      </p:sp>
      <p:sp>
        <p:nvSpPr>
          <p:cNvPr id="8" name="Shape 6"/>
          <p:cNvSpPr/>
          <p:nvPr/>
        </p:nvSpPr>
        <p:spPr>
          <a:xfrm>
            <a:off x="5879592" y="3268980"/>
            <a:ext cx="1051560" cy="1051560"/>
          </a:xfrm>
          <a:prstGeom prst="ellipse">
            <a:avLst/>
          </a:prstGeom>
          <a:ln w="88900">
            <a:solidFill>
              <a:srgbClr val="58B264"/>
            </a:solidFill>
            <a:prstDash val="solid"/>
          </a:ln>
        </p:spPr>
      </p:sp>
      <p:sp>
        <p:nvSpPr>
          <p:cNvPr id="9" name="Shape 7"/>
          <p:cNvSpPr/>
          <p:nvPr/>
        </p:nvSpPr>
        <p:spPr>
          <a:xfrm>
            <a:off x="8188452" y="2628900"/>
            <a:ext cx="2331720" cy="2331720"/>
          </a:xfrm>
          <a:prstGeom prst="ellipse">
            <a:avLst/>
          </a:prstGeom>
          <a:solidFill>
            <a:srgbClr val="EDF5EE"/>
          </a:solidFill>
          <a:ln/>
        </p:spPr>
      </p:sp>
      <p:sp>
        <p:nvSpPr>
          <p:cNvPr id="10" name="Shape 8"/>
          <p:cNvSpPr/>
          <p:nvPr/>
        </p:nvSpPr>
        <p:spPr>
          <a:xfrm>
            <a:off x="8522208" y="3438144"/>
            <a:ext cx="713232" cy="713232"/>
          </a:xfrm>
          <a:prstGeom prst="ellipse">
            <a:avLst/>
          </a:prstGeom>
          <a:solidFill>
            <a:srgbClr val="BFDCC4"/>
          </a:solidFill>
          <a:ln/>
        </p:spPr>
      </p:sp>
      <p:sp>
        <p:nvSpPr>
          <p:cNvPr id="11" name="Shape 9"/>
          <p:cNvSpPr/>
          <p:nvPr/>
        </p:nvSpPr>
        <p:spPr>
          <a:xfrm>
            <a:off x="9473184" y="3438144"/>
            <a:ext cx="713232" cy="713232"/>
          </a:xfrm>
          <a:prstGeom prst="ellipse">
            <a:avLst/>
          </a:prstGeom>
          <a:solidFill>
            <a:srgbClr val="2E7D3A"/>
          </a:solidFill>
          <a:ln/>
        </p:spPr>
      </p:sp>
      <p:sp>
        <p:nvSpPr>
          <p:cNvPr id="12" name="Shape 10"/>
          <p:cNvSpPr/>
          <p:nvPr/>
        </p:nvSpPr>
        <p:spPr>
          <a:xfrm>
            <a:off x="8942832" y="3639312"/>
            <a:ext cx="822960" cy="329184"/>
          </a:xfrm>
          <a:prstGeom prst="leftRightArrow">
            <a:avLst/>
          </a:prstGeom>
          <a:solidFill>
            <a:srgbClr val="FFFFFF"/>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FFFFFF"/>
                </a:solidFill>
                <a:latin typeface="Trebuchet MS" pitchFamily="34" charset="0"/>
                <a:ea typeface="Trebuchet MS" pitchFamily="34" charset="-122"/>
                <a:cs typeface="Trebuchet MS" pitchFamily="34" charset="-120"/>
              </a:rPr>
              <a:t>Handwerker gesucht</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2025396" y="2308860"/>
            <a:ext cx="960120" cy="960120"/>
          </a:xfrm>
          <a:prstGeom prst="ellipse">
            <a:avLst/>
          </a:prstGeom>
          <a:solidFill>
            <a:srgbClr val="3A4A3C"/>
          </a:solidFill>
          <a:ln/>
        </p:spPr>
      </p:sp>
      <p:sp>
        <p:nvSpPr>
          <p:cNvPr id="5" name="Shape 3"/>
          <p:cNvSpPr/>
          <p:nvPr/>
        </p:nvSpPr>
        <p:spPr>
          <a:xfrm>
            <a:off x="3461004" y="2308860"/>
            <a:ext cx="960120" cy="960120"/>
          </a:xfrm>
          <a:prstGeom prst="ellipse">
            <a:avLst/>
          </a:prstGeom>
          <a:solidFill>
            <a:srgbClr val="3A4A3C"/>
          </a:solidFill>
          <a:ln/>
        </p:spPr>
      </p:sp>
      <p:sp>
        <p:nvSpPr>
          <p:cNvPr id="6" name="Shape 4"/>
          <p:cNvSpPr/>
          <p:nvPr/>
        </p:nvSpPr>
        <p:spPr>
          <a:xfrm>
            <a:off x="4896612" y="2308860"/>
            <a:ext cx="960120" cy="960120"/>
          </a:xfrm>
          <a:prstGeom prst="ellipse">
            <a:avLst/>
          </a:prstGeom>
          <a:solidFill>
            <a:srgbClr val="3A4A3C"/>
          </a:solidFill>
          <a:ln/>
        </p:spPr>
      </p:sp>
      <p:sp>
        <p:nvSpPr>
          <p:cNvPr id="7" name="Shape 5"/>
          <p:cNvSpPr/>
          <p:nvPr/>
        </p:nvSpPr>
        <p:spPr>
          <a:xfrm>
            <a:off x="6332220" y="2308860"/>
            <a:ext cx="960120" cy="960120"/>
          </a:xfrm>
          <a:prstGeom prst="ellipse">
            <a:avLst/>
          </a:prstGeom>
          <a:solidFill>
            <a:srgbClr val="3A4A3C"/>
          </a:solidFill>
          <a:ln/>
        </p:spPr>
      </p:sp>
      <p:sp>
        <p:nvSpPr>
          <p:cNvPr id="8" name="Shape 6"/>
          <p:cNvSpPr/>
          <p:nvPr/>
        </p:nvSpPr>
        <p:spPr>
          <a:xfrm>
            <a:off x="7767828" y="2308860"/>
            <a:ext cx="960120" cy="960120"/>
          </a:xfrm>
          <a:prstGeom prst="ellipse">
            <a:avLst/>
          </a:prstGeom>
          <a:solidFill>
            <a:srgbClr val="3A4A3C"/>
          </a:solidFill>
          <a:ln/>
        </p:spPr>
      </p:sp>
      <p:sp>
        <p:nvSpPr>
          <p:cNvPr id="9" name="Shape 7"/>
          <p:cNvSpPr/>
          <p:nvPr/>
        </p:nvSpPr>
        <p:spPr>
          <a:xfrm>
            <a:off x="9203436" y="2308860"/>
            <a:ext cx="960120" cy="960120"/>
          </a:xfrm>
          <a:prstGeom prst="ellipse">
            <a:avLst/>
          </a:prstGeom>
          <a:solidFill>
            <a:srgbClr val="3A4A3C"/>
          </a:solidFill>
          <a:ln/>
        </p:spPr>
      </p:sp>
      <p:sp>
        <p:nvSpPr>
          <p:cNvPr id="10" name="Shape 8"/>
          <p:cNvSpPr/>
          <p:nvPr/>
        </p:nvSpPr>
        <p:spPr>
          <a:xfrm>
            <a:off x="2025396" y="3835908"/>
            <a:ext cx="960120" cy="960120"/>
          </a:xfrm>
          <a:prstGeom prst="ellipse">
            <a:avLst/>
          </a:prstGeom>
          <a:solidFill>
            <a:srgbClr val="3A4A3C"/>
          </a:solidFill>
          <a:ln/>
        </p:spPr>
      </p:sp>
      <p:sp>
        <p:nvSpPr>
          <p:cNvPr id="11" name="Shape 9"/>
          <p:cNvSpPr/>
          <p:nvPr/>
        </p:nvSpPr>
        <p:spPr>
          <a:xfrm>
            <a:off x="3461004" y="3835908"/>
            <a:ext cx="960120" cy="960120"/>
          </a:xfrm>
          <a:prstGeom prst="ellipse">
            <a:avLst/>
          </a:prstGeom>
          <a:solidFill>
            <a:srgbClr val="3A4A3C"/>
          </a:solidFill>
          <a:ln/>
        </p:spPr>
      </p:sp>
      <p:sp>
        <p:nvSpPr>
          <p:cNvPr id="12" name="Shape 10"/>
          <p:cNvSpPr/>
          <p:nvPr/>
        </p:nvSpPr>
        <p:spPr>
          <a:xfrm>
            <a:off x="4896612" y="3835908"/>
            <a:ext cx="960120" cy="960120"/>
          </a:xfrm>
          <a:prstGeom prst="ellipse">
            <a:avLst/>
          </a:prstGeom>
          <a:solidFill>
            <a:srgbClr val="3A4A3C"/>
          </a:solidFill>
          <a:ln/>
        </p:spPr>
      </p:sp>
      <p:sp>
        <p:nvSpPr>
          <p:cNvPr id="13" name="Shape 11"/>
          <p:cNvSpPr/>
          <p:nvPr/>
        </p:nvSpPr>
        <p:spPr>
          <a:xfrm>
            <a:off x="6332220" y="3835908"/>
            <a:ext cx="960120" cy="960120"/>
          </a:xfrm>
          <a:prstGeom prst="ellipse">
            <a:avLst/>
          </a:prstGeom>
          <a:solidFill>
            <a:srgbClr val="3A4A3C"/>
          </a:solidFill>
          <a:ln/>
        </p:spPr>
      </p:sp>
      <p:sp>
        <p:nvSpPr>
          <p:cNvPr id="14" name="Shape 12"/>
          <p:cNvSpPr/>
          <p:nvPr/>
        </p:nvSpPr>
        <p:spPr>
          <a:xfrm>
            <a:off x="7767828" y="3835908"/>
            <a:ext cx="960120" cy="960120"/>
          </a:xfrm>
          <a:prstGeom prst="ellipse">
            <a:avLst/>
          </a:prstGeom>
          <a:solidFill>
            <a:srgbClr val="3A4A3C"/>
          </a:solidFill>
          <a:ln/>
        </p:spPr>
      </p:sp>
      <p:sp>
        <p:nvSpPr>
          <p:cNvPr id="15" name="Shape 13"/>
          <p:cNvSpPr/>
          <p:nvPr/>
        </p:nvSpPr>
        <p:spPr>
          <a:xfrm>
            <a:off x="9047988" y="3680460"/>
            <a:ext cx="1271016" cy="1271016"/>
          </a:xfrm>
          <a:prstGeom prst="ellipse">
            <a:avLst/>
          </a:prstGeom>
          <a:ln w="38100">
            <a:solidFill>
              <a:srgbClr val="58B264"/>
            </a:solidFill>
            <a:prstDash val="dash"/>
          </a:ln>
        </p:spPr>
      </p:sp>
      <p:sp>
        <p:nvSpPr>
          <p:cNvPr id="16" name="Shape 14"/>
          <p:cNvSpPr/>
          <p:nvPr/>
        </p:nvSpPr>
        <p:spPr>
          <a:xfrm>
            <a:off x="9390888" y="4023360"/>
            <a:ext cx="585216" cy="585216"/>
          </a:xfrm>
          <a:prstGeom prst="plus">
            <a:avLst/>
          </a:prstGeom>
          <a:solidFill>
            <a:srgbClr val="58B264"/>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58368"/>
            <a:ext cx="10634472" cy="914400"/>
          </a:xfrm>
          <a:prstGeom prst="rect">
            <a:avLst/>
          </a:prstGeom>
          <a:noFill/>
          <a:ln/>
        </p:spPr>
        <p:txBody>
          <a:bodyPr wrap="square" lIns="0" tIns="0" rIns="0" bIns="0" rtlCol="0" anchor="ctr"/>
          <a:lstStyle/>
          <a:p>
            <a:pPr algn="l" indent="0" marL="0">
              <a:buNone/>
            </a:pPr>
            <a:r>
              <a:rPr lang="en-US" sz="4600" b="1" dirty="0">
                <a:solidFill>
                  <a:srgbClr val="1A1819"/>
                </a:solidFill>
                <a:latin typeface="Trebuchet MS" pitchFamily="34" charset="0"/>
                <a:ea typeface="Trebuchet MS" pitchFamily="34" charset="-122"/>
                <a:cs typeface="Trebuchet MS" pitchFamily="34" charset="-120"/>
              </a:rPr>
              <a:t>After Five</a:t>
            </a:r>
            <a:endParaRPr lang="en-US" sz="4600" dirty="0"/>
          </a:p>
        </p:txBody>
      </p:sp>
      <p:sp>
        <p:nvSpPr>
          <p:cNvPr id="3" name="Text 1"/>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D5DDD6"/>
                </a:solidFill>
                <a:latin typeface="Calibri" pitchFamily="34" charset="0"/>
                <a:ea typeface="Calibri" pitchFamily="34" charset="-122"/>
                <a:cs typeface="Calibri" pitchFamily="34" charset="-120"/>
              </a:rPr>
              <a:t>21</a:t>
            </a:r>
            <a:endParaRPr lang="en-US" sz="1000" dirty="0"/>
          </a:p>
        </p:txBody>
      </p:sp>
      <p:sp>
        <p:nvSpPr>
          <p:cNvPr id="4" name="Shape 2"/>
          <p:cNvSpPr/>
          <p:nvPr/>
        </p:nvSpPr>
        <p:spPr>
          <a:xfrm>
            <a:off x="5710428" y="2331720"/>
            <a:ext cx="768096" cy="1234440"/>
          </a:xfrm>
          <a:prstGeom prst="triangle">
            <a:avLst/>
          </a:prstGeom>
          <a:solidFill>
            <a:srgbClr val="58B264"/>
          </a:solidFill>
          <a:ln/>
        </p:spPr>
      </p:sp>
      <p:sp>
        <p:nvSpPr>
          <p:cNvPr id="5" name="Shape 3"/>
          <p:cNvSpPr/>
          <p:nvPr/>
        </p:nvSpPr>
        <p:spPr>
          <a:xfrm>
            <a:off x="5015484" y="2697480"/>
            <a:ext cx="621792" cy="868680"/>
          </a:xfrm>
          <a:prstGeom prst="triangle">
            <a:avLst/>
          </a:prstGeom>
          <a:solidFill>
            <a:srgbClr val="BFDCC4"/>
          </a:solidFill>
          <a:ln/>
        </p:spPr>
      </p:sp>
      <p:sp>
        <p:nvSpPr>
          <p:cNvPr id="6" name="Shape 4"/>
          <p:cNvSpPr/>
          <p:nvPr/>
        </p:nvSpPr>
        <p:spPr>
          <a:xfrm>
            <a:off x="6551676" y="2697480"/>
            <a:ext cx="621792" cy="868680"/>
          </a:xfrm>
          <a:prstGeom prst="triangle">
            <a:avLst/>
          </a:prstGeom>
          <a:solidFill>
            <a:srgbClr val="BFDCC4"/>
          </a:solidFill>
          <a:ln/>
        </p:spPr>
      </p:sp>
      <p:sp>
        <p:nvSpPr>
          <p:cNvPr id="7" name="Shape 5"/>
          <p:cNvSpPr/>
          <p:nvPr/>
        </p:nvSpPr>
        <p:spPr>
          <a:xfrm>
            <a:off x="4402836" y="3383280"/>
            <a:ext cx="3383280" cy="3383280"/>
          </a:xfrm>
          <a:prstGeom prst="blockArc">
            <a:avLst/>
          </a:prstGeom>
          <a:solidFill>
            <a:srgbClr val="2E7D3A"/>
          </a:solidFill>
          <a:ln/>
        </p:spPr>
      </p:sp>
      <p:sp>
        <p:nvSpPr>
          <p:cNvPr id="8" name="Shape 6"/>
          <p:cNvSpPr/>
          <p:nvPr/>
        </p:nvSpPr>
        <p:spPr>
          <a:xfrm>
            <a:off x="4311396" y="3584448"/>
            <a:ext cx="3566160" cy="237744"/>
          </a:xfrm>
          <a:prstGeom prst="roundRect">
            <a:avLst>
              <a:gd name="adj" fmla="val 50000"/>
            </a:avLst>
          </a:prstGeom>
          <a:solidFill>
            <a:srgbClr val="1A1819"/>
          </a:solidFill>
          <a:ln/>
        </p:spPr>
      </p:sp>
      <p:sp>
        <p:nvSpPr>
          <p:cNvPr id="9" name="Text 7"/>
          <p:cNvSpPr/>
          <p:nvPr/>
        </p:nvSpPr>
        <p:spPr>
          <a:xfrm>
            <a:off x="1828800" y="5440680"/>
            <a:ext cx="8531352" cy="685800"/>
          </a:xfrm>
          <a:prstGeom prst="rect">
            <a:avLst/>
          </a:prstGeom>
          <a:noFill/>
          <a:ln/>
        </p:spPr>
        <p:txBody>
          <a:bodyPr wrap="square" lIns="0" tIns="0" rIns="0" bIns="0" rtlCol="0" anchor="ctr"/>
          <a:lstStyle/>
          <a:p>
            <a:pPr algn="ctr" indent="0" marL="0">
              <a:buNone/>
            </a:pPr>
            <a:r>
              <a:rPr lang="en-US" sz="3800" b="1" dirty="0">
                <a:solidFill>
                  <a:srgbClr val="2E7D3A"/>
                </a:solidFill>
                <a:latin typeface="Trebuchet MS" pitchFamily="34" charset="0"/>
                <a:ea typeface="Trebuchet MS" pitchFamily="34" charset="-122"/>
                <a:cs typeface="Trebuchet MS" pitchFamily="34" charset="-120"/>
              </a:rPr>
              <a:t>September</a:t>
            </a:r>
            <a:endParaRPr lang="en-US" sz="3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1819"/>
        </a:solidFill>
      </p:bgPr>
    </p:bg>
    <p:spTree>
      <p:nvGrpSpPr>
        <p:cNvPr id="1" name=""/>
        <p:cNvGrpSpPr/>
        <p:nvPr/>
      </p:nvGrpSpPr>
      <p:grpSpPr>
        <a:xfrm>
          <a:off x="0" y="0"/>
          <a:ext cx="0" cy="0"/>
          <a:chOff x="0" y="0"/>
          <a:chExt cx="0" cy="0"/>
        </a:xfrm>
      </p:grpSpPr>
      <p:sp>
        <p:nvSpPr>
          <p:cNvPr id="2" name="Text 0"/>
          <p:cNvSpPr/>
          <p:nvPr/>
        </p:nvSpPr>
        <p:spPr>
          <a:xfrm>
            <a:off x="11411712" y="6355080"/>
            <a:ext cx="457200" cy="274320"/>
          </a:xfrm>
          <a:prstGeom prst="rect">
            <a:avLst/>
          </a:prstGeom>
          <a:noFill/>
          <a:ln/>
        </p:spPr>
        <p:txBody>
          <a:bodyPr wrap="square" lIns="0" tIns="0" rIns="0" bIns="0" rtlCol="0" anchor="ctr"/>
          <a:lstStyle/>
          <a:p>
            <a:pPr algn="r" indent="0" marL="0">
              <a:buNone/>
            </a:pPr>
            <a:r>
              <a:rPr lang="en-US" sz="1000" dirty="0">
                <a:solidFill>
                  <a:srgbClr val="3A4A3C"/>
                </a:solidFill>
                <a:latin typeface="Calibri" pitchFamily="34" charset="0"/>
                <a:ea typeface="Calibri" pitchFamily="34" charset="-122"/>
                <a:cs typeface="Calibri" pitchFamily="34" charset="-120"/>
              </a:rPr>
              <a:t>22</a:t>
            </a:r>
            <a:endParaRPr lang="en-US" sz="1000" dirty="0"/>
          </a:p>
        </p:txBody>
      </p:sp>
      <p:sp>
        <p:nvSpPr>
          <p:cNvPr id="3" name="Shape 1"/>
          <p:cNvSpPr/>
          <p:nvPr/>
        </p:nvSpPr>
        <p:spPr>
          <a:xfrm>
            <a:off x="3991356" y="1143000"/>
            <a:ext cx="4206240" cy="4206240"/>
          </a:xfrm>
          <a:prstGeom prst="ellipse">
            <a:avLst/>
          </a:prstGeom>
          <a:ln w="25400">
            <a:solidFill>
              <a:srgbClr val="256A30"/>
            </a:solidFill>
            <a:prstDash val="solid"/>
          </a:ln>
        </p:spPr>
      </p:sp>
      <p:sp>
        <p:nvSpPr>
          <p:cNvPr id="4" name="Shape 2"/>
          <p:cNvSpPr/>
          <p:nvPr/>
        </p:nvSpPr>
        <p:spPr>
          <a:xfrm>
            <a:off x="4585716" y="1737360"/>
            <a:ext cx="3017520" cy="3017520"/>
          </a:xfrm>
          <a:prstGeom prst="ellipse">
            <a:avLst/>
          </a:prstGeom>
          <a:solidFill>
            <a:srgbClr val="2E7D3A"/>
          </a:solidFill>
          <a:ln/>
        </p:spPr>
      </p:sp>
      <p:sp>
        <p:nvSpPr>
          <p:cNvPr id="5" name="Text 3"/>
          <p:cNvSpPr/>
          <p:nvPr/>
        </p:nvSpPr>
        <p:spPr>
          <a:xfrm>
            <a:off x="1828800" y="2606040"/>
            <a:ext cx="8531352" cy="1280160"/>
          </a:xfrm>
          <a:prstGeom prst="rect">
            <a:avLst/>
          </a:prstGeom>
          <a:noFill/>
          <a:ln/>
        </p:spPr>
        <p:txBody>
          <a:bodyPr wrap="square" lIns="0" tIns="0" rIns="0" bIns="0" rtlCol="0" anchor="ctr"/>
          <a:lstStyle/>
          <a:p>
            <a:pPr algn="ctr" indent="0" marL="0">
              <a:buNone/>
            </a:pPr>
            <a:r>
              <a:rPr lang="en-US" sz="7200" b="1" dirty="0">
                <a:solidFill>
                  <a:srgbClr val="FFFFFF"/>
                </a:solidFill>
                <a:latin typeface="Trebuchet MS" pitchFamily="34" charset="0"/>
                <a:ea typeface="Trebuchet MS" pitchFamily="34" charset="-122"/>
                <a:cs typeface="Trebuchet MS" pitchFamily="34" charset="-120"/>
              </a:rPr>
              <a:t>Danke</a:t>
            </a:r>
            <a:endParaRPr lang="en-US" sz="7200" dirty="0"/>
          </a:p>
        </p:txBody>
      </p:sp>
      <p:sp>
        <p:nvSpPr>
          <p:cNvPr id="6" name="Shape 4"/>
          <p:cNvSpPr/>
          <p:nvPr/>
        </p:nvSpPr>
        <p:spPr>
          <a:xfrm>
            <a:off x="3890772" y="5294376"/>
            <a:ext cx="475488" cy="475488"/>
          </a:xfrm>
          <a:prstGeom prst="ellipse">
            <a:avLst/>
          </a:prstGeom>
          <a:solidFill>
            <a:srgbClr val="58B264"/>
          </a:solidFill>
          <a:ln/>
        </p:spPr>
      </p:sp>
      <p:sp>
        <p:nvSpPr>
          <p:cNvPr id="7" name="Text 5"/>
          <p:cNvSpPr/>
          <p:nvPr/>
        </p:nvSpPr>
        <p:spPr>
          <a:xfrm>
            <a:off x="3890772"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1</a:t>
            </a:r>
            <a:endParaRPr lang="en-US" sz="1200" dirty="0"/>
          </a:p>
        </p:txBody>
      </p:sp>
      <p:sp>
        <p:nvSpPr>
          <p:cNvPr id="8" name="Shape 6"/>
          <p:cNvSpPr/>
          <p:nvPr/>
        </p:nvSpPr>
        <p:spPr>
          <a:xfrm>
            <a:off x="4677156" y="5294376"/>
            <a:ext cx="475488" cy="475488"/>
          </a:xfrm>
          <a:prstGeom prst="ellipse">
            <a:avLst/>
          </a:prstGeom>
          <a:solidFill>
            <a:srgbClr val="58B264"/>
          </a:solidFill>
          <a:ln/>
        </p:spPr>
      </p:sp>
      <p:sp>
        <p:nvSpPr>
          <p:cNvPr id="9" name="Text 7"/>
          <p:cNvSpPr/>
          <p:nvPr/>
        </p:nvSpPr>
        <p:spPr>
          <a:xfrm>
            <a:off x="4677156"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2</a:t>
            </a:r>
            <a:endParaRPr lang="en-US" sz="1200" dirty="0"/>
          </a:p>
        </p:txBody>
      </p:sp>
      <p:sp>
        <p:nvSpPr>
          <p:cNvPr id="10" name="Shape 8"/>
          <p:cNvSpPr/>
          <p:nvPr/>
        </p:nvSpPr>
        <p:spPr>
          <a:xfrm>
            <a:off x="5463540" y="5294376"/>
            <a:ext cx="475488" cy="475488"/>
          </a:xfrm>
          <a:prstGeom prst="ellipse">
            <a:avLst/>
          </a:prstGeom>
          <a:solidFill>
            <a:srgbClr val="58B264"/>
          </a:solidFill>
          <a:ln/>
        </p:spPr>
      </p:sp>
      <p:sp>
        <p:nvSpPr>
          <p:cNvPr id="11" name="Text 9"/>
          <p:cNvSpPr/>
          <p:nvPr/>
        </p:nvSpPr>
        <p:spPr>
          <a:xfrm>
            <a:off x="5463540"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3</a:t>
            </a:r>
            <a:endParaRPr lang="en-US" sz="1200" dirty="0"/>
          </a:p>
        </p:txBody>
      </p:sp>
      <p:sp>
        <p:nvSpPr>
          <p:cNvPr id="12" name="Shape 10"/>
          <p:cNvSpPr/>
          <p:nvPr/>
        </p:nvSpPr>
        <p:spPr>
          <a:xfrm>
            <a:off x="6249924" y="5294376"/>
            <a:ext cx="475488" cy="475488"/>
          </a:xfrm>
          <a:prstGeom prst="ellipse">
            <a:avLst/>
          </a:prstGeom>
          <a:solidFill>
            <a:srgbClr val="58B264"/>
          </a:solidFill>
          <a:ln/>
        </p:spPr>
      </p:sp>
      <p:sp>
        <p:nvSpPr>
          <p:cNvPr id="13" name="Text 11"/>
          <p:cNvSpPr/>
          <p:nvPr/>
        </p:nvSpPr>
        <p:spPr>
          <a:xfrm>
            <a:off x="6249924"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4</a:t>
            </a:r>
            <a:endParaRPr lang="en-US" sz="1200" dirty="0"/>
          </a:p>
        </p:txBody>
      </p:sp>
      <p:sp>
        <p:nvSpPr>
          <p:cNvPr id="14" name="Shape 12"/>
          <p:cNvSpPr/>
          <p:nvPr/>
        </p:nvSpPr>
        <p:spPr>
          <a:xfrm>
            <a:off x="7036308" y="5294376"/>
            <a:ext cx="475488" cy="475488"/>
          </a:xfrm>
          <a:prstGeom prst="ellipse">
            <a:avLst/>
          </a:prstGeom>
          <a:solidFill>
            <a:srgbClr val="58B264"/>
          </a:solidFill>
          <a:ln/>
        </p:spPr>
      </p:sp>
      <p:sp>
        <p:nvSpPr>
          <p:cNvPr id="15" name="Text 13"/>
          <p:cNvSpPr/>
          <p:nvPr/>
        </p:nvSpPr>
        <p:spPr>
          <a:xfrm>
            <a:off x="7036308"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5</a:t>
            </a:r>
            <a:endParaRPr lang="en-US" sz="1200" dirty="0"/>
          </a:p>
        </p:txBody>
      </p:sp>
      <p:sp>
        <p:nvSpPr>
          <p:cNvPr id="16" name="Shape 14"/>
          <p:cNvSpPr/>
          <p:nvPr/>
        </p:nvSpPr>
        <p:spPr>
          <a:xfrm>
            <a:off x="7822692" y="5294376"/>
            <a:ext cx="475488" cy="475488"/>
          </a:xfrm>
          <a:prstGeom prst="ellipse">
            <a:avLst/>
          </a:prstGeom>
          <a:solidFill>
            <a:srgbClr val="58B264"/>
          </a:solidFill>
          <a:ln/>
        </p:spPr>
      </p:sp>
      <p:sp>
        <p:nvSpPr>
          <p:cNvPr id="17" name="Text 15"/>
          <p:cNvSpPr/>
          <p:nvPr/>
        </p:nvSpPr>
        <p:spPr>
          <a:xfrm>
            <a:off x="7822692" y="5358384"/>
            <a:ext cx="475488" cy="347472"/>
          </a:xfrm>
          <a:prstGeom prst="rect">
            <a:avLst/>
          </a:prstGeom>
          <a:noFill/>
          <a:ln/>
        </p:spPr>
        <p:txBody>
          <a:bodyPr wrap="square" lIns="0" tIns="0" rIns="0" bIns="0" rtlCol="0" anchor="ctr"/>
          <a:lstStyle/>
          <a:p>
            <a:pPr algn="ctr" indent="0" marL="0">
              <a:buNone/>
            </a:pPr>
            <a:r>
              <a:rPr lang="en-US" sz="1200" b="1" dirty="0">
                <a:solidFill>
                  <a:srgbClr val="1A1819"/>
                </a:solidFill>
                <a:latin typeface="Trebuchet MS" pitchFamily="34" charset="0"/>
                <a:ea typeface="Trebuchet MS" pitchFamily="34" charset="-122"/>
                <a:cs typeface="Trebuchet MS"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WERK.E Energie-Effizienz-Beratungs GmbH und Co. KG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Grosses Team-Meeting - 07.08.2026</dc:title>
  <dc:subject>PptxGenJS Presentation</dc:subject>
  <dc:creator>WERK.E Energie-Effizienz-Beratung</dc:creator>
  <cp:lastModifiedBy>WERK.E Energie-Effizienz-Beratung</cp:lastModifiedBy>
  <cp:revision>1</cp:revision>
  <dcterms:created xsi:type="dcterms:W3CDTF">2026-08-06T18:01:16Z</dcterms:created>
  <dcterms:modified xsi:type="dcterms:W3CDTF">2026-08-06T18:01:16Z</dcterms:modified>
</cp:coreProperties>
</file>