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Pflicht-Bioanteil</c:v>
                </c:pt>
              </c:strCache>
            </c:strRef>
          </c:tx>
          <c:spPr>
            <a:solidFill>
              <a:srgbClr val="2E7D3A"/>
            </a:solidFill>
            <a:effectLst/>
          </c:spPr>
          <c:invertIfNegative val="0"/>
          <c:dLbls>
            <c:numFmt formatCode="0&quot;%&quot;" sourceLinked="0"/>
            <c:txPr>
              <a:bodyPr/>
              <a:lstStyle/>
              <a:p>
                <a:pPr>
                  <a:defRPr b="1" i="0" strike="noStrike" sz="1300" u="none">
                    <a:solidFill>
                      <a:srgbClr val="1A181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ab 2029</c:v>
                  </c:pt>
                  <c:pt idx="1">
                    <c:v>ab 2030</c:v>
                  </c:pt>
                  <c:pt idx="2">
                    <c:v>ab 2035</c:v>
                  </c:pt>
                  <c:pt idx="3">
                    <c:v>ab 2040</c:v>
                  </c:pt>
                </c:lvl>
              </c:multiLvlStrCache>
            </c:multiLvlStrRef>
          </c:cat>
          <c:val>
            <c:numRef>
              <c:f>Sheet1!$B$2:$B$5</c:f>
              <c:numCache>
                <c:formatCode>General</c:formatCode>
                <c:ptCount val="4"/>
                <c:pt idx="0">
                  <c:v>10</c:v>
                </c:pt>
                <c:pt idx="1">
                  <c:v>15</c:v>
                </c:pt>
                <c:pt idx="2">
                  <c:v>30</c:v>
                </c:pt>
                <c:pt idx="3">
                  <c:v>60</c:v>
                </c:pt>
              </c:numCache>
            </c:numRef>
          </c:val>
        </c:ser>
        <c:dLbls>
          <c:numFmt formatCode="0&quot;%&quot;" sourceLinked="0"/>
          <c:txPr>
            <a:bodyPr/>
            <a:lstStyle/>
            <a:p>
              <a:pPr>
                <a:defRPr b="1" i="0" strike="noStrike" sz="1300" u="none">
                  <a:solidFill>
                    <a:srgbClr val="1A1819"/>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1" i="0" u="none" strike="noStrike">
                <a:solidFill>
                  <a:srgbClr val="1A1819"/>
                </a:solidFill>
                <a:latin typeface="Calibri"/>
              </a:defRPr>
            </a:pPr>
            <a:endParaRPr lang="en-US"/>
          </a:p>
        </c:txPr>
        <c:crossAx val="2094734552"/>
        <c:crosses val="autoZero"/>
        <c:auto val="1"/>
        <c:lblAlgn val="ctr"/>
        <c:noMultiLvlLbl val="1"/>
      </c:catAx>
      <c:valAx>
        <c:axId val="2094734552"/>
        <c:scaling>
          <c:orientation val="minMax"/>
          <c:max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GEG 2024</c:v>
                </c:pt>
              </c:strCache>
            </c:strRef>
          </c:tx>
          <c:spPr>
            <a:solidFill>
              <a:srgbClr val="BFDCC4"/>
            </a:solidFill>
            <a:effectLst/>
          </c:spPr>
          <c:invertIfNegative val="0"/>
          <c:dLbls>
            <c:numFmt formatCode="0.0" sourceLinked="0"/>
            <c:txPr>
              <a:bodyPr/>
              <a:lstStyle/>
              <a:p>
                <a:pPr>
                  <a:defRPr b="0" i="0" strike="noStrike" sz="1000" u="none">
                    <a:solidFill>
                      <a:srgbClr val="1A181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Strom (Netz)</c:v>
                  </c:pt>
                  <c:pt idx="1">
                    <c:v>Fernwärme</c:v>
                  </c:pt>
                  <c:pt idx="2">
                    <c:v>Holz</c:v>
                  </c:pt>
                  <c:pt idx="3">
                    <c:v>Erdgas</c:v>
                  </c:pt>
                </c:lvl>
              </c:multiLvlStrCache>
            </c:multiLvlStrRef>
          </c:cat>
          <c:val>
            <c:numRef>
              <c:f>Sheet1!$B$2:$B$5</c:f>
              <c:numCache>
                <c:formatCode>General</c:formatCode>
                <c:ptCount val="4"/>
                <c:pt idx="0">
                  <c:v>1.8</c:v>
                </c:pt>
                <c:pt idx="1">
                  <c:v>1.3</c:v>
                </c:pt>
                <c:pt idx="2">
                  <c:v>0.2</c:v>
                </c:pt>
                <c:pt idx="3">
                  <c:v>1.1</c:v>
                </c:pt>
              </c:numCache>
            </c:numRef>
          </c:val>
        </c:ser>
        <c:ser>
          <c:idx val="1"/>
          <c:order val="1"/>
          <c:tx>
            <c:strRef>
              <c:f>Sheet1!$C$1</c:f>
              <c:strCache>
                <c:ptCount val="1"/>
                <c:pt idx="0">
                  <c:v>GModG</c:v>
                </c:pt>
              </c:strCache>
            </c:strRef>
          </c:tx>
          <c:spPr>
            <a:solidFill>
              <a:srgbClr val="2E7D3A"/>
            </a:solidFill>
            <a:effectLst/>
          </c:spPr>
          <c:invertIfNegative val="0"/>
          <c:dLbls>
            <c:numFmt formatCode="0.0" sourceLinked="0"/>
            <c:txPr>
              <a:bodyPr/>
              <a:lstStyle/>
              <a:p>
                <a:pPr>
                  <a:defRPr b="0" i="0" strike="noStrike" sz="1000" u="none">
                    <a:solidFill>
                      <a:srgbClr val="1A181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Strom (Netz)</c:v>
                  </c:pt>
                  <c:pt idx="1">
                    <c:v>Fernwärme</c:v>
                  </c:pt>
                  <c:pt idx="2">
                    <c:v>Holz</c:v>
                  </c:pt>
                  <c:pt idx="3">
                    <c:v>Erdgas</c:v>
                  </c:pt>
                </c:lvl>
              </c:multiLvlStrCache>
            </c:multiLvlStrRef>
          </c:cat>
          <c:val>
            <c:numRef>
              <c:f>Sheet1!$C$2:$C$5</c:f>
              <c:numCache>
                <c:formatCode>General</c:formatCode>
                <c:ptCount val="4"/>
                <c:pt idx="0">
                  <c:v>1.5</c:v>
                </c:pt>
                <c:pt idx="1">
                  <c:v>0.7</c:v>
                </c:pt>
                <c:pt idx="2">
                  <c:v>0.7</c:v>
                </c:pt>
                <c:pt idx="3">
                  <c:v>1.1</c:v>
                </c:pt>
              </c:numCache>
            </c:numRef>
          </c:val>
        </c:ser>
        <c:dLbls>
          <c:numFmt formatCode="0.0" sourceLinked="0"/>
          <c:txPr>
            <a:bodyPr/>
            <a:lstStyle/>
            <a:p>
              <a:pPr>
                <a:defRPr b="0" i="0" strike="noStrike" sz="1000" u="none">
                  <a:solidFill>
                    <a:srgbClr val="1A1819"/>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1" i="0" u="none" strike="noStrike">
                <a:solidFill>
                  <a:srgbClr val="1A1819"/>
                </a:solidFill>
                <a:latin typeface="Calibri"/>
              </a:defRPr>
            </a:pPr>
            <a:endParaRPr lang="en-US"/>
          </a:p>
        </c:txPr>
        <c:crossAx val="2094734552"/>
        <c:crosses val="autoZero"/>
        <c:auto val="1"/>
        <c:lblAlgn val="ctr"/>
        <c:noMultiLvlLbl val="1"/>
      </c:catAx>
      <c:valAx>
        <c:axId val="2094734552"/>
        <c:scaling>
          <c:orientation val="minMax"/>
          <c:max val="2.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1100">
              <a:solidFill>
                <a:srgbClr val="5B685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Begruessung. Erstes vollstaendiges Zusammenkommen nach der Sommerpause - das Frühstück am 24.07. ist urlaubsbedingt ausgefallen.
Kurz abholen: Wer war im Urlaub, wer ist neu dabei. Dann direkt zum Hauptthema ueberleiten - in meinem Urlaub ist das GModG verkuendet worden.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Erwartungsmanagement: Block 1 nimmt gut zwei Drittel der Zeit ein. Fragen zum GModG sammeln wir direkt im Block, nicht erst am Ende.
Hinweis ans Team: Die Schulungsunterlagen (38 Folien Neubau+Sanierung, 25 Folien Schornsteinfeger) liegen in Teams und koennen jederzeit nachgelesen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 Als ich in den Urlaub gefahren bin, war das Gesetz beschlossen, aber noch nicht verkuendet. Jetzt ist es verkuendet - unser Schornsteinfeger-Deck vom 03.08. traegt bereits den Vermerk 'verkuendete Fassung'.
Wichtig fuer das Team: Das ist keine Ankuendigung mehr, sondern geltendes Recht.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Ablauf war sehr schnell: erste Lesung 11.06., beschlossen 09.07.
Wichtig: Das Stufe-2-Datum haengt am Verkuendungsmonat - erster Tag des sechsten Folgemonats. Ich pruefe das exakte Datum und gebe es im Sanierungs-Chat durch.
Randnotiz falls Frage kommt: Die Deutsche Umwelthilfe hatte am 14.07. den Bundespraesidenten gebeten zu pruefen, ob § 88a das Gesetz zustimmungspflichtig macht. Das hat den Prozess nicht gestoppt.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Kurzfassung des ganzen Gesetzes auf einer Folie.
Kernbotschaft: Die Pflichten haengen jetzt am Brennstoff, nicht mehr an der Technik. Und der Schwerpunkt verschiebt sich vom Heizungstausch zur EU-Gebaeuderichtlinie - Bestandspflichten, neue Rechenregeln, Nullemission.
Punkte 3 bis 6 sind fuer uns geschaeftlich die interessanten: Da entstehen neue Leistungen.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bitte fotografieren - das ist die Orientierung fuer die naechsten Jahre.
Fuer den Alltag zaehlen vor allem die ersten beiden Spalten: Was heute schon gilt, und was zum 01.01.2027 auf uns zukommt.
Stufe 2 = erster Tag des sechsten Kalendermonats nach Verkuendung.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Folie fuer die Kundenkommunikation. Wer noch 65-%-Konzepte im Kopf hat: bitte umstellen.
Wichtiger Punkt bei 'Beratungspflicht': Die gesetzliche Pflicht entfaellt, aber wir dokumentieren unsere Empfehlung weiterhin schriftlich. Das ist Eigenschutz.
Und: 'Fossil ist erlaubt' heisst nicht 'fossil ist guenstig' - siehe uebernaechste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Zehn Optionen - das ist die zentrale Neuerung im Heizungsrecht.
Hervorgehoben sind die drei, die bei uns am haeufigsten vorkommen: Waermepumpe, Biomasse und WP-Hybrid.
Neu im Katalog ist die hocheffiziente KWK-Anlage. Und bei Biomasse: Das Merkmal 'automatisch beschickt' wurde gestrichen - Scheitholzkessel erfuellen jetzt auch §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Bio-Treppe ist das Herzstueck des neuen Heizungsrechts.
Wichtigste Botschaft fuer die Beratung: Das ist keine technische Anforderung am Kessel, sondern eine Frage des Liefervertrags. Der Kunde kauft Gas mit Biomethan-Anteil.
Die Pflicht trifft den Betreiber der Anlage (§ 43 Abs. 6), nicht zwingend den Eigentuemer - das ist bei vermieteten Objekten relevant.
Achtung bei den vier Ersatzwegen: Solarthermie und Lueftungs-WRG gelten nur bis Ende 2034.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unser Beratungsargument. Der Kunde darf fossil - aber er soll wissen, was das kostet.
Beispiel zum Durchrechnen: Kunde tauscht 2027 auf Gas-Brennwert. 2028 gehen bei Vermietung CO2 und Netzentgelte zur Haelfte auf ihn ueber. 2029 kommen 10 % Bioanteil dazu, 2030 dann 15 %, 2035 dann 30 %. Und ab 2035 faellt die Ersatzerfuellung ueber Solarthermie weg.
Wichtig: Wir dokumentieren die Empfehlung schriftlich, auch wenn die Beratungspflicht entfallen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Havarie-Faelle kommen bei uns regelmaessig rein - deshalb eine eigene Folie.
Merksatz: Irreparabler Ausfall bedeutet immer 12 Monate Karenz ab Einbau. Die drei Faelle unterscheiden sich nur darin, welche Stufe danach gilt.
Bitte im Beratungsprotokoll festhalten, wenn es ein Havarie-Fall war - das ist spaeter der Nachweis fuer die Karenz.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Dinge, die wir bei vermieteten Objekten aktiv ansprechen muessen.
Links ist fuer die Planung wichtig: Wenn wir eine Waermepumpe auslegen und der Kunde vermietet, muss die JAZ-Berechnung nach VDI 4650 VOR Inbetriebnahme vorliegen. Sonst verliert der Vermieter die Haelfte seiner Umlage. Das koennen wir mit anbieten.
Rechts: Die CO2-Kostenteilung wird ab 2028 pauschal 50/50 - das alte Stufenmodell entfaellt. Gilt auch fuer Neubauten bis Baujahr 2029.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Praktische Konsequenz fuer unsere Arbeit: Software-Update Hottgenroth einspielen, sobald das Stufe-2-Datum feststeht.
Und: Projekte mit Fertigstellung 2027 und spaeter jetzt schon vorausschauend kalkulieren - neue Normen, neue Bezugsflaeche.
Die Kundenbotschaft in der Mitte ist wichtig: Wenn ein Kunde 2027 einen neuen Ausweis bekommt und der Kennwert anders aussieht als 2025, liegt das an der Rechenmethode - nicht am Gebaeude.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Folie mit dem groessten Aha-Effekt fuer Kunden.
Der THG-Faktor Strom faellt von 560 auf 100 g. Das heisst: Im Energieausweis sieht eine Waermepumpe kuenftig dramatisch besser aus als heute.
Beim Holz aufpassen: Der Primaerenergiefaktor steigt von 0,2 auf 0,7 - Holz verliert seinen Sonderbonus. Der THG-Faktor bleibt mit 20 g aber sehr gut.
Fernwaerme ist jetzt pauschal 0,7, es sei denn der Versorger veroeffentlicht einen eigenen Wert - der hat Vorrang.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Fuer die Neubau-Kollegen: Ab 2030 ist am Standort kein fossiler Brennstoff mehr erlaubt. Punkt.
Ausnahme, falls die Frage kommt: Hallenzonen ueber 4 m Raumhoehe mit Geblaese- oder Strahlungsheizung sind ausgenommen.
Rechts der wichtige Punkt fuer unsere Planung: Die Oekobilanz nach § 88b braucht eine Fortbildung nach § 88c. Sieben Fachthemen inklusive Software und Massenermittlung. Das muessen wir 2027 angehen, damit wir 2028 liefern koennen - dazu spaeter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geschaeftlich die spannendste Folie: Erstmals gibt es eine echte Sanierungspflicht im Bestand.
Hintergrund EPBD: Bis 2030 muessen 16 %, bis 2033 insgesamt 26 % der schlechtesten Nichtwohngebaeude saniert sein.
Fuer uns heisst das: Bestandshalter und Kommunen brauchen jemanden, der ihren Bestand einordnet. Welche Gebaeude fallen unter die Pflicht, welche sind ueber die Erfuellungsfiktionen schon raus? Das ist ein Beratungsprodukt, das wir anbieten sollten.
Ausnahmen: Abriss oder Nutzungsaufgabe geplant, Baudenkmaeler, Hallen mit niedrigem Energiebedarf.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drei Paragraphen sind fuer uns bares Geld - wiederkehrende Leistungen mit gesetzlicher Frist.
Der Heizungscheck nach § 60b ist der konkreteste Hebel: Frist 30.09.2027, betrifft alle wasserbasierten Heizungen von vor Oktober 2009 in Gebaeuden ab 6 Einheiten.
Aufgabe fuers Team: Lasst uns aus unserem Bestand die Objekte filtern, die darunter fallen, und die Eigentuemer proaktiv ansprechen. Wer macht das? Bitte im Sanierungs-Chat melden.
Pruefen darf jede fachkundige Person aus Heizungs-, Kaelte-, Luftheizungs- oder Elektrotechnik.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Solarpflicht: Das Gesetz sagt 'Solarenergie' - PV oder Solarthermie, beides zulaessig. Jeder Neubau muss ausserdem 'solar-ready' konzipiert sein.
Wichtig: Laender duerfen strengere Regeln behalten oder erlassen. NRW-Regelung also weiter im Blick behalten.
Wenn die NWG-Sanierungspflicht nach § 40 greift, hat diese Vorrang vor der Solarpflicht.
GEIG: Der Punkt mit den Leerrohren ist in der Praxis der haeufigste Fehler. Bitte bei Bauherren frueh ansprechen.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ist die Referenz. Gruen hinterlegt sind die Termine, die uns in den naechsten 18 Monaten operativ betreffen.
Ich haenge das Deck nach dem Meeting in Teams. Wer will, druckt sich diese Folie aus.
Falls jemand fragt: Das genaue Stufe-2-Datum reiche ich nach, sobald ich das Verkuendungsdatum im Bundesgesetzblatt geprueft habe.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Punkt, an dem ich Beteiligung will - nicht nur Zuhoeren.
Jede dieser sechs Pflichten ist ein Auftrag, den irgendjemand erbringen muss. Wenn wir frueh dran sind, sind wir die Ersten in der Region.
Konkret offen: Wer macht die § 88c-Fortbildung fuer die Oekobilanz? Das braucht Vorlauf, wir muessen 2027 anfangen.
Ideen und Interesse bitte direkt hier oder danach im Sanierungs-Chat.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 Handlungsanweisung fuer morgen frueh.
Der wichtigste Punkt ist ganz oben: Wer noch mit 65-%-Argumentation ins Kundengespraech geht, erzaehlt geltendes Recht von gestern.
Zur BEG: Die Reform kam zum 21.07. Unsere Schulung dazu ist bereits gelaufen - die Unterlagen liegen in Teams, bitte bei Bedarf nachlesen.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 Genug Gesetz. Jetzt zu dem, was wir in den drei Wochen konkret gemacht haben - und da war trotz Sommerpause einiges 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hat das am Donnerstag im Sanierungs-Chat angesprochen und ich moechte es hier verstaerken, weil es alle betrifft, die Antraege stellen.
Wenn das Angebot bei 33.278 Euro liegt, dann sind 35.000 in der BzA bei 2 Wohneinheiten zu knapp. Wir haben keinen Nachteil durch einen hoeheren Ansatz - aber wir haben ein Problem, wenn die Kosten steigen und der Antrag zu klein ist.
Bitte als Standard uebernehmen: immer mit Puffer beantragen.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Stolz-Moment fuer das Team. Wir waren in der Sommerpause praesenter als manche im Vollbetrieb.
Der WDR-Beitrag ist der Aufhaenger fuer Social Media - Marketing hat das schon auf dem Schirm.
Danke an Chiara und Steffi fuer die Webinare, die liefen waehrend ich weg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will das nicht als Spielerei verkaufen, sondern als Werkzeug. Der Preisrechner und das Design System sind echte Arbeitserleichterungen.
Wichtig sind mir die zwei Grundregeln rechts unten: keine Kundendaten rein, und alles wird fachlich geprueft bevor es rausgeht. Das ist nicht verhandelbar.
Wer einen Zugang will: einfach ansprechen, ich richte das ein.
Zur eh-westfalen.de nur kurz - Details klaere ich separat, die Seite ist frisch.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 Zum Schluss das, was uns als Team betrifft. Und hier will ich vor allem eure Meinung hoeren, nicht meine vortragen.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bitte wirklich Zeit lassen und ins Gespraech gehen. Das ist der Beteiligungspunkt des Meetings.
Larissa hat den Entwurf am Mittwoch in die AG gegeben. Ich moechte, dass das Team ihn kennt und die Chance hat, sich einzubringen - bevor daraus etwas Verbindliches wird.
Larissa kurz das Wort geben, wenn sie mag.
Frist bis Ende August nennen, sonst passiert nichts.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und warm halten. Glueckwunsch an Dominik ruhig kurz applaudieren lassen.
Der Punkt mit den Vertretungen ist mir wichtig: Melissas Nachricht war genau richtig. Zeitraum plus konkrete Zustaendigkeiten. Das soll Standard werden.
Katrin nicht zu viel vorwegnehmen - wir sprechen erst Ende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 Zusagen, damit das Meeting Folgen hat.
Zwei Dinge brauchen heute noch einen Namen: Wer filtert die § 60b-Bestandskunden, und wer macht die Oekobilanz-Fortbildung.
Wenn sich niemand meldet, spreche ich Leute direkt an - aber freiwillig ist mir lieber.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Die fuenf Punkte noch einmal laut vorlesen - das sind die Saetze, die im Kopf bleiben sollen.
Dann Raum fuer Fragen. Alles, was ich nicht beantworten kann, notiere ich und pflege es in die Schulungsunterlagen ein.
Nicht vergessen: Die zwei offenen Zustaendigkeiten (§ 60b-Filterung, § 88c-Fortbildung) am Ende noch einmal ansprechen, falls sich noch niemand gemeldet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8595360" y="-1828800"/>
            <a:ext cx="5852160" cy="5852160"/>
          </a:xfrm>
          <a:prstGeom prst="ellipse">
            <a:avLst/>
          </a:prstGeom>
          <a:solidFill>
            <a:srgbClr val="256A30"/>
          </a:solidFill>
          <a:ln/>
        </p:spPr>
      </p:sp>
      <p:sp>
        <p:nvSpPr>
          <p:cNvPr id="3" name="Shape 1"/>
          <p:cNvSpPr/>
          <p:nvPr/>
        </p:nvSpPr>
        <p:spPr>
          <a:xfrm>
            <a:off x="10332720" y="4114800"/>
            <a:ext cx="3108960" cy="3108960"/>
          </a:xfrm>
          <a:prstGeom prst="ellipse">
            <a:avLst/>
          </a:prstGeom>
          <a:solidFill>
            <a:srgbClr val="2E7D3A"/>
          </a:solidFill>
          <a:ln/>
        </p:spPr>
      </p:sp>
      <p:sp>
        <p:nvSpPr>
          <p:cNvPr id="4" name="Text 2"/>
          <p:cNvSpPr/>
          <p:nvPr/>
        </p:nvSpPr>
        <p:spPr>
          <a:xfrm>
            <a:off x="566928" y="777240"/>
            <a:ext cx="5486400" cy="457200"/>
          </a:xfrm>
          <a:prstGeom prst="rect">
            <a:avLst/>
          </a:prstGeom>
          <a:noFill/>
          <a:ln/>
        </p:spPr>
        <p:txBody>
          <a:bodyPr wrap="square" lIns="0" tIns="0" rIns="0" bIns="0" rtlCol="0" anchor="ctr"/>
          <a:lstStyle/>
          <a:p>
            <a:pPr indent="0" marL="0">
              <a:buNone/>
            </a:pPr>
            <a:r>
              <a:rPr lang="en-US" sz="2200" b="1" spc="350" kern="0" dirty="0">
                <a:solidFill>
                  <a:srgbClr val="58B264"/>
                </a:solidFill>
                <a:latin typeface="Trebuchet MS" pitchFamily="34" charset="0"/>
                <a:ea typeface="Trebuchet MS" pitchFamily="34" charset="-122"/>
                <a:cs typeface="Trebuchet MS" pitchFamily="34" charset="-120"/>
              </a:rPr>
              <a:t>WERK.E</a:t>
            </a:r>
            <a:endParaRPr lang="en-US" sz="2200" dirty="0"/>
          </a:p>
        </p:txBody>
      </p:sp>
      <p:sp>
        <p:nvSpPr>
          <p:cNvPr id="5" name="Text 3"/>
          <p:cNvSpPr/>
          <p:nvPr/>
        </p:nvSpPr>
        <p:spPr>
          <a:xfrm>
            <a:off x="566928" y="1170432"/>
            <a:ext cx="5486400" cy="274320"/>
          </a:xfrm>
          <a:prstGeom prst="rect">
            <a:avLst/>
          </a:prstGeom>
          <a:noFill/>
          <a:ln/>
        </p:spPr>
        <p:txBody>
          <a:bodyPr wrap="square" lIns="0" tIns="0" rIns="0" bIns="0" rtlCol="0" anchor="ctr"/>
          <a:lstStyle/>
          <a:p>
            <a:pPr indent="0" marL="0">
              <a:buNone/>
            </a:pPr>
            <a:r>
              <a:rPr lang="en-US" sz="1200" spc="120" kern="0" dirty="0">
                <a:solidFill>
                  <a:srgbClr val="5B685D"/>
                </a:solidFill>
                <a:latin typeface="Calibri" pitchFamily="34" charset="0"/>
                <a:ea typeface="Calibri" pitchFamily="34" charset="-122"/>
                <a:cs typeface="Calibri" pitchFamily="34" charset="-120"/>
              </a:rPr>
              <a:t>Energie-Effizienz-Beratung</a:t>
            </a:r>
            <a:endParaRPr lang="en-US" sz="1200" dirty="0"/>
          </a:p>
        </p:txBody>
      </p:sp>
      <p:sp>
        <p:nvSpPr>
          <p:cNvPr id="6" name="Text 4"/>
          <p:cNvSpPr/>
          <p:nvPr/>
        </p:nvSpPr>
        <p:spPr>
          <a:xfrm>
            <a:off x="566928" y="2331720"/>
            <a:ext cx="7863840" cy="868680"/>
          </a:xfrm>
          <a:prstGeom prst="rect">
            <a:avLst/>
          </a:prstGeom>
          <a:noFill/>
          <a:ln/>
        </p:spPr>
        <p:txBody>
          <a:bodyPr wrap="square" lIns="0" tIns="0" rIns="0" bIns="0"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Grosses Team-Meeting</a:t>
            </a:r>
            <a:endParaRPr lang="en-US" sz="4600" dirty="0"/>
          </a:p>
        </p:txBody>
      </p:sp>
      <p:sp>
        <p:nvSpPr>
          <p:cNvPr id="7" name="Text 5"/>
          <p:cNvSpPr/>
          <p:nvPr/>
        </p:nvSpPr>
        <p:spPr>
          <a:xfrm>
            <a:off x="566928" y="3310128"/>
            <a:ext cx="7498080" cy="868680"/>
          </a:xfrm>
          <a:prstGeom prst="rect">
            <a:avLst/>
          </a:prstGeom>
          <a:noFill/>
          <a:ln/>
        </p:spPr>
        <p:txBody>
          <a:bodyPr wrap="square" lIns="0" tIns="0" rIns="0" bIns="0" rtlCol="0" anchor="t"/>
          <a:lstStyle/>
          <a:p>
            <a:pPr indent="0" marL="0">
              <a:lnSpc>
                <a:spcPts val="2600"/>
              </a:lnSpc>
              <a:buNone/>
            </a:pPr>
            <a:r>
              <a:rPr lang="en-US" sz="1700" dirty="0">
                <a:solidFill>
                  <a:srgbClr val="C9D2CA"/>
                </a:solidFill>
                <a:latin typeface="Calibri" pitchFamily="34" charset="0"/>
                <a:ea typeface="Calibri" pitchFamily="34" charset="-122"/>
                <a:cs typeface="Calibri" pitchFamily="34" charset="-120"/>
              </a:rPr>
              <a:t>Was in den letzten drei Wochen passiert ist -</a:t>
            </a:r>
            <a:endParaRPr lang="en-US" sz="1700" dirty="0"/>
          </a:p>
          <a:p>
            <a:pPr indent="0" marL="0">
              <a:lnSpc>
                <a:spcPts val="2600"/>
              </a:lnSpc>
              <a:buNone/>
            </a:pPr>
            <a:r>
              <a:rPr lang="en-US" sz="1700" dirty="0">
                <a:solidFill>
                  <a:srgbClr val="C9D2CA"/>
                </a:solidFill>
                <a:latin typeface="Calibri" pitchFamily="34" charset="0"/>
                <a:ea typeface="Calibri" pitchFamily="34" charset="-122"/>
                <a:cs typeface="Calibri" pitchFamily="34" charset="-120"/>
              </a:rPr>
              <a:t>und was jetzt vor uns liegt.</a:t>
            </a:r>
            <a:endParaRPr lang="en-US" sz="1700" dirty="0"/>
          </a:p>
        </p:txBody>
      </p:sp>
      <p:sp>
        <p:nvSpPr>
          <p:cNvPr id="8" name="Shape 6"/>
          <p:cNvSpPr/>
          <p:nvPr/>
        </p:nvSpPr>
        <p:spPr>
          <a:xfrm>
            <a:off x="566928" y="4709160"/>
            <a:ext cx="3977640" cy="566928"/>
          </a:xfrm>
          <a:prstGeom prst="roundRect">
            <a:avLst>
              <a:gd name="adj" fmla="val 50000"/>
            </a:avLst>
          </a:prstGeom>
          <a:solidFill>
            <a:srgbClr val="2E7D3A"/>
          </a:solidFill>
          <a:ln/>
        </p:spPr>
      </p:sp>
      <p:sp>
        <p:nvSpPr>
          <p:cNvPr id="9" name="Text 7"/>
          <p:cNvSpPr/>
          <p:nvPr/>
        </p:nvSpPr>
        <p:spPr>
          <a:xfrm>
            <a:off x="566928" y="4709160"/>
            <a:ext cx="3977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Freitag, 07.08.2026  ·  09:00 Uhr</a:t>
            </a:r>
            <a:endParaRPr lang="en-US" sz="1300" dirty="0"/>
          </a:p>
        </p:txBody>
      </p:sp>
      <p:sp>
        <p:nvSpPr>
          <p:cNvPr id="10" name="Text 8"/>
          <p:cNvSpPr/>
          <p:nvPr/>
        </p:nvSpPr>
        <p:spPr>
          <a:xfrm>
            <a:off x="566928" y="5532120"/>
            <a:ext cx="7863840" cy="274320"/>
          </a:xfrm>
          <a:prstGeom prst="rect">
            <a:avLst/>
          </a:prstGeom>
          <a:noFill/>
          <a:ln/>
        </p:spPr>
        <p:txBody>
          <a:bodyPr wrap="square" lIns="0" tIns="0" rIns="0" bIns="0" rtlCol="0" anchor="ctr"/>
          <a:lstStyle/>
          <a:p>
            <a:pPr indent="0" marL="0">
              <a:buNone/>
            </a:pPr>
            <a:r>
              <a:rPr lang="en-US" sz="1100" dirty="0">
                <a:solidFill>
                  <a:srgbClr val="5B685D"/>
                </a:solidFill>
                <a:latin typeface="Calibri" pitchFamily="34" charset="0"/>
                <a:ea typeface="Calibri" pitchFamily="34" charset="-122"/>
                <a:cs typeface="Calibri" pitchFamily="34" charset="-120"/>
              </a:rPr>
              <a:t>Rolandsweg 80, Paderborn  ·  Berichtszeitraum 16.07. - 06.08.2026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Worüber wir heute sprechen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Drei Blöcke. Der erste ist der wichtigste.</a:t>
            </a:r>
            <a:endParaRPr lang="en-US" sz="1400" dirty="0"/>
          </a:p>
        </p:txBody>
      </p:sp>
      <p:sp>
        <p:nvSpPr>
          <p:cNvPr id="5" name="Shape 3"/>
          <p:cNvSpPr/>
          <p:nvPr/>
        </p:nvSpPr>
        <p:spPr>
          <a:xfrm>
            <a:off x="566928" y="1874520"/>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96112" y="2258568"/>
            <a:ext cx="530352" cy="530352"/>
          </a:xfrm>
          <a:prstGeom prst="ellipse">
            <a:avLst/>
          </a:prstGeom>
          <a:solidFill>
            <a:srgbClr val="2E7D3A"/>
          </a:solidFill>
          <a:ln/>
        </p:spPr>
      </p:sp>
      <p:sp>
        <p:nvSpPr>
          <p:cNvPr id="7" name="Text 5"/>
          <p:cNvSpPr/>
          <p:nvPr/>
        </p:nvSpPr>
        <p:spPr>
          <a:xfrm>
            <a:off x="896112" y="2258568"/>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8" name="Text 6"/>
          <p:cNvSpPr/>
          <p:nvPr/>
        </p:nvSpPr>
        <p:spPr>
          <a:xfrm>
            <a:off x="1645920" y="2130552"/>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Das GModG ist da</a:t>
            </a:r>
            <a:endParaRPr lang="en-US" sz="2100" dirty="0"/>
          </a:p>
        </p:txBody>
      </p:sp>
      <p:sp>
        <p:nvSpPr>
          <p:cNvPr id="9" name="Text 7"/>
          <p:cNvSpPr/>
          <p:nvPr/>
        </p:nvSpPr>
        <p:spPr>
          <a:xfrm>
            <a:off x="1645920" y="2514600"/>
            <a:ext cx="58521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Was das neue Gebäudemodernisierungs-</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gesetz ändert - und ab wann</a:t>
            </a:r>
            <a:endParaRPr lang="en-US" sz="1250" dirty="0"/>
          </a:p>
        </p:txBody>
      </p:sp>
      <p:sp>
        <p:nvSpPr>
          <p:cNvPr id="10" name="Shape 8"/>
          <p:cNvSpPr/>
          <p:nvPr/>
        </p:nvSpPr>
        <p:spPr>
          <a:xfrm>
            <a:off x="566928" y="3355848"/>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896112" y="3739896"/>
            <a:ext cx="530352" cy="530352"/>
          </a:xfrm>
          <a:prstGeom prst="ellipse">
            <a:avLst/>
          </a:prstGeom>
          <a:solidFill>
            <a:srgbClr val="58B264"/>
          </a:solidFill>
          <a:ln/>
        </p:spPr>
      </p:sp>
      <p:sp>
        <p:nvSpPr>
          <p:cNvPr id="12" name="Text 10"/>
          <p:cNvSpPr/>
          <p:nvPr/>
        </p:nvSpPr>
        <p:spPr>
          <a:xfrm>
            <a:off x="896112" y="3739896"/>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1645920" y="3611880"/>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Praxis &amp; Außenwirkung</a:t>
            </a:r>
            <a:endParaRPr lang="en-US" sz="2100" dirty="0"/>
          </a:p>
        </p:txBody>
      </p:sp>
      <p:sp>
        <p:nvSpPr>
          <p:cNvPr id="14" name="Text 12"/>
          <p:cNvSpPr/>
          <p:nvPr/>
        </p:nvSpPr>
        <p:spPr>
          <a:xfrm>
            <a:off x="1645920" y="3995928"/>
            <a:ext cx="58521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Förderanträge, unsere Schulungen,</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Presse und neue Werkzeuge</a:t>
            </a:r>
            <a:endParaRPr lang="en-US" sz="1250" dirty="0"/>
          </a:p>
        </p:txBody>
      </p:sp>
      <p:sp>
        <p:nvSpPr>
          <p:cNvPr id="15" name="Shape 13"/>
          <p:cNvSpPr/>
          <p:nvPr/>
        </p:nvSpPr>
        <p:spPr>
          <a:xfrm>
            <a:off x="566928" y="4837176"/>
            <a:ext cx="11055096" cy="1298448"/>
          </a:xfrm>
          <a:prstGeom prst="roundRect">
            <a:avLst>
              <a:gd name="adj" fmla="val 6338"/>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96112" y="5221224"/>
            <a:ext cx="530352" cy="530352"/>
          </a:xfrm>
          <a:prstGeom prst="ellipse">
            <a:avLst/>
          </a:prstGeom>
          <a:solidFill>
            <a:srgbClr val="5B685D"/>
          </a:solidFill>
          <a:ln/>
        </p:spPr>
      </p:sp>
      <p:sp>
        <p:nvSpPr>
          <p:cNvPr id="17" name="Text 15"/>
          <p:cNvSpPr/>
          <p:nvPr/>
        </p:nvSpPr>
        <p:spPr>
          <a:xfrm>
            <a:off x="896112" y="522122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8" name="Text 16"/>
          <p:cNvSpPr/>
          <p:nvPr/>
        </p:nvSpPr>
        <p:spPr>
          <a:xfrm>
            <a:off x="1645920" y="5093208"/>
            <a:ext cx="4754880" cy="384048"/>
          </a:xfrm>
          <a:prstGeom prst="rect">
            <a:avLst/>
          </a:prstGeom>
          <a:noFill/>
          <a:ln/>
        </p:spPr>
        <p:txBody>
          <a:bodyPr wrap="square" lIns="0" tIns="0" rIns="0" bIns="0" rtlCol="0" anchor="ctr"/>
          <a:lstStyle/>
          <a:p>
            <a:pPr indent="0" marL="0">
              <a:buNone/>
            </a:pPr>
            <a:r>
              <a:rPr lang="en-US" sz="2100" b="1" dirty="0">
                <a:solidFill>
                  <a:srgbClr val="1A1819"/>
                </a:solidFill>
                <a:latin typeface="Trebuchet MS" pitchFamily="34" charset="0"/>
                <a:ea typeface="Trebuchet MS" pitchFamily="34" charset="-122"/>
                <a:cs typeface="Trebuchet MS" pitchFamily="34" charset="-120"/>
              </a:rPr>
              <a:t>Team &amp; Kultur</a:t>
            </a:r>
            <a:endParaRPr lang="en-US" sz="2100" dirty="0"/>
          </a:p>
        </p:txBody>
      </p:sp>
      <p:sp>
        <p:nvSpPr>
          <p:cNvPr id="19" name="Text 17"/>
          <p:cNvSpPr/>
          <p:nvPr/>
        </p:nvSpPr>
        <p:spPr>
          <a:xfrm>
            <a:off x="1645920" y="5477256"/>
            <a:ext cx="5852160" cy="512064"/>
          </a:xfrm>
          <a:prstGeom prst="rect">
            <a:avLst/>
          </a:prstGeom>
          <a:noFill/>
          <a:ln/>
        </p:spPr>
        <p:txBody>
          <a:bodyPr wrap="square" lIns="0" tIns="0" rIns="0" bIns="0" rtlCol="0" anchor="t"/>
          <a:lstStyle/>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Code of Conduct, Personelles,</a:t>
            </a:r>
            <a:endParaRPr lang="en-US" sz="1250" dirty="0"/>
          </a:p>
          <a:p>
            <a:pPr indent="0" marL="0">
              <a:lnSpc>
                <a:spcPts val="1600"/>
              </a:lnSpc>
              <a:buNone/>
            </a:pPr>
            <a:r>
              <a:rPr lang="en-US" sz="1250" dirty="0">
                <a:solidFill>
                  <a:srgbClr val="5B685D"/>
                </a:solidFill>
                <a:latin typeface="Calibri" pitchFamily="34" charset="0"/>
                <a:ea typeface="Calibri" pitchFamily="34" charset="-122"/>
                <a:cs typeface="Calibri" pitchFamily="34" charset="-120"/>
              </a:rPr>
              <a:t>Termine bis September</a:t>
            </a:r>
            <a:endParaRPr lang="en-US" sz="1250" dirty="0"/>
          </a:p>
        </p:txBody>
      </p:sp>
      <p:sp>
        <p:nvSpPr>
          <p:cNvPr id="20" name="Text 18"/>
          <p:cNvSpPr/>
          <p:nvPr/>
        </p:nvSpPr>
        <p:spPr>
          <a:xfrm>
            <a:off x="9793224" y="1874520"/>
            <a:ext cx="1645920" cy="365760"/>
          </a:xfrm>
          <a:prstGeom prst="rect">
            <a:avLst/>
          </a:prstGeom>
          <a:noFill/>
          <a:ln/>
        </p:spPr>
        <p:txBody>
          <a:bodyPr wrap="square" lIns="0" tIns="0" rIns="0" bIns="0" rtlCol="0" anchor="ctr"/>
          <a:lstStyle/>
          <a:p>
            <a:pPr algn="r" indent="0" marL="0">
              <a:buNone/>
            </a:pPr>
            <a:r>
              <a:rPr lang="en-US" sz="1200" b="1" dirty="0">
                <a:solidFill>
                  <a:srgbClr val="2E7D3A"/>
                </a:solidFill>
                <a:latin typeface="Calibri" pitchFamily="34" charset="0"/>
                <a:ea typeface="Calibri" pitchFamily="34" charset="-122"/>
                <a:cs typeface="Calibri" pitchFamily="34" charset="-120"/>
              </a:rPr>
              <a:t>~ 60 Min.</a:t>
            </a:r>
            <a:endParaRPr lang="en-US" sz="1200" dirty="0"/>
          </a:p>
        </p:txBody>
      </p:sp>
      <p:sp>
        <p:nvSpPr>
          <p:cNvPr id="22" name="Text 19"/>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WERK.E · Team-Meeting 07.08.2026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9354312" y="-1371600"/>
            <a:ext cx="4572000" cy="4572000"/>
          </a:xfrm>
          <a:prstGeom prst="ellipse">
            <a:avLst/>
          </a:prstGeom>
          <a:solidFill>
            <a:srgbClr val="256A30"/>
          </a:solidFill>
          <a:ln/>
        </p:spPr>
      </p:sp>
      <p:sp>
        <p:nvSpPr>
          <p:cNvPr id="3" name="Shape 1"/>
          <p:cNvSpPr/>
          <p:nvPr/>
        </p:nvSpPr>
        <p:spPr>
          <a:xfrm>
            <a:off x="10725912" y="3566160"/>
            <a:ext cx="2377440" cy="2377440"/>
          </a:xfrm>
          <a:prstGeom prst="ellipse">
            <a:avLst/>
          </a:prstGeom>
          <a:solidFill>
            <a:srgbClr val="2E7D3A"/>
          </a:solidFill>
          <a:ln/>
        </p:spPr>
      </p:sp>
      <p:sp>
        <p:nvSpPr>
          <p:cNvPr id="4" name="Text 2"/>
          <p:cNvSpPr/>
          <p:nvPr/>
        </p:nvSpPr>
        <p:spPr>
          <a:xfrm>
            <a:off x="566928" y="1417320"/>
            <a:ext cx="2011680" cy="1371600"/>
          </a:xfrm>
          <a:prstGeom prst="rect">
            <a:avLst/>
          </a:prstGeom>
          <a:noFill/>
          <a:ln/>
        </p:spPr>
        <p:txBody>
          <a:bodyPr wrap="square" lIns="0" tIns="0" rIns="0" bIns="0" rtlCol="0" anchor="ctr"/>
          <a:lstStyle/>
          <a:p>
            <a:pPr indent="0" marL="0">
              <a:buNone/>
            </a:pPr>
            <a:r>
              <a:rPr lang="en-US" sz="8400" b="1" dirty="0">
                <a:solidFill>
                  <a:srgbClr val="58B264"/>
                </a:solidFill>
                <a:latin typeface="Trebuchet MS" pitchFamily="34" charset="0"/>
                <a:ea typeface="Trebuchet MS" pitchFamily="34" charset="-122"/>
                <a:cs typeface="Trebuchet MS" pitchFamily="34" charset="-120"/>
              </a:rPr>
              <a:t>01</a:t>
            </a:r>
            <a:endParaRPr lang="en-US" sz="8400" dirty="0"/>
          </a:p>
        </p:txBody>
      </p:sp>
      <p:sp>
        <p:nvSpPr>
          <p:cNvPr id="5" name="Text 3"/>
          <p:cNvSpPr/>
          <p:nvPr/>
        </p:nvSpPr>
        <p:spPr>
          <a:xfrm>
            <a:off x="566928" y="2788920"/>
            <a:ext cx="7498080" cy="274320"/>
          </a:xfrm>
          <a:prstGeom prst="rect">
            <a:avLst/>
          </a:prstGeom>
          <a:noFill/>
          <a:ln/>
        </p:spPr>
        <p:txBody>
          <a:bodyPr wrap="square" lIns="0" tIns="0" rIns="0" bIns="0" rtlCol="0" anchor="ctr"/>
          <a:lstStyle/>
          <a:p>
            <a:pPr indent="0" marL="0">
              <a:buNone/>
            </a:pPr>
            <a:r>
              <a:rPr lang="en-US" sz="1100" b="1" spc="180" kern="0" dirty="0">
                <a:solidFill>
                  <a:srgbClr val="BFDCC4"/>
                </a:solidFill>
                <a:latin typeface="Calibri" pitchFamily="34" charset="0"/>
                <a:ea typeface="Calibri" pitchFamily="34" charset="-122"/>
                <a:cs typeface="Calibri" pitchFamily="34" charset="-120"/>
              </a:rPr>
              <a:t>KAPITEL 1 · GESETZESLAGE</a:t>
            </a:r>
            <a:endParaRPr lang="en-US" sz="1100" dirty="0"/>
          </a:p>
        </p:txBody>
      </p:sp>
      <p:sp>
        <p:nvSpPr>
          <p:cNvPr id="6" name="Text 4"/>
          <p:cNvSpPr/>
          <p:nvPr/>
        </p:nvSpPr>
        <p:spPr>
          <a:xfrm>
            <a:off x="566928" y="3072384"/>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Das GModG ist da.</a:t>
            </a:r>
            <a:endParaRPr lang="en-US" sz="3800" dirty="0"/>
          </a:p>
        </p:txBody>
      </p:sp>
      <p:sp>
        <p:nvSpPr>
          <p:cNvPr id="7" name="Text 5"/>
          <p:cNvSpPr/>
          <p:nvPr/>
        </p:nvSpPr>
        <p:spPr>
          <a:xfrm>
            <a:off x="612648" y="4114800"/>
            <a:ext cx="731520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Beschlossen von Bundestag und Bundesrat am 09.07.2026</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In unserer Sommerpause im Bundesgesetzblatt verkündet</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Die 65-%-Pflicht ist Geschichte - dafür kommt sehr viel Neues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WO STEHEN WIR</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Vom Entwurf zum geltenden Recht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Basis: BT-Drucksache 21/7009 vom 08.07.2026 · 176 Seiten, vollständig ausgewertet</a:t>
            </a:r>
            <a:endParaRPr lang="en-US" sz="1400" dirty="0"/>
          </a:p>
        </p:txBody>
      </p:sp>
      <p:sp>
        <p:nvSpPr>
          <p:cNvPr id="5" name="Shape 3"/>
          <p:cNvSpPr/>
          <p:nvPr/>
        </p:nvSpPr>
        <p:spPr>
          <a:xfrm>
            <a:off x="1609344" y="2395728"/>
            <a:ext cx="8970264" cy="32004"/>
          </a:xfrm>
          <a:prstGeom prst="rect">
            <a:avLst/>
          </a:prstGeom>
          <a:solidFill>
            <a:srgbClr val="D5DDD6"/>
          </a:solidFill>
          <a:ln/>
        </p:spPr>
      </p:sp>
      <p:sp>
        <p:nvSpPr>
          <p:cNvPr id="6" name="Shape 4"/>
          <p:cNvSpPr/>
          <p:nvPr/>
        </p:nvSpPr>
        <p:spPr>
          <a:xfrm>
            <a:off x="1472184" y="2276856"/>
            <a:ext cx="274320" cy="274320"/>
          </a:xfrm>
          <a:prstGeom prst="ellipse">
            <a:avLst/>
          </a:prstGeom>
          <a:solidFill>
            <a:srgbClr val="BFDCC4"/>
          </a:solidFill>
          <a:ln w="31750">
            <a:solidFill>
              <a:srgbClr val="FFFFFF"/>
            </a:solidFill>
            <a:prstDash val="solid"/>
          </a:ln>
        </p:spPr>
      </p:sp>
      <p:sp>
        <p:nvSpPr>
          <p:cNvPr id="7" name="Text 5"/>
          <p:cNvSpPr/>
          <p:nvPr/>
        </p:nvSpPr>
        <p:spPr>
          <a:xfrm>
            <a:off x="566928" y="1847088"/>
            <a:ext cx="2084832" cy="310896"/>
          </a:xfrm>
          <a:prstGeom prst="rect">
            <a:avLst/>
          </a:prstGeom>
          <a:noFill/>
          <a:ln/>
        </p:spPr>
        <p:txBody>
          <a:bodyPr wrap="square" lIns="0" tIns="0" rIns="0" bIns="0" rtlCol="0" anchor="ctr"/>
          <a:lstStyle/>
          <a:p>
            <a:pPr algn="ctr" indent="0" marL="0">
              <a:buNone/>
            </a:pPr>
            <a:r>
              <a:rPr lang="en-US" sz="1600" b="1" dirty="0">
                <a:solidFill>
                  <a:srgbClr val="1A1819"/>
                </a:solidFill>
                <a:latin typeface="Trebuchet MS" pitchFamily="34" charset="0"/>
                <a:ea typeface="Trebuchet MS" pitchFamily="34" charset="-122"/>
                <a:cs typeface="Trebuchet MS" pitchFamily="34" charset="-120"/>
              </a:rPr>
              <a:t>11.06.</a:t>
            </a:r>
            <a:endParaRPr lang="en-US" sz="1600" dirty="0"/>
          </a:p>
        </p:txBody>
      </p:sp>
      <p:sp>
        <p:nvSpPr>
          <p:cNvPr id="8" name="Text 6"/>
          <p:cNvSpPr/>
          <p:nvPr/>
        </p:nvSpPr>
        <p:spPr>
          <a:xfrm>
            <a:off x="566928" y="2670048"/>
            <a:ext cx="2084832" cy="658368"/>
          </a:xfrm>
          <a:prstGeom prst="rect">
            <a:avLst/>
          </a:prstGeom>
          <a:noFill/>
          <a:ln/>
        </p:spPr>
        <p:txBody>
          <a:bodyPr wrap="square" lIns="0" tIns="0" rIns="0" bIns="0" rtlCol="0" anchor="t"/>
          <a:lstStyle/>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1. Lesung</a:t>
            </a:r>
            <a:endParaRPr lang="en-US" sz="1150" dirty="0"/>
          </a:p>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Bundestag</a:t>
            </a:r>
            <a:endParaRPr lang="en-US" sz="1150" dirty="0"/>
          </a:p>
        </p:txBody>
      </p:sp>
      <p:sp>
        <p:nvSpPr>
          <p:cNvPr id="9" name="Shape 7"/>
          <p:cNvSpPr/>
          <p:nvPr/>
        </p:nvSpPr>
        <p:spPr>
          <a:xfrm>
            <a:off x="3714750" y="2276856"/>
            <a:ext cx="274320" cy="274320"/>
          </a:xfrm>
          <a:prstGeom prst="ellipse">
            <a:avLst/>
          </a:prstGeom>
          <a:solidFill>
            <a:srgbClr val="BFDCC4"/>
          </a:solidFill>
          <a:ln w="31750">
            <a:solidFill>
              <a:srgbClr val="FFFFFF"/>
            </a:solidFill>
            <a:prstDash val="solid"/>
          </a:ln>
        </p:spPr>
      </p:sp>
      <p:sp>
        <p:nvSpPr>
          <p:cNvPr id="10" name="Text 8"/>
          <p:cNvSpPr/>
          <p:nvPr/>
        </p:nvSpPr>
        <p:spPr>
          <a:xfrm>
            <a:off x="2809494" y="1847088"/>
            <a:ext cx="2084832" cy="310896"/>
          </a:xfrm>
          <a:prstGeom prst="rect">
            <a:avLst/>
          </a:prstGeom>
          <a:noFill/>
          <a:ln/>
        </p:spPr>
        <p:txBody>
          <a:bodyPr wrap="square" lIns="0" tIns="0" rIns="0" bIns="0" rtlCol="0" anchor="ctr"/>
          <a:lstStyle/>
          <a:p>
            <a:pPr algn="ctr" indent="0" marL="0">
              <a:buNone/>
            </a:pPr>
            <a:r>
              <a:rPr lang="en-US" sz="1600" b="1" dirty="0">
                <a:solidFill>
                  <a:srgbClr val="1A1819"/>
                </a:solidFill>
                <a:latin typeface="Trebuchet MS" pitchFamily="34" charset="0"/>
                <a:ea typeface="Trebuchet MS" pitchFamily="34" charset="-122"/>
                <a:cs typeface="Trebuchet MS" pitchFamily="34" charset="-120"/>
              </a:rPr>
              <a:t>22.06.</a:t>
            </a:r>
            <a:endParaRPr lang="en-US" sz="1600" dirty="0"/>
          </a:p>
        </p:txBody>
      </p:sp>
      <p:sp>
        <p:nvSpPr>
          <p:cNvPr id="11" name="Text 9"/>
          <p:cNvSpPr/>
          <p:nvPr/>
        </p:nvSpPr>
        <p:spPr>
          <a:xfrm>
            <a:off x="2809494" y="2670048"/>
            <a:ext cx="2084832" cy="658368"/>
          </a:xfrm>
          <a:prstGeom prst="rect">
            <a:avLst/>
          </a:prstGeom>
          <a:noFill/>
          <a:ln/>
        </p:spPr>
        <p:txBody>
          <a:bodyPr wrap="square" lIns="0" tIns="0" rIns="0" bIns="0" rtlCol="0" anchor="t"/>
          <a:lstStyle/>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Anhörung</a:t>
            </a:r>
            <a:endParaRPr lang="en-US" sz="1150" dirty="0"/>
          </a:p>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(viel Kritik)</a:t>
            </a:r>
            <a:endParaRPr lang="en-US" sz="1150" dirty="0"/>
          </a:p>
        </p:txBody>
      </p:sp>
      <p:sp>
        <p:nvSpPr>
          <p:cNvPr id="12" name="Shape 10"/>
          <p:cNvSpPr/>
          <p:nvPr/>
        </p:nvSpPr>
        <p:spPr>
          <a:xfrm>
            <a:off x="5957316" y="2276856"/>
            <a:ext cx="274320" cy="274320"/>
          </a:xfrm>
          <a:prstGeom prst="ellipse">
            <a:avLst/>
          </a:prstGeom>
          <a:solidFill>
            <a:srgbClr val="BFDCC4"/>
          </a:solidFill>
          <a:ln w="31750">
            <a:solidFill>
              <a:srgbClr val="FFFFFF"/>
            </a:solidFill>
            <a:prstDash val="solid"/>
          </a:ln>
        </p:spPr>
      </p:sp>
      <p:sp>
        <p:nvSpPr>
          <p:cNvPr id="13" name="Text 11"/>
          <p:cNvSpPr/>
          <p:nvPr/>
        </p:nvSpPr>
        <p:spPr>
          <a:xfrm>
            <a:off x="5052060" y="1847088"/>
            <a:ext cx="2084832" cy="310896"/>
          </a:xfrm>
          <a:prstGeom prst="rect">
            <a:avLst/>
          </a:prstGeom>
          <a:noFill/>
          <a:ln/>
        </p:spPr>
        <p:txBody>
          <a:bodyPr wrap="square" lIns="0" tIns="0" rIns="0" bIns="0" rtlCol="0" anchor="ctr"/>
          <a:lstStyle/>
          <a:p>
            <a:pPr algn="ctr" indent="0" marL="0">
              <a:buNone/>
            </a:pPr>
            <a:r>
              <a:rPr lang="en-US" sz="1600" b="1" dirty="0">
                <a:solidFill>
                  <a:srgbClr val="1A1819"/>
                </a:solidFill>
                <a:latin typeface="Trebuchet MS" pitchFamily="34" charset="0"/>
                <a:ea typeface="Trebuchet MS" pitchFamily="34" charset="-122"/>
                <a:cs typeface="Trebuchet MS" pitchFamily="34" charset="-120"/>
              </a:rPr>
              <a:t>08.07.</a:t>
            </a:r>
            <a:endParaRPr lang="en-US" sz="1600" dirty="0"/>
          </a:p>
        </p:txBody>
      </p:sp>
      <p:sp>
        <p:nvSpPr>
          <p:cNvPr id="14" name="Text 12"/>
          <p:cNvSpPr/>
          <p:nvPr/>
        </p:nvSpPr>
        <p:spPr>
          <a:xfrm>
            <a:off x="5052060" y="2670048"/>
            <a:ext cx="2084832" cy="658368"/>
          </a:xfrm>
          <a:prstGeom prst="rect">
            <a:avLst/>
          </a:prstGeom>
          <a:noFill/>
          <a:ln/>
        </p:spPr>
        <p:txBody>
          <a:bodyPr wrap="square" lIns="0" tIns="0" rIns="0" bIns="0" rtlCol="0" anchor="t"/>
          <a:lstStyle/>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Ausschuss</a:t>
            </a:r>
            <a:endParaRPr lang="en-US" sz="1150" dirty="0"/>
          </a:p>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Drs. 21/7009</a:t>
            </a:r>
            <a:endParaRPr lang="en-US" sz="1150" dirty="0"/>
          </a:p>
        </p:txBody>
      </p:sp>
      <p:sp>
        <p:nvSpPr>
          <p:cNvPr id="15" name="Shape 13"/>
          <p:cNvSpPr/>
          <p:nvPr/>
        </p:nvSpPr>
        <p:spPr>
          <a:xfrm>
            <a:off x="8199882" y="2276856"/>
            <a:ext cx="274320" cy="274320"/>
          </a:xfrm>
          <a:prstGeom prst="ellipse">
            <a:avLst/>
          </a:prstGeom>
          <a:solidFill>
            <a:srgbClr val="BFDCC4"/>
          </a:solidFill>
          <a:ln w="31750">
            <a:solidFill>
              <a:srgbClr val="FFFFFF"/>
            </a:solidFill>
            <a:prstDash val="solid"/>
          </a:ln>
        </p:spPr>
      </p:sp>
      <p:sp>
        <p:nvSpPr>
          <p:cNvPr id="16" name="Text 14"/>
          <p:cNvSpPr/>
          <p:nvPr/>
        </p:nvSpPr>
        <p:spPr>
          <a:xfrm>
            <a:off x="7294626" y="1847088"/>
            <a:ext cx="2084832" cy="310896"/>
          </a:xfrm>
          <a:prstGeom prst="rect">
            <a:avLst/>
          </a:prstGeom>
          <a:noFill/>
          <a:ln/>
        </p:spPr>
        <p:txBody>
          <a:bodyPr wrap="square" lIns="0" tIns="0" rIns="0" bIns="0" rtlCol="0" anchor="ctr"/>
          <a:lstStyle/>
          <a:p>
            <a:pPr algn="ctr" indent="0" marL="0">
              <a:buNone/>
            </a:pPr>
            <a:r>
              <a:rPr lang="en-US" sz="1600" b="1" dirty="0">
                <a:solidFill>
                  <a:srgbClr val="1A1819"/>
                </a:solidFill>
                <a:latin typeface="Trebuchet MS" pitchFamily="34" charset="0"/>
                <a:ea typeface="Trebuchet MS" pitchFamily="34" charset="-122"/>
                <a:cs typeface="Trebuchet MS" pitchFamily="34" charset="-120"/>
              </a:rPr>
              <a:t>09.07.</a:t>
            </a:r>
            <a:endParaRPr lang="en-US" sz="1600" dirty="0"/>
          </a:p>
        </p:txBody>
      </p:sp>
      <p:sp>
        <p:nvSpPr>
          <p:cNvPr id="17" name="Text 15"/>
          <p:cNvSpPr/>
          <p:nvPr/>
        </p:nvSpPr>
        <p:spPr>
          <a:xfrm>
            <a:off x="7294626" y="2670048"/>
            <a:ext cx="2084832" cy="658368"/>
          </a:xfrm>
          <a:prstGeom prst="rect">
            <a:avLst/>
          </a:prstGeom>
          <a:noFill/>
          <a:ln/>
        </p:spPr>
        <p:txBody>
          <a:bodyPr wrap="square" lIns="0" tIns="0" rIns="0" bIns="0" rtlCol="0" anchor="t"/>
          <a:lstStyle/>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Bundestag +</a:t>
            </a:r>
            <a:endParaRPr lang="en-US" sz="1150" dirty="0"/>
          </a:p>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Bundesrat: Ja</a:t>
            </a:r>
            <a:endParaRPr lang="en-US" sz="1150" dirty="0"/>
          </a:p>
        </p:txBody>
      </p:sp>
      <p:sp>
        <p:nvSpPr>
          <p:cNvPr id="18" name="Shape 16"/>
          <p:cNvSpPr/>
          <p:nvPr/>
        </p:nvSpPr>
        <p:spPr>
          <a:xfrm>
            <a:off x="10442448" y="2276856"/>
            <a:ext cx="274320" cy="274320"/>
          </a:xfrm>
          <a:prstGeom prst="ellipse">
            <a:avLst/>
          </a:prstGeom>
          <a:solidFill>
            <a:srgbClr val="2E7D3A"/>
          </a:solidFill>
          <a:ln w="31750">
            <a:solidFill>
              <a:srgbClr val="FFFFFF"/>
            </a:solidFill>
            <a:prstDash val="solid"/>
          </a:ln>
        </p:spPr>
      </p:sp>
      <p:sp>
        <p:nvSpPr>
          <p:cNvPr id="19" name="Text 17"/>
          <p:cNvSpPr/>
          <p:nvPr/>
        </p:nvSpPr>
        <p:spPr>
          <a:xfrm>
            <a:off x="9537192" y="1847088"/>
            <a:ext cx="2084832" cy="310896"/>
          </a:xfrm>
          <a:prstGeom prst="rect">
            <a:avLst/>
          </a:prstGeom>
          <a:noFill/>
          <a:ln/>
        </p:spPr>
        <p:txBody>
          <a:bodyPr wrap="square" lIns="0" tIns="0" rIns="0" bIns="0" rtlCol="0" anchor="ctr"/>
          <a:lstStyle/>
          <a:p>
            <a:pPr algn="ctr" indent="0" marL="0">
              <a:buNone/>
            </a:pPr>
            <a:r>
              <a:rPr lang="en-US" sz="1600" b="1" dirty="0">
                <a:solidFill>
                  <a:srgbClr val="2E7D3A"/>
                </a:solidFill>
                <a:latin typeface="Trebuchet MS" pitchFamily="34" charset="0"/>
                <a:ea typeface="Trebuchet MS" pitchFamily="34" charset="-122"/>
                <a:cs typeface="Trebuchet MS" pitchFamily="34" charset="-120"/>
              </a:rPr>
              <a:t>Juli 26</a:t>
            </a:r>
            <a:endParaRPr lang="en-US" sz="1600" dirty="0"/>
          </a:p>
        </p:txBody>
      </p:sp>
      <p:sp>
        <p:nvSpPr>
          <p:cNvPr id="20" name="Text 18"/>
          <p:cNvSpPr/>
          <p:nvPr/>
        </p:nvSpPr>
        <p:spPr>
          <a:xfrm>
            <a:off x="9537192" y="2670048"/>
            <a:ext cx="2084832" cy="658368"/>
          </a:xfrm>
          <a:prstGeom prst="rect">
            <a:avLst/>
          </a:prstGeom>
          <a:noFill/>
          <a:ln/>
        </p:spPr>
        <p:txBody>
          <a:bodyPr wrap="square" lIns="0" tIns="0" rIns="0" bIns="0" rtlCol="0" anchor="t"/>
          <a:lstStyle/>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Verkündung im</a:t>
            </a:r>
            <a:endParaRPr lang="en-US" sz="1150" dirty="0"/>
          </a:p>
          <a:p>
            <a:pPr algn="ctr" indent="0" marL="0">
              <a:lnSpc>
                <a:spcPts val="1500"/>
              </a:lnSpc>
              <a:buNone/>
            </a:pPr>
            <a:r>
              <a:rPr lang="en-US" sz="1150" dirty="0">
                <a:solidFill>
                  <a:srgbClr val="5B685D"/>
                </a:solidFill>
                <a:latin typeface="Calibri" pitchFamily="34" charset="0"/>
                <a:ea typeface="Calibri" pitchFamily="34" charset="-122"/>
                <a:cs typeface="Calibri" pitchFamily="34" charset="-120"/>
              </a:rPr>
              <a:t>Bundesgesetzblatt</a:t>
            </a:r>
            <a:endParaRPr lang="en-US" sz="1150" dirty="0"/>
          </a:p>
        </p:txBody>
      </p:sp>
      <p:sp>
        <p:nvSpPr>
          <p:cNvPr id="21" name="Shape 19"/>
          <p:cNvSpPr/>
          <p:nvPr/>
        </p:nvSpPr>
        <p:spPr>
          <a:xfrm>
            <a:off x="566928" y="3675888"/>
            <a:ext cx="5361722" cy="1463040"/>
          </a:xfrm>
          <a:prstGeom prst="roundRect">
            <a:avLst>
              <a:gd name="adj" fmla="val 5625"/>
            </a:avLst>
          </a:prstGeom>
          <a:solidFill>
            <a:srgbClr val="EDF5EE"/>
          </a:solidFill>
          <a:ln/>
        </p:spPr>
      </p:sp>
      <p:sp>
        <p:nvSpPr>
          <p:cNvPr id="22" name="Text 20"/>
          <p:cNvSpPr/>
          <p:nvPr/>
        </p:nvSpPr>
        <p:spPr>
          <a:xfrm>
            <a:off x="822960" y="3840480"/>
            <a:ext cx="4849658" cy="29260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Was jetzt sofort gilt</a:t>
            </a:r>
            <a:endParaRPr lang="en-US" sz="1500" dirty="0"/>
          </a:p>
        </p:txBody>
      </p:sp>
      <p:sp>
        <p:nvSpPr>
          <p:cNvPr id="23" name="Text 21"/>
          <p:cNvSpPr/>
          <p:nvPr/>
        </p:nvSpPr>
        <p:spPr>
          <a:xfrm>
            <a:off x="868680" y="4169664"/>
            <a:ext cx="4758218" cy="8686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65-%-EE-Pflicht und Betriebsverbote gestrichen</a:t>
            </a:r>
            <a:endParaRPr lang="en-US" sz="1200" dirty="0"/>
          </a:p>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Neues Heizungsrecht §§ 42 bis 46 in Kraft</a:t>
            </a:r>
            <a:endParaRPr lang="en-US" sz="1200" dirty="0"/>
          </a:p>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Havarie-Regeln und neues Mietrecht greifen</a:t>
            </a:r>
            <a:endParaRPr lang="en-US" sz="1200" dirty="0"/>
          </a:p>
        </p:txBody>
      </p:sp>
      <p:sp>
        <p:nvSpPr>
          <p:cNvPr id="24" name="Shape 22"/>
          <p:cNvSpPr/>
          <p:nvPr/>
        </p:nvSpPr>
        <p:spPr>
          <a:xfrm>
            <a:off x="6260302" y="3675888"/>
            <a:ext cx="5361722" cy="1463040"/>
          </a:xfrm>
          <a:prstGeom prst="roundRect">
            <a:avLst>
              <a:gd name="adj" fmla="val 5625"/>
            </a:avLst>
          </a:prstGeom>
          <a:solidFill>
            <a:srgbClr val="F5F6F3"/>
          </a:solidFill>
          <a:ln/>
        </p:spPr>
      </p:sp>
      <p:sp>
        <p:nvSpPr>
          <p:cNvPr id="25" name="Text 23"/>
          <p:cNvSpPr/>
          <p:nvPr/>
        </p:nvSpPr>
        <p:spPr>
          <a:xfrm>
            <a:off x="6516334" y="3840480"/>
            <a:ext cx="4849658" cy="292608"/>
          </a:xfrm>
          <a:prstGeom prst="rect">
            <a:avLst/>
          </a:prstGeom>
          <a:noFill/>
          <a:ln/>
        </p:spPr>
        <p:txBody>
          <a:bodyPr wrap="square" lIns="0" tIns="0" rIns="0" bIns="0" rtlCol="0" anchor="ctr"/>
          <a:lstStyle/>
          <a:p>
            <a:pPr indent="0" marL="0">
              <a:buNone/>
            </a:pPr>
            <a:r>
              <a:rPr lang="en-US" sz="1500" b="1" dirty="0">
                <a:solidFill>
                  <a:srgbClr val="1A1819"/>
                </a:solidFill>
                <a:latin typeface="Trebuchet MS" pitchFamily="34" charset="0"/>
                <a:ea typeface="Trebuchet MS" pitchFamily="34" charset="-122"/>
                <a:cs typeface="Trebuchet MS" pitchFamily="34" charset="-120"/>
              </a:rPr>
              <a:t>Was erst später kommt</a:t>
            </a:r>
            <a:endParaRPr lang="en-US" sz="1500" dirty="0"/>
          </a:p>
        </p:txBody>
      </p:sp>
      <p:sp>
        <p:nvSpPr>
          <p:cNvPr id="26" name="Text 24"/>
          <p:cNvSpPr/>
          <p:nvPr/>
        </p:nvSpPr>
        <p:spPr>
          <a:xfrm>
            <a:off x="6562054" y="4169664"/>
            <a:ext cx="4758218" cy="8686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Stufe 2 rund um den 01.01.2027: neue Rechenregeln</a:t>
            </a:r>
            <a:endParaRPr lang="en-US" sz="1200" dirty="0"/>
          </a:p>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Genaues Datum = 1. Tag des 6. Monats nach Verkündung</a:t>
            </a:r>
            <a:endParaRPr lang="en-US" sz="1200" dirty="0"/>
          </a:p>
          <a:p>
            <a:pPr marL="342900" indent="-342900">
              <a:spcAft>
                <a:spcPts val="400"/>
              </a:spcAft>
              <a:buSzPct val="100000"/>
              <a:buChar char="•"/>
            </a:pPr>
            <a:r>
              <a:rPr lang="en-US" sz="1200" dirty="0">
                <a:solidFill>
                  <a:srgbClr val="1A1819"/>
                </a:solidFill>
                <a:latin typeface="Calibri" pitchFamily="34" charset="0"/>
                <a:ea typeface="Calibri" pitchFamily="34" charset="-122"/>
                <a:cs typeface="Calibri" pitchFamily="34" charset="-120"/>
              </a:rPr>
              <a:t>Bis dahin rechnen wir unverändert nach DIN V 18599:2018</a:t>
            </a:r>
            <a:endParaRPr lang="en-US" sz="120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Quelle: BT-Drs. 21/7009 · WERK.E Teamschulung GModG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SYSTEMWECHSEL</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Die sechs großen Änderungen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Weniger Heizungsgesetz, mehr EU-Gebäuderichtlinie.</a:t>
            </a:r>
            <a:endParaRPr lang="en-US" sz="1400" dirty="0"/>
          </a:p>
        </p:txBody>
      </p:sp>
      <p:sp>
        <p:nvSpPr>
          <p:cNvPr id="5" name="Shape 3"/>
          <p:cNvSpPr/>
          <p:nvPr/>
        </p:nvSpPr>
        <p:spPr>
          <a:xfrm>
            <a:off x="566928" y="1847088"/>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41248" y="2121408"/>
            <a:ext cx="365760" cy="365760"/>
          </a:xfrm>
          <a:prstGeom prst="ellipse">
            <a:avLst/>
          </a:prstGeom>
          <a:solidFill>
            <a:srgbClr val="2E7D3A"/>
          </a:solidFill>
          <a:ln/>
        </p:spPr>
      </p:sp>
      <p:sp>
        <p:nvSpPr>
          <p:cNvPr id="7" name="Text 5"/>
          <p:cNvSpPr/>
          <p:nvPr/>
        </p:nvSpPr>
        <p:spPr>
          <a:xfrm>
            <a:off x="841248" y="2121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53312" y="2048256"/>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Heizung: 65 % gestrichen</a:t>
            </a:r>
            <a:endParaRPr lang="en-US" sz="1550" dirty="0"/>
          </a:p>
        </p:txBody>
      </p:sp>
      <p:sp>
        <p:nvSpPr>
          <p:cNvPr id="9" name="Text 7"/>
          <p:cNvSpPr/>
          <p:nvPr/>
        </p:nvSpPr>
        <p:spPr>
          <a:xfrm>
            <a:off x="1353312" y="2395728"/>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 71-73 entfallen samt Betriebsverboten. Neu: Optionen-</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katalog + Bio-Treppe für fossile Kessel.</a:t>
            </a:r>
            <a:endParaRPr lang="en-US" sz="1150" dirty="0"/>
          </a:p>
        </p:txBody>
      </p:sp>
      <p:sp>
        <p:nvSpPr>
          <p:cNvPr id="10" name="Shape 8"/>
          <p:cNvSpPr/>
          <p:nvPr/>
        </p:nvSpPr>
        <p:spPr>
          <a:xfrm>
            <a:off x="6268212" y="1847088"/>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6542532" y="2121408"/>
            <a:ext cx="365760" cy="365760"/>
          </a:xfrm>
          <a:prstGeom prst="ellipse">
            <a:avLst/>
          </a:prstGeom>
          <a:solidFill>
            <a:srgbClr val="2E7D3A"/>
          </a:solidFill>
          <a:ln/>
        </p:spPr>
      </p:sp>
      <p:sp>
        <p:nvSpPr>
          <p:cNvPr id="12" name="Text 10"/>
          <p:cNvSpPr/>
          <p:nvPr/>
        </p:nvSpPr>
        <p:spPr>
          <a:xfrm>
            <a:off x="6542532" y="2121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7054596" y="2048256"/>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Neues Rechenregime</a:t>
            </a:r>
            <a:endParaRPr lang="en-US" sz="1550" dirty="0"/>
          </a:p>
        </p:txBody>
      </p:sp>
      <p:sp>
        <p:nvSpPr>
          <p:cNvPr id="14" name="Text 12"/>
          <p:cNvSpPr/>
          <p:nvPr/>
        </p:nvSpPr>
        <p:spPr>
          <a:xfrm>
            <a:off x="7054596" y="2395728"/>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DIN/TS 18599:2025-10, neue Bezugsfläche „Nutzfläche",</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neues Referenzgebäude, neue Faktoren.</a:t>
            </a:r>
            <a:endParaRPr lang="en-US" sz="1150" dirty="0"/>
          </a:p>
        </p:txBody>
      </p:sp>
      <p:sp>
        <p:nvSpPr>
          <p:cNvPr id="15" name="Shape 13"/>
          <p:cNvSpPr/>
          <p:nvPr/>
        </p:nvSpPr>
        <p:spPr>
          <a:xfrm>
            <a:off x="566928" y="3364992"/>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41248" y="3639312"/>
            <a:ext cx="365760" cy="365760"/>
          </a:xfrm>
          <a:prstGeom prst="ellipse">
            <a:avLst/>
          </a:prstGeom>
          <a:solidFill>
            <a:srgbClr val="58B264"/>
          </a:solidFill>
          <a:ln/>
        </p:spPr>
      </p:sp>
      <p:sp>
        <p:nvSpPr>
          <p:cNvPr id="17" name="Text 15"/>
          <p:cNvSpPr/>
          <p:nvPr/>
        </p:nvSpPr>
        <p:spPr>
          <a:xfrm>
            <a:off x="841248"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53312" y="3566160"/>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NWG-Bestand: Pflicht</a:t>
            </a:r>
            <a:endParaRPr lang="en-US" sz="1550" dirty="0"/>
          </a:p>
        </p:txBody>
      </p:sp>
      <p:sp>
        <p:nvSpPr>
          <p:cNvPr id="19" name="Text 17"/>
          <p:cNvSpPr/>
          <p:nvPr/>
        </p:nvSpPr>
        <p:spPr>
          <a:xfrm>
            <a:off x="1353312" y="3913632"/>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Erstmals Mindesteffizienz für Nichtwohngebäude -</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ab 2030 und 2033 (§§ 40, 41).</a:t>
            </a:r>
            <a:endParaRPr lang="en-US" sz="1150" dirty="0"/>
          </a:p>
        </p:txBody>
      </p:sp>
      <p:sp>
        <p:nvSpPr>
          <p:cNvPr id="20" name="Shape 18"/>
          <p:cNvSpPr/>
          <p:nvPr/>
        </p:nvSpPr>
        <p:spPr>
          <a:xfrm>
            <a:off x="6268212" y="3364992"/>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21" name="Shape 19"/>
          <p:cNvSpPr/>
          <p:nvPr/>
        </p:nvSpPr>
        <p:spPr>
          <a:xfrm>
            <a:off x="6542532" y="3639312"/>
            <a:ext cx="365760" cy="365760"/>
          </a:xfrm>
          <a:prstGeom prst="ellipse">
            <a:avLst/>
          </a:prstGeom>
          <a:solidFill>
            <a:srgbClr val="58B264"/>
          </a:solidFill>
          <a:ln/>
        </p:spPr>
      </p:sp>
      <p:sp>
        <p:nvSpPr>
          <p:cNvPr id="22" name="Text 20"/>
          <p:cNvSpPr/>
          <p:nvPr/>
        </p:nvSpPr>
        <p:spPr>
          <a:xfrm>
            <a:off x="6542532"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054596" y="3566160"/>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Energieausweise neu</a:t>
            </a:r>
            <a:endParaRPr lang="en-US" sz="1550" dirty="0"/>
          </a:p>
        </p:txBody>
      </p:sp>
      <p:sp>
        <p:nvSpPr>
          <p:cNvPr id="24" name="Text 22"/>
          <p:cNvSpPr/>
          <p:nvPr/>
        </p:nvSpPr>
        <p:spPr>
          <a:xfrm>
            <a:off x="7054596" y="3913632"/>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NWG nur noch Bedarfsausweis, eigene Klassen A-G,</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THG-Angaben, digital + maschinenlesbar.</a:t>
            </a:r>
            <a:endParaRPr lang="en-US" sz="1150" dirty="0"/>
          </a:p>
        </p:txBody>
      </p:sp>
      <p:sp>
        <p:nvSpPr>
          <p:cNvPr id="25" name="Shape 23"/>
          <p:cNvSpPr/>
          <p:nvPr/>
        </p:nvSpPr>
        <p:spPr>
          <a:xfrm>
            <a:off x="566928" y="4882896"/>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26" name="Shape 24"/>
          <p:cNvSpPr/>
          <p:nvPr/>
        </p:nvSpPr>
        <p:spPr>
          <a:xfrm>
            <a:off x="841248" y="5157216"/>
            <a:ext cx="365760" cy="365760"/>
          </a:xfrm>
          <a:prstGeom prst="ellipse">
            <a:avLst/>
          </a:prstGeom>
          <a:solidFill>
            <a:srgbClr val="5B685D"/>
          </a:solidFill>
          <a:ln/>
        </p:spPr>
      </p:sp>
      <p:sp>
        <p:nvSpPr>
          <p:cNvPr id="27" name="Text 25"/>
          <p:cNvSpPr/>
          <p:nvPr/>
        </p:nvSpPr>
        <p:spPr>
          <a:xfrm>
            <a:off x="841248" y="5157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353312" y="5084064"/>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Neubau: Nullemission</a:t>
            </a:r>
            <a:endParaRPr lang="en-US" sz="1550" dirty="0"/>
          </a:p>
        </p:txBody>
      </p:sp>
      <p:sp>
        <p:nvSpPr>
          <p:cNvPr id="29" name="Text 27"/>
          <p:cNvSpPr/>
          <p:nvPr/>
        </p:nvSpPr>
        <p:spPr>
          <a:xfrm>
            <a:off x="1353312" y="5431536"/>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Öffentliche NWG ab 2028, alle Neubauten ab 2030.</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Plus Ökobilanz-Bericht (§ 88b).</a:t>
            </a:r>
            <a:endParaRPr lang="en-US" sz="1150" dirty="0"/>
          </a:p>
        </p:txBody>
      </p:sp>
      <p:sp>
        <p:nvSpPr>
          <p:cNvPr id="30" name="Shape 28"/>
          <p:cNvSpPr/>
          <p:nvPr/>
        </p:nvSpPr>
        <p:spPr>
          <a:xfrm>
            <a:off x="6268212" y="4882896"/>
            <a:ext cx="5353812" cy="1243584"/>
          </a:xfrm>
          <a:prstGeom prst="roundRect">
            <a:avLst>
              <a:gd name="adj" fmla="val 6618"/>
            </a:avLst>
          </a:prstGeom>
          <a:solidFill>
            <a:srgbClr val="F5F6F3"/>
          </a:solidFill>
          <a:ln/>
          <a:effectLst>
            <a:outerShdw sx="100000" sy="100000" kx="0" ky="0" algn="bl" rotWithShape="0" blurRad="127000" dist="25400" dir="5400000">
              <a:srgbClr val="000000">
                <a:alpha val="7000"/>
              </a:srgbClr>
            </a:outerShdw>
          </a:effectLst>
        </p:spPr>
      </p:sp>
      <p:sp>
        <p:nvSpPr>
          <p:cNvPr id="31" name="Shape 29"/>
          <p:cNvSpPr/>
          <p:nvPr/>
        </p:nvSpPr>
        <p:spPr>
          <a:xfrm>
            <a:off x="6542532" y="5157216"/>
            <a:ext cx="365760" cy="365760"/>
          </a:xfrm>
          <a:prstGeom prst="ellipse">
            <a:avLst/>
          </a:prstGeom>
          <a:solidFill>
            <a:srgbClr val="5B685D"/>
          </a:solidFill>
          <a:ln/>
        </p:spPr>
      </p:sp>
      <p:sp>
        <p:nvSpPr>
          <p:cNvPr id="32" name="Text 30"/>
          <p:cNvSpPr/>
          <p:nvPr/>
        </p:nvSpPr>
        <p:spPr>
          <a:xfrm>
            <a:off x="6542532" y="51572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7054596" y="5084064"/>
            <a:ext cx="4329684" cy="329184"/>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Solarpflicht + Ladepunkte</a:t>
            </a:r>
            <a:endParaRPr lang="en-US" sz="1550" dirty="0"/>
          </a:p>
        </p:txBody>
      </p:sp>
      <p:sp>
        <p:nvSpPr>
          <p:cNvPr id="34" name="Text 32"/>
          <p:cNvSpPr/>
          <p:nvPr/>
        </p:nvSpPr>
        <p:spPr>
          <a:xfrm>
            <a:off x="7054596" y="5431536"/>
            <a:ext cx="4347972" cy="56692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Bundesweite Solarpflicht gestaffelt ab 2027 (§ 106),</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GEIG-Pflichten für Bestands-NWG ab 2027.</a:t>
            </a:r>
            <a:endParaRPr lang="en-US" sz="1150" dirty="0"/>
          </a:p>
        </p:txBody>
      </p:sp>
      <p:sp>
        <p:nvSpPr>
          <p:cNvPr id="36" name="Text 33"/>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Artikel 1 bis 9 des Änderungsgesetzes · BT-Drs. 21/7009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ARTIKEL 9</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Ein Gesetz, fünf Zeitstufen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Fast alles hat ein Datum. Wer die Fristen kennt, plant Projekte rechtssicher.</a:t>
            </a:r>
            <a:endParaRPr lang="en-US" sz="1400" dirty="0"/>
          </a:p>
        </p:txBody>
      </p:sp>
      <p:sp>
        <p:nvSpPr>
          <p:cNvPr id="5" name="Shape 3"/>
          <p:cNvSpPr/>
          <p:nvPr/>
        </p:nvSpPr>
        <p:spPr>
          <a:xfrm>
            <a:off x="566928" y="1810512"/>
            <a:ext cx="2064715" cy="694944"/>
          </a:xfrm>
          <a:prstGeom prst="roundRect">
            <a:avLst>
              <a:gd name="adj" fmla="val 10526"/>
            </a:avLst>
          </a:prstGeom>
          <a:solidFill>
            <a:srgbClr val="2E7D3A"/>
          </a:solidFill>
          <a:ln/>
        </p:spPr>
      </p:sp>
      <p:sp>
        <p:nvSpPr>
          <p:cNvPr id="6" name="Text 4"/>
          <p:cNvSpPr/>
          <p:nvPr/>
        </p:nvSpPr>
        <p:spPr>
          <a:xfrm>
            <a:off x="640080"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Tag nach</a:t>
            </a:r>
            <a:endParaRPr lang="en-US" sz="1300" dirty="0"/>
          </a:p>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Verkündung</a:t>
            </a:r>
            <a:endParaRPr lang="en-US" sz="1300" dirty="0"/>
          </a:p>
        </p:txBody>
      </p:sp>
      <p:sp>
        <p:nvSpPr>
          <p:cNvPr id="7" name="Shape 5"/>
          <p:cNvSpPr/>
          <p:nvPr/>
        </p:nvSpPr>
        <p:spPr>
          <a:xfrm>
            <a:off x="566928" y="2615184"/>
            <a:ext cx="2064715" cy="2395728"/>
          </a:xfrm>
          <a:prstGeom prst="roundRect">
            <a:avLst>
              <a:gd name="adj" fmla="val 3986"/>
            </a:avLst>
          </a:prstGeom>
          <a:solidFill>
            <a:srgbClr val="F5F6F3"/>
          </a:solidFill>
          <a:ln/>
        </p:spPr>
      </p:sp>
      <p:sp>
        <p:nvSpPr>
          <p:cNvPr id="8" name="Text 6"/>
          <p:cNvSpPr/>
          <p:nvPr/>
        </p:nvSpPr>
        <p:spPr>
          <a:xfrm>
            <a:off x="749808"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GEG wird GModG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65 % + Betriebs-</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verbote weg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Neues Heizungs-</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recht §§ 42-46</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Havarie + Mietrecht</a:t>
            </a:r>
            <a:endParaRPr lang="en-US" sz="1050" dirty="0"/>
          </a:p>
        </p:txBody>
      </p:sp>
      <p:sp>
        <p:nvSpPr>
          <p:cNvPr id="9" name="Shape 7"/>
          <p:cNvSpPr/>
          <p:nvPr/>
        </p:nvSpPr>
        <p:spPr>
          <a:xfrm>
            <a:off x="2814523" y="1810512"/>
            <a:ext cx="2064715" cy="694944"/>
          </a:xfrm>
          <a:prstGeom prst="roundRect">
            <a:avLst>
              <a:gd name="adj" fmla="val 10526"/>
            </a:avLst>
          </a:prstGeom>
          <a:solidFill>
            <a:srgbClr val="58B264"/>
          </a:solidFill>
          <a:ln/>
        </p:spPr>
      </p:sp>
      <p:sp>
        <p:nvSpPr>
          <p:cNvPr id="10" name="Text 8"/>
          <p:cNvSpPr/>
          <p:nvPr/>
        </p:nvSpPr>
        <p:spPr>
          <a:xfrm>
            <a:off x="2887675"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 01.01.2027</a:t>
            </a:r>
            <a:endParaRPr lang="en-US" sz="1300" dirty="0"/>
          </a:p>
          <a:p>
            <a:pPr algn="ctr" indent="0" marL="0">
              <a:lnSpc>
                <a:spcPts val="1600"/>
              </a:lnSpc>
              <a:buNone/>
            </a:pPr>
            <a:r>
              <a:rPr lang="en-US" sz="1300" b="1" dirty="0">
                <a:solidFill>
                  <a:srgbClr val="FFFFFF"/>
                </a:solidFill>
                <a:latin typeface="Trebuchet MS" pitchFamily="34" charset="0"/>
                <a:ea typeface="Trebuchet MS" pitchFamily="34" charset="-122"/>
                <a:cs typeface="Trebuchet MS" pitchFamily="34" charset="-120"/>
              </a:rPr>
              <a:t>Stufe 2</a:t>
            </a:r>
            <a:endParaRPr lang="en-US" sz="1300" dirty="0"/>
          </a:p>
        </p:txBody>
      </p:sp>
      <p:sp>
        <p:nvSpPr>
          <p:cNvPr id="11" name="Shape 9"/>
          <p:cNvSpPr/>
          <p:nvPr/>
        </p:nvSpPr>
        <p:spPr>
          <a:xfrm>
            <a:off x="2814523" y="2615184"/>
            <a:ext cx="2064715" cy="2395728"/>
          </a:xfrm>
          <a:prstGeom prst="roundRect">
            <a:avLst>
              <a:gd name="adj" fmla="val 3986"/>
            </a:avLst>
          </a:prstGeom>
          <a:solidFill>
            <a:srgbClr val="F5F6F3"/>
          </a:solidFill>
          <a:ln/>
        </p:spPr>
      </p:sp>
      <p:sp>
        <p:nvSpPr>
          <p:cNvPr id="12" name="Text 10"/>
          <p:cNvSpPr/>
          <p:nvPr/>
        </p:nvSpPr>
        <p:spPr>
          <a:xfrm>
            <a:off x="2997403"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Rechenregeln neu</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Ausweisrecht neu</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NWG-Pflicht +</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Solarpflicht</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Prüfpflichten, GEIG</a:t>
            </a:r>
            <a:endParaRPr lang="en-US" sz="1050" dirty="0"/>
          </a:p>
        </p:txBody>
      </p:sp>
      <p:sp>
        <p:nvSpPr>
          <p:cNvPr id="13" name="Shape 11"/>
          <p:cNvSpPr/>
          <p:nvPr/>
        </p:nvSpPr>
        <p:spPr>
          <a:xfrm>
            <a:off x="5062118" y="1810512"/>
            <a:ext cx="2064715" cy="694944"/>
          </a:xfrm>
          <a:prstGeom prst="roundRect">
            <a:avLst>
              <a:gd name="adj" fmla="val 10526"/>
            </a:avLst>
          </a:prstGeom>
          <a:solidFill>
            <a:srgbClr val="BFDCC4"/>
          </a:solidFill>
          <a:ln/>
        </p:spPr>
      </p:sp>
      <p:sp>
        <p:nvSpPr>
          <p:cNvPr id="14" name="Text 12"/>
          <p:cNvSpPr/>
          <p:nvPr/>
        </p:nvSpPr>
        <p:spPr>
          <a:xfrm>
            <a:off x="5135270"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01.01.2028</a:t>
            </a:r>
            <a:endParaRPr lang="en-US" sz="1300" dirty="0"/>
          </a:p>
        </p:txBody>
      </p:sp>
      <p:sp>
        <p:nvSpPr>
          <p:cNvPr id="15" name="Shape 13"/>
          <p:cNvSpPr/>
          <p:nvPr/>
        </p:nvSpPr>
        <p:spPr>
          <a:xfrm>
            <a:off x="5062118" y="2615184"/>
            <a:ext cx="2064715" cy="2395728"/>
          </a:xfrm>
          <a:prstGeom prst="roundRect">
            <a:avLst>
              <a:gd name="adj" fmla="val 3986"/>
            </a:avLst>
          </a:prstGeom>
          <a:solidFill>
            <a:srgbClr val="F5F6F3"/>
          </a:solidFill>
          <a:ln/>
        </p:spPr>
      </p:sp>
      <p:sp>
        <p:nvSpPr>
          <p:cNvPr id="16" name="Text 14"/>
          <p:cNvSpPr/>
          <p:nvPr/>
        </p:nvSpPr>
        <p:spPr>
          <a:xfrm>
            <a:off x="5244998"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Nullemission neue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öffentliche NWG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CO₂ + Netzentgelte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hälftig</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THG-Bericht ab</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1.000 m²</a:t>
            </a:r>
            <a:endParaRPr lang="en-US" sz="1050" dirty="0"/>
          </a:p>
        </p:txBody>
      </p:sp>
      <p:sp>
        <p:nvSpPr>
          <p:cNvPr id="17" name="Shape 15"/>
          <p:cNvSpPr/>
          <p:nvPr/>
        </p:nvSpPr>
        <p:spPr>
          <a:xfrm>
            <a:off x="7309714" y="1810512"/>
            <a:ext cx="2064715" cy="694944"/>
          </a:xfrm>
          <a:prstGeom prst="roundRect">
            <a:avLst>
              <a:gd name="adj" fmla="val 10526"/>
            </a:avLst>
          </a:prstGeom>
          <a:solidFill>
            <a:srgbClr val="BFDCC4"/>
          </a:solidFill>
          <a:ln/>
        </p:spPr>
      </p:sp>
      <p:sp>
        <p:nvSpPr>
          <p:cNvPr id="18" name="Text 16"/>
          <p:cNvSpPr/>
          <p:nvPr/>
        </p:nvSpPr>
        <p:spPr>
          <a:xfrm>
            <a:off x="7382866"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01.01.2029</a:t>
            </a:r>
            <a:endParaRPr lang="en-US" sz="1300" dirty="0"/>
          </a:p>
        </p:txBody>
      </p:sp>
      <p:sp>
        <p:nvSpPr>
          <p:cNvPr id="19" name="Shape 17"/>
          <p:cNvSpPr/>
          <p:nvPr/>
        </p:nvSpPr>
        <p:spPr>
          <a:xfrm>
            <a:off x="7309714" y="2615184"/>
            <a:ext cx="2064715" cy="2395728"/>
          </a:xfrm>
          <a:prstGeom prst="roundRect">
            <a:avLst>
              <a:gd name="adj" fmla="val 3986"/>
            </a:avLst>
          </a:prstGeom>
          <a:solidFill>
            <a:srgbClr val="F5F6F3"/>
          </a:solidFill>
          <a:ln/>
        </p:spPr>
      </p:sp>
      <p:sp>
        <p:nvSpPr>
          <p:cNvPr id="20" name="Text 18"/>
          <p:cNvSpPr/>
          <p:nvPr/>
        </p:nvSpPr>
        <p:spPr>
          <a:xfrm>
            <a:off x="7492594"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Bio-Treppe Stufe 1:</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10 %</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Brennstoffkosten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hälftig, Deckel 30 %</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Gebäudeautomation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bis Ende 2029</a:t>
            </a:r>
            <a:endParaRPr lang="en-US" sz="1050" dirty="0"/>
          </a:p>
        </p:txBody>
      </p:sp>
      <p:sp>
        <p:nvSpPr>
          <p:cNvPr id="21" name="Shape 19"/>
          <p:cNvSpPr/>
          <p:nvPr/>
        </p:nvSpPr>
        <p:spPr>
          <a:xfrm>
            <a:off x="9557309" y="1810512"/>
            <a:ext cx="2064715" cy="694944"/>
          </a:xfrm>
          <a:prstGeom prst="roundRect">
            <a:avLst>
              <a:gd name="adj" fmla="val 10526"/>
            </a:avLst>
          </a:prstGeom>
          <a:solidFill>
            <a:srgbClr val="BFDCC4"/>
          </a:solidFill>
          <a:ln/>
        </p:spPr>
      </p:sp>
      <p:sp>
        <p:nvSpPr>
          <p:cNvPr id="22" name="Text 20"/>
          <p:cNvSpPr/>
          <p:nvPr/>
        </p:nvSpPr>
        <p:spPr>
          <a:xfrm>
            <a:off x="9630461" y="1810512"/>
            <a:ext cx="1918411" cy="694944"/>
          </a:xfrm>
          <a:prstGeom prst="rect">
            <a:avLst/>
          </a:prstGeom>
          <a:noFill/>
          <a:ln/>
        </p:spPr>
        <p:txBody>
          <a:bodyPr wrap="square" lIns="0" tIns="0" rIns="0" bIns="0" rtlCol="0" anchor="ctr"/>
          <a:lstStyle/>
          <a:p>
            <a:pPr algn="ct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01.01.2030</a:t>
            </a:r>
            <a:endParaRPr lang="en-US" sz="1300" dirty="0"/>
          </a:p>
        </p:txBody>
      </p:sp>
      <p:sp>
        <p:nvSpPr>
          <p:cNvPr id="23" name="Shape 21"/>
          <p:cNvSpPr/>
          <p:nvPr/>
        </p:nvSpPr>
        <p:spPr>
          <a:xfrm>
            <a:off x="9557309" y="2615184"/>
            <a:ext cx="2064715" cy="2395728"/>
          </a:xfrm>
          <a:prstGeom prst="roundRect">
            <a:avLst>
              <a:gd name="adj" fmla="val 3986"/>
            </a:avLst>
          </a:prstGeom>
          <a:solidFill>
            <a:srgbClr val="F5F6F3"/>
          </a:solidFill>
          <a:ln/>
        </p:spPr>
      </p:sp>
      <p:sp>
        <p:nvSpPr>
          <p:cNvPr id="24" name="Text 22"/>
          <p:cNvSpPr/>
          <p:nvPr/>
        </p:nvSpPr>
        <p:spPr>
          <a:xfrm>
            <a:off x="9740189" y="2761488"/>
            <a:ext cx="1735531" cy="2121408"/>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Nullemission alle</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Neubauten</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Referenz-fp 0,70</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NWG max. 3,5 ×</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Referenz</a:t>
            </a:r>
            <a:endParaRPr lang="en-US" sz="1050" dirty="0"/>
          </a:p>
          <a:p>
            <a:pPr marL="342900" indent="-342900">
              <a:lnSpc>
                <a:spcPts val="1300"/>
              </a:lnSpc>
              <a:spcAft>
                <a:spcPts val="700"/>
              </a:spcAft>
              <a:buSzPct val="100000"/>
              <a:buChar char="•"/>
            </a:pPr>
            <a:r>
              <a:rPr lang="en-US" sz="1050" dirty="0">
                <a:solidFill>
                  <a:srgbClr val="1A1819"/>
                </a:solidFill>
                <a:latin typeface="Calibri" pitchFamily="34" charset="0"/>
                <a:ea typeface="Calibri" pitchFamily="34" charset="-122"/>
                <a:cs typeface="Calibri" pitchFamily="34" charset="-120"/>
              </a:rPr>
              <a:t>Solarpflicht neue WG</a:t>
            </a:r>
            <a:endParaRPr lang="en-US" sz="1050" dirty="0"/>
          </a:p>
        </p:txBody>
      </p:sp>
      <p:sp>
        <p:nvSpPr>
          <p:cNvPr id="25" name="Shape 23"/>
          <p:cNvSpPr/>
          <p:nvPr/>
        </p:nvSpPr>
        <p:spPr>
          <a:xfrm>
            <a:off x="566928" y="5175504"/>
            <a:ext cx="11055096" cy="566928"/>
          </a:xfrm>
          <a:prstGeom prst="roundRect">
            <a:avLst>
              <a:gd name="adj" fmla="val 14516"/>
            </a:avLst>
          </a:prstGeom>
          <a:solidFill>
            <a:srgbClr val="FFF6E0"/>
          </a:solidFill>
          <a:ln w="12700">
            <a:solidFill>
              <a:srgbClr val="E8CC8A"/>
            </a:solidFill>
            <a:prstDash val="solid"/>
          </a:ln>
        </p:spPr>
      </p:sp>
      <p:sp>
        <p:nvSpPr>
          <p:cNvPr id="26" name="Text 24"/>
          <p:cNvSpPr/>
          <p:nvPr/>
        </p:nvSpPr>
        <p:spPr>
          <a:xfrm>
            <a:off x="768096" y="5230368"/>
            <a:ext cx="10652760" cy="45720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Danach:  </a:t>
            </a:r>
            <a:pPr indent="0" marL="0">
              <a:buNone/>
            </a:pPr>
            <a:r>
              <a:rPr lang="en-US" sz="1200" dirty="0">
                <a:solidFill>
                  <a:srgbClr val="1A1819"/>
                </a:solidFill>
                <a:latin typeface="Calibri" pitchFamily="34" charset="0"/>
                <a:ea typeface="Calibri" pitchFamily="34" charset="-122"/>
                <a:cs typeface="Calibri" pitchFamily="34" charset="-120"/>
              </a:rPr>
              <a:t>2033 NWG-Stufe 2  ·  2035 Bio-Treppe 30 %  ·  2040 Bio-Treppe 60 %  ·  2045 Brennstoffe klimaneutral über die Lieferantenquote</a:t>
            </a:r>
            <a:endParaRPr lang="en-US" sz="120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Artikel 9 des Änderungsgesetzes · Drs. 21/7009, S. 159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HEIZUNGSRECHT</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Heizungstausch: alt gegen neu</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Was ihr Kundinnen und Kunden ab sofort anders erzählt.</a:t>
            </a:r>
            <a:endParaRPr lang="en-US" sz="1400" dirty="0"/>
          </a:p>
        </p:txBody>
      </p:sp>
      <p:sp>
        <p:nvSpPr>
          <p:cNvPr id="5" name="Text 3"/>
          <p:cNvSpPr/>
          <p:nvPr/>
        </p:nvSpPr>
        <p:spPr>
          <a:xfrm>
            <a:off x="621792" y="1828800"/>
            <a:ext cx="2240280" cy="292608"/>
          </a:xfrm>
          <a:prstGeom prst="rect">
            <a:avLst/>
          </a:prstGeom>
          <a:noFill/>
          <a:ln/>
        </p:spPr>
        <p:txBody>
          <a:bodyPr wrap="square" lIns="0" tIns="0" rIns="0" bIns="0" rtlCol="0" anchor="ctr"/>
          <a:lstStyle/>
          <a:p>
            <a:pPr indent="0" marL="0">
              <a:buNone/>
            </a:pPr>
            <a:r>
              <a:rPr lang="en-US" sz="1050" b="1" spc="120" kern="0" dirty="0">
                <a:solidFill>
                  <a:srgbClr val="5B685D"/>
                </a:solidFill>
                <a:latin typeface="Calibri" pitchFamily="34" charset="0"/>
                <a:ea typeface="Calibri" pitchFamily="34" charset="-122"/>
                <a:cs typeface="Calibri" pitchFamily="34" charset="-120"/>
              </a:rPr>
              <a:t>Thema</a:t>
            </a:r>
            <a:endParaRPr lang="en-US" sz="1050" dirty="0"/>
          </a:p>
        </p:txBody>
      </p:sp>
      <p:sp>
        <p:nvSpPr>
          <p:cNvPr id="6" name="Text 4"/>
          <p:cNvSpPr/>
          <p:nvPr/>
        </p:nvSpPr>
        <p:spPr>
          <a:xfrm>
            <a:off x="2990088" y="1828800"/>
            <a:ext cx="4279392" cy="292608"/>
          </a:xfrm>
          <a:prstGeom prst="rect">
            <a:avLst/>
          </a:prstGeom>
          <a:noFill/>
          <a:ln/>
        </p:spPr>
        <p:txBody>
          <a:bodyPr wrap="square" lIns="0" tIns="0" rIns="0" bIns="0" rtlCol="0" anchor="ctr"/>
          <a:lstStyle/>
          <a:p>
            <a:pPr indent="0" marL="0">
              <a:buNone/>
            </a:pPr>
            <a:r>
              <a:rPr lang="en-US" sz="1050" b="1" spc="120" kern="0" dirty="0">
                <a:solidFill>
                  <a:srgbClr val="5B685D"/>
                </a:solidFill>
                <a:latin typeface="Calibri" pitchFamily="34" charset="0"/>
                <a:ea typeface="Calibri" pitchFamily="34" charset="-122"/>
                <a:cs typeface="Calibri" pitchFamily="34" charset="-120"/>
              </a:rPr>
              <a:t>GEG 2024  (bisher)</a:t>
            </a:r>
            <a:endParaRPr lang="en-US" sz="1050" dirty="0"/>
          </a:p>
        </p:txBody>
      </p:sp>
      <p:sp>
        <p:nvSpPr>
          <p:cNvPr id="7" name="Text 5"/>
          <p:cNvSpPr/>
          <p:nvPr/>
        </p:nvSpPr>
        <p:spPr>
          <a:xfrm>
            <a:off x="7397496" y="1828800"/>
            <a:ext cx="4279392" cy="292608"/>
          </a:xfrm>
          <a:prstGeom prst="rect">
            <a:avLst/>
          </a:prstGeom>
          <a:noFill/>
          <a:ln/>
        </p:spPr>
        <p:txBody>
          <a:bodyPr wrap="square" lIns="0" tIns="0" rIns="0" bIns="0" rtlCol="0" anchor="ctr"/>
          <a:lstStyle/>
          <a:p>
            <a:pPr indent="0" marL="0">
              <a:buNone/>
            </a:pPr>
            <a:r>
              <a:rPr lang="en-US" sz="1050" b="1" spc="120" kern="0" dirty="0">
                <a:solidFill>
                  <a:srgbClr val="2E7D3A"/>
                </a:solidFill>
                <a:latin typeface="Calibri" pitchFamily="34" charset="0"/>
                <a:ea typeface="Calibri" pitchFamily="34" charset="-122"/>
                <a:cs typeface="Calibri" pitchFamily="34" charset="-120"/>
              </a:rPr>
              <a:t>GMODG  (neu)</a:t>
            </a:r>
            <a:endParaRPr lang="en-US" sz="1050" dirty="0"/>
          </a:p>
        </p:txBody>
      </p:sp>
      <p:sp>
        <p:nvSpPr>
          <p:cNvPr id="8" name="Shape 6"/>
          <p:cNvSpPr/>
          <p:nvPr/>
        </p:nvSpPr>
        <p:spPr>
          <a:xfrm>
            <a:off x="566928" y="2194560"/>
            <a:ext cx="11055096" cy="713232"/>
          </a:xfrm>
          <a:prstGeom prst="roundRect">
            <a:avLst>
              <a:gd name="adj" fmla="val 6410"/>
            </a:avLst>
          </a:prstGeom>
          <a:solidFill>
            <a:srgbClr val="F5F6F3"/>
          </a:solidFill>
          <a:ln/>
        </p:spPr>
      </p:sp>
      <p:sp>
        <p:nvSpPr>
          <p:cNvPr id="9" name="Shape 7"/>
          <p:cNvSpPr/>
          <p:nvPr/>
        </p:nvSpPr>
        <p:spPr>
          <a:xfrm>
            <a:off x="7342632" y="2194560"/>
            <a:ext cx="4334256" cy="713232"/>
          </a:xfrm>
          <a:prstGeom prst="roundRect">
            <a:avLst>
              <a:gd name="adj" fmla="val 6410"/>
            </a:avLst>
          </a:prstGeom>
          <a:solidFill>
            <a:srgbClr val="EDF5EE"/>
          </a:solidFill>
          <a:ln/>
        </p:spPr>
      </p:sp>
      <p:sp>
        <p:nvSpPr>
          <p:cNvPr id="10" name="Text 8"/>
          <p:cNvSpPr/>
          <p:nvPr/>
        </p:nvSpPr>
        <p:spPr>
          <a:xfrm>
            <a:off x="786384" y="2194560"/>
            <a:ext cx="2057400" cy="7132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Grundregel</a:t>
            </a:r>
            <a:endParaRPr lang="en-US" sz="1300" dirty="0"/>
          </a:p>
        </p:txBody>
      </p:sp>
      <p:sp>
        <p:nvSpPr>
          <p:cNvPr id="11" name="Text 9"/>
          <p:cNvSpPr/>
          <p:nvPr/>
        </p:nvSpPr>
        <p:spPr>
          <a:xfrm>
            <a:off x="2990088" y="2194560"/>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65 % erneuerbare Energien</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bei jedem Heizungstausch</a:t>
            </a:r>
            <a:endParaRPr lang="en-US" sz="1150" dirty="0"/>
          </a:p>
        </p:txBody>
      </p:sp>
      <p:sp>
        <p:nvSpPr>
          <p:cNvPr id="12" name="Text 10"/>
          <p:cNvSpPr/>
          <p:nvPr/>
        </p:nvSpPr>
        <p:spPr>
          <a:xfrm>
            <a:off x="7507224" y="2194560"/>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Freie Wahl aus 10 Optionen,</a:t>
            </a:r>
            <a:endParaRPr lang="en-US" sz="1150" dirty="0"/>
          </a:p>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nur Maßgaben §§ 43-46</a:t>
            </a:r>
            <a:endParaRPr lang="en-US" sz="1150" dirty="0"/>
          </a:p>
        </p:txBody>
      </p:sp>
      <p:sp>
        <p:nvSpPr>
          <p:cNvPr id="13" name="Shape 11"/>
          <p:cNvSpPr/>
          <p:nvPr/>
        </p:nvSpPr>
        <p:spPr>
          <a:xfrm>
            <a:off x="7342632" y="2962656"/>
            <a:ext cx="4334256" cy="713232"/>
          </a:xfrm>
          <a:prstGeom prst="roundRect">
            <a:avLst>
              <a:gd name="adj" fmla="val 6410"/>
            </a:avLst>
          </a:prstGeom>
          <a:solidFill>
            <a:srgbClr val="EDF5EE"/>
          </a:solidFill>
          <a:ln/>
        </p:spPr>
      </p:sp>
      <p:sp>
        <p:nvSpPr>
          <p:cNvPr id="14" name="Text 12"/>
          <p:cNvSpPr/>
          <p:nvPr/>
        </p:nvSpPr>
        <p:spPr>
          <a:xfrm>
            <a:off x="786384" y="2962656"/>
            <a:ext cx="2057400" cy="7132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Fossile Kessel</a:t>
            </a:r>
            <a:endParaRPr lang="en-US" sz="1300" dirty="0"/>
          </a:p>
        </p:txBody>
      </p:sp>
      <p:sp>
        <p:nvSpPr>
          <p:cNvPr id="15" name="Text 13"/>
          <p:cNvSpPr/>
          <p:nvPr/>
        </p:nvSpPr>
        <p:spPr>
          <a:xfrm>
            <a:off x="2990088" y="2962656"/>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Nur über 65-%-Nachweis</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oder Übergangsregeln</a:t>
            </a:r>
            <a:endParaRPr lang="en-US" sz="1150" dirty="0"/>
          </a:p>
        </p:txBody>
      </p:sp>
      <p:sp>
        <p:nvSpPr>
          <p:cNvPr id="16" name="Text 14"/>
          <p:cNvSpPr/>
          <p:nvPr/>
        </p:nvSpPr>
        <p:spPr>
          <a:xfrm>
            <a:off x="7507224" y="2962656"/>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Zulässig - ab 2029 mit</a:t>
            </a:r>
            <a:endParaRPr lang="en-US" sz="1150" dirty="0"/>
          </a:p>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steigendem Bioanteil (§ 43)</a:t>
            </a:r>
            <a:endParaRPr lang="en-US" sz="1150" dirty="0"/>
          </a:p>
        </p:txBody>
      </p:sp>
      <p:sp>
        <p:nvSpPr>
          <p:cNvPr id="17" name="Shape 15"/>
          <p:cNvSpPr/>
          <p:nvPr/>
        </p:nvSpPr>
        <p:spPr>
          <a:xfrm>
            <a:off x="566928" y="3730752"/>
            <a:ext cx="11055096" cy="713232"/>
          </a:xfrm>
          <a:prstGeom prst="roundRect">
            <a:avLst>
              <a:gd name="adj" fmla="val 6410"/>
            </a:avLst>
          </a:prstGeom>
          <a:solidFill>
            <a:srgbClr val="F5F6F3"/>
          </a:solidFill>
          <a:ln/>
        </p:spPr>
      </p:sp>
      <p:sp>
        <p:nvSpPr>
          <p:cNvPr id="18" name="Shape 16"/>
          <p:cNvSpPr/>
          <p:nvPr/>
        </p:nvSpPr>
        <p:spPr>
          <a:xfrm>
            <a:off x="7342632" y="3730752"/>
            <a:ext cx="4334256" cy="713232"/>
          </a:xfrm>
          <a:prstGeom prst="roundRect">
            <a:avLst>
              <a:gd name="adj" fmla="val 6410"/>
            </a:avLst>
          </a:prstGeom>
          <a:solidFill>
            <a:srgbClr val="EDF5EE"/>
          </a:solidFill>
          <a:ln/>
        </p:spPr>
      </p:sp>
      <p:sp>
        <p:nvSpPr>
          <p:cNvPr id="19" name="Text 17"/>
          <p:cNvSpPr/>
          <p:nvPr/>
        </p:nvSpPr>
        <p:spPr>
          <a:xfrm>
            <a:off x="786384" y="3730752"/>
            <a:ext cx="2057400" cy="7132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Betriebsverbote</a:t>
            </a:r>
            <a:endParaRPr lang="en-US" sz="1300" dirty="0"/>
          </a:p>
        </p:txBody>
      </p:sp>
      <p:sp>
        <p:nvSpPr>
          <p:cNvPr id="20" name="Text 18"/>
          <p:cNvSpPr/>
          <p:nvPr/>
        </p:nvSpPr>
        <p:spPr>
          <a:xfrm>
            <a:off x="2990088" y="3730752"/>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Aus für fossile Kessel</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Ende 2044, 30-Jahre-Regel</a:t>
            </a:r>
            <a:endParaRPr lang="en-US" sz="1150" dirty="0"/>
          </a:p>
        </p:txBody>
      </p:sp>
      <p:sp>
        <p:nvSpPr>
          <p:cNvPr id="21" name="Text 19"/>
          <p:cNvSpPr/>
          <p:nvPr/>
        </p:nvSpPr>
        <p:spPr>
          <a:xfrm>
            <a:off x="7507224" y="3730752"/>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Ersatzlos gestrichen</a:t>
            </a:r>
            <a:endParaRPr lang="en-US" sz="1150" dirty="0"/>
          </a:p>
        </p:txBody>
      </p:sp>
      <p:sp>
        <p:nvSpPr>
          <p:cNvPr id="22" name="Shape 20"/>
          <p:cNvSpPr/>
          <p:nvPr/>
        </p:nvSpPr>
        <p:spPr>
          <a:xfrm>
            <a:off x="7342632" y="4498848"/>
            <a:ext cx="4334256" cy="713232"/>
          </a:xfrm>
          <a:prstGeom prst="roundRect">
            <a:avLst>
              <a:gd name="adj" fmla="val 6410"/>
            </a:avLst>
          </a:prstGeom>
          <a:solidFill>
            <a:srgbClr val="EDF5EE"/>
          </a:solidFill>
          <a:ln/>
        </p:spPr>
      </p:sp>
      <p:sp>
        <p:nvSpPr>
          <p:cNvPr id="23" name="Text 21"/>
          <p:cNvSpPr/>
          <p:nvPr/>
        </p:nvSpPr>
        <p:spPr>
          <a:xfrm>
            <a:off x="786384" y="4498848"/>
            <a:ext cx="2057400" cy="7132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Beratungspflicht</a:t>
            </a:r>
            <a:endParaRPr lang="en-US" sz="1300" dirty="0"/>
          </a:p>
        </p:txBody>
      </p:sp>
      <p:sp>
        <p:nvSpPr>
          <p:cNvPr id="24" name="Text 22"/>
          <p:cNvSpPr/>
          <p:nvPr/>
        </p:nvSpPr>
        <p:spPr>
          <a:xfrm>
            <a:off x="2990088" y="4498848"/>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Pflichtberatung vor</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fossilem Einbau</a:t>
            </a:r>
            <a:endParaRPr lang="en-US" sz="1150" dirty="0"/>
          </a:p>
        </p:txBody>
      </p:sp>
      <p:sp>
        <p:nvSpPr>
          <p:cNvPr id="25" name="Text 23"/>
          <p:cNvSpPr/>
          <p:nvPr/>
        </p:nvSpPr>
        <p:spPr>
          <a:xfrm>
            <a:off x="7507224" y="4498848"/>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Entfällt - wir dokumentieren</a:t>
            </a:r>
            <a:endParaRPr lang="en-US" sz="1150" dirty="0"/>
          </a:p>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trotzdem schriftlich</a:t>
            </a:r>
            <a:endParaRPr lang="en-US" sz="1150" dirty="0"/>
          </a:p>
        </p:txBody>
      </p:sp>
      <p:sp>
        <p:nvSpPr>
          <p:cNvPr id="26" name="Shape 24"/>
          <p:cNvSpPr/>
          <p:nvPr/>
        </p:nvSpPr>
        <p:spPr>
          <a:xfrm>
            <a:off x="566928" y="5266944"/>
            <a:ext cx="11055096" cy="713232"/>
          </a:xfrm>
          <a:prstGeom prst="roundRect">
            <a:avLst>
              <a:gd name="adj" fmla="val 6410"/>
            </a:avLst>
          </a:prstGeom>
          <a:solidFill>
            <a:srgbClr val="F5F6F3"/>
          </a:solidFill>
          <a:ln/>
        </p:spPr>
      </p:sp>
      <p:sp>
        <p:nvSpPr>
          <p:cNvPr id="27" name="Shape 25"/>
          <p:cNvSpPr/>
          <p:nvPr/>
        </p:nvSpPr>
        <p:spPr>
          <a:xfrm>
            <a:off x="7342632" y="5266944"/>
            <a:ext cx="4334256" cy="713232"/>
          </a:xfrm>
          <a:prstGeom prst="roundRect">
            <a:avLst>
              <a:gd name="adj" fmla="val 6410"/>
            </a:avLst>
          </a:prstGeom>
          <a:solidFill>
            <a:srgbClr val="EDF5EE"/>
          </a:solidFill>
          <a:ln/>
        </p:spPr>
      </p:sp>
      <p:sp>
        <p:nvSpPr>
          <p:cNvPr id="28" name="Text 26"/>
          <p:cNvSpPr/>
          <p:nvPr/>
        </p:nvSpPr>
        <p:spPr>
          <a:xfrm>
            <a:off x="786384" y="5266944"/>
            <a:ext cx="2057400" cy="7132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Ziel 2045</a:t>
            </a:r>
            <a:endParaRPr lang="en-US" sz="1300" dirty="0"/>
          </a:p>
        </p:txBody>
      </p:sp>
      <p:sp>
        <p:nvSpPr>
          <p:cNvPr id="29" name="Text 27"/>
          <p:cNvSpPr/>
          <p:nvPr/>
        </p:nvSpPr>
        <p:spPr>
          <a:xfrm>
            <a:off x="2990088" y="5266944"/>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Pflicht lag beim Eigentümer</a:t>
            </a:r>
            <a:endParaRPr lang="en-US" sz="1150" dirty="0"/>
          </a:p>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(100 % erneuerbar)</a:t>
            </a:r>
            <a:endParaRPr lang="en-US" sz="1150" dirty="0"/>
          </a:p>
        </p:txBody>
      </p:sp>
      <p:sp>
        <p:nvSpPr>
          <p:cNvPr id="30" name="Text 28"/>
          <p:cNvSpPr/>
          <p:nvPr/>
        </p:nvSpPr>
        <p:spPr>
          <a:xfrm>
            <a:off x="7507224" y="5266944"/>
            <a:ext cx="4096512" cy="713232"/>
          </a:xfrm>
          <a:prstGeom prst="rect">
            <a:avLst/>
          </a:prstGeom>
          <a:noFill/>
          <a:ln/>
        </p:spPr>
        <p:txBody>
          <a:bodyPr wrap="square" lIns="0" tIns="0" rIns="0" bIns="0" rtlCol="0" anchor="ctr"/>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Quote bei den Brennstoff-</a:t>
            </a:r>
            <a:endParaRPr lang="en-US" sz="1150" dirty="0"/>
          </a:p>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lieferanten (§ 42a)</a:t>
            </a:r>
            <a:endParaRPr lang="en-US" sz="1150" dirty="0"/>
          </a:p>
        </p:txBody>
      </p:sp>
      <p:sp>
        <p:nvSpPr>
          <p:cNvPr id="32" name="Text 29"/>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GEG 2024: §§ 71-73 (gestrichen) · GModG: §§ 42-46 und § 42a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42</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Zehn Optionen, freie Wahl</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Der Eigentümer wählt frei, Kombinationen sind zulässig. Gilt über § 10 Abs. 2 Nr. 3 auch im Neubau.</a:t>
            </a:r>
            <a:endParaRPr lang="en-US" sz="1400" dirty="0"/>
          </a:p>
        </p:txBody>
      </p:sp>
      <p:sp>
        <p:nvSpPr>
          <p:cNvPr id="5" name="Shape 3"/>
          <p:cNvSpPr/>
          <p:nvPr/>
        </p:nvSpPr>
        <p:spPr>
          <a:xfrm>
            <a:off x="566928" y="192024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713232" y="210312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Gas / Öl /</a:t>
            </a:r>
            <a:endParaRPr lang="en-US" sz="1300" dirty="0"/>
          </a:p>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Flüssiggas</a:t>
            </a:r>
            <a:endParaRPr lang="en-US" sz="1300" dirty="0"/>
          </a:p>
        </p:txBody>
      </p:sp>
      <p:sp>
        <p:nvSpPr>
          <p:cNvPr id="7" name="Text 5"/>
          <p:cNvSpPr/>
          <p:nvPr/>
        </p:nvSpPr>
        <p:spPr>
          <a:xfrm>
            <a:off x="713232" y="272491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mit Bio-Treppe § 43</a:t>
            </a:r>
            <a:endParaRPr lang="en-US" sz="1000" dirty="0"/>
          </a:p>
        </p:txBody>
      </p:sp>
      <p:sp>
        <p:nvSpPr>
          <p:cNvPr id="8" name="Shape 6"/>
          <p:cNvSpPr/>
          <p:nvPr/>
        </p:nvSpPr>
        <p:spPr>
          <a:xfrm>
            <a:off x="2818181" y="1920240"/>
            <a:ext cx="2050085" cy="1225296"/>
          </a:xfrm>
          <a:prstGeom prst="roundRect">
            <a:avLst>
              <a:gd name="adj" fmla="val 6716"/>
            </a:avLst>
          </a:prstGeom>
          <a:solidFill>
            <a:srgbClr val="EDF5EE"/>
          </a:solidFill>
          <a:ln/>
          <a:effectLst>
            <a:outerShdw sx="100000" sy="100000" kx="0" ky="0" algn="bl" rotWithShape="0" blurRad="127000" dist="25400" dir="5400000">
              <a:srgbClr val="000000">
                <a:alpha val="7000"/>
              </a:srgbClr>
            </a:outerShdw>
          </a:effectLst>
        </p:spPr>
      </p:sp>
      <p:sp>
        <p:nvSpPr>
          <p:cNvPr id="9" name="Text 7"/>
          <p:cNvSpPr/>
          <p:nvPr/>
        </p:nvSpPr>
        <p:spPr>
          <a:xfrm>
            <a:off x="2964485" y="210312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2E7D3A"/>
                </a:solidFill>
                <a:latin typeface="Trebuchet MS" pitchFamily="34" charset="0"/>
                <a:ea typeface="Trebuchet MS" pitchFamily="34" charset="-122"/>
                <a:cs typeface="Trebuchet MS" pitchFamily="34" charset="-120"/>
              </a:rPr>
              <a:t>Wärmepumpe</a:t>
            </a:r>
            <a:endParaRPr lang="en-US" sz="1300" dirty="0"/>
          </a:p>
        </p:txBody>
      </p:sp>
      <p:sp>
        <p:nvSpPr>
          <p:cNvPr id="10" name="Text 8"/>
          <p:cNvSpPr/>
          <p:nvPr/>
        </p:nvSpPr>
        <p:spPr>
          <a:xfrm>
            <a:off x="2964485" y="272491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elektrisch</a:t>
            </a:r>
            <a:endParaRPr lang="en-US" sz="1000" dirty="0"/>
          </a:p>
        </p:txBody>
      </p:sp>
      <p:sp>
        <p:nvSpPr>
          <p:cNvPr id="11" name="Shape 9"/>
          <p:cNvSpPr/>
          <p:nvPr/>
        </p:nvSpPr>
        <p:spPr>
          <a:xfrm>
            <a:off x="5069434" y="192024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12" name="Text 10"/>
          <p:cNvSpPr/>
          <p:nvPr/>
        </p:nvSpPr>
        <p:spPr>
          <a:xfrm>
            <a:off x="5215738" y="210312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Solarthermie</a:t>
            </a:r>
            <a:endParaRPr lang="en-US" sz="1300" dirty="0"/>
          </a:p>
        </p:txBody>
      </p:sp>
      <p:sp>
        <p:nvSpPr>
          <p:cNvPr id="13" name="Text 11"/>
          <p:cNvSpPr/>
          <p:nvPr/>
        </p:nvSpPr>
        <p:spPr>
          <a:xfrm>
            <a:off x="5215738" y="272491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Solar Keymark, § 44</a:t>
            </a:r>
            <a:endParaRPr lang="en-US" sz="1000" dirty="0"/>
          </a:p>
        </p:txBody>
      </p:sp>
      <p:sp>
        <p:nvSpPr>
          <p:cNvPr id="14" name="Shape 12"/>
          <p:cNvSpPr/>
          <p:nvPr/>
        </p:nvSpPr>
        <p:spPr>
          <a:xfrm>
            <a:off x="7320686" y="1920240"/>
            <a:ext cx="2050085" cy="1225296"/>
          </a:xfrm>
          <a:prstGeom prst="roundRect">
            <a:avLst>
              <a:gd name="adj" fmla="val 6716"/>
            </a:avLst>
          </a:prstGeom>
          <a:solidFill>
            <a:srgbClr val="EDF5EE"/>
          </a:solidFill>
          <a:ln/>
          <a:effectLst>
            <a:outerShdw sx="100000" sy="100000" kx="0" ky="0" algn="bl" rotWithShape="0" blurRad="127000" dist="25400" dir="5400000">
              <a:srgbClr val="000000">
                <a:alpha val="7000"/>
              </a:srgbClr>
            </a:outerShdw>
          </a:effectLst>
        </p:spPr>
      </p:sp>
      <p:sp>
        <p:nvSpPr>
          <p:cNvPr id="15" name="Text 13"/>
          <p:cNvSpPr/>
          <p:nvPr/>
        </p:nvSpPr>
        <p:spPr>
          <a:xfrm>
            <a:off x="7466990" y="210312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2E7D3A"/>
                </a:solidFill>
                <a:latin typeface="Trebuchet MS" pitchFamily="34" charset="0"/>
                <a:ea typeface="Trebuchet MS" pitchFamily="34" charset="-122"/>
                <a:cs typeface="Trebuchet MS" pitchFamily="34" charset="-120"/>
              </a:rPr>
              <a:t>Biomasse /</a:t>
            </a:r>
            <a:endParaRPr lang="en-US" sz="1300" dirty="0"/>
          </a:p>
          <a:p>
            <a:pPr indent="0" marL="0">
              <a:lnSpc>
                <a:spcPts val="1600"/>
              </a:lnSpc>
              <a:buNone/>
            </a:pPr>
            <a:r>
              <a:rPr lang="en-US" sz="1300" b="1" dirty="0">
                <a:solidFill>
                  <a:srgbClr val="2E7D3A"/>
                </a:solidFill>
                <a:latin typeface="Trebuchet MS" pitchFamily="34" charset="0"/>
                <a:ea typeface="Trebuchet MS" pitchFamily="34" charset="-122"/>
                <a:cs typeface="Trebuchet MS" pitchFamily="34" charset="-120"/>
              </a:rPr>
              <a:t>Wasserstoff</a:t>
            </a:r>
            <a:endParaRPr lang="en-US" sz="1300" dirty="0"/>
          </a:p>
        </p:txBody>
      </p:sp>
      <p:sp>
        <p:nvSpPr>
          <p:cNvPr id="16" name="Text 14"/>
          <p:cNvSpPr/>
          <p:nvPr/>
        </p:nvSpPr>
        <p:spPr>
          <a:xfrm>
            <a:off x="7466990" y="272491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auch handbeschickt, § 45</a:t>
            </a:r>
            <a:endParaRPr lang="en-US" sz="1000" dirty="0"/>
          </a:p>
        </p:txBody>
      </p:sp>
      <p:sp>
        <p:nvSpPr>
          <p:cNvPr id="17" name="Shape 15"/>
          <p:cNvSpPr/>
          <p:nvPr/>
        </p:nvSpPr>
        <p:spPr>
          <a:xfrm>
            <a:off x="9571939" y="1920240"/>
            <a:ext cx="2050085" cy="1225296"/>
          </a:xfrm>
          <a:prstGeom prst="roundRect">
            <a:avLst>
              <a:gd name="adj" fmla="val 6716"/>
            </a:avLst>
          </a:prstGeom>
          <a:solidFill>
            <a:srgbClr val="EDF5EE"/>
          </a:solidFill>
          <a:ln/>
          <a:effectLst>
            <a:outerShdw sx="100000" sy="100000" kx="0" ky="0" algn="bl" rotWithShape="0" blurRad="127000" dist="25400" dir="5400000">
              <a:srgbClr val="000000">
                <a:alpha val="7000"/>
              </a:srgbClr>
            </a:outerShdw>
          </a:effectLst>
        </p:spPr>
      </p:sp>
      <p:sp>
        <p:nvSpPr>
          <p:cNvPr id="18" name="Text 16"/>
          <p:cNvSpPr/>
          <p:nvPr/>
        </p:nvSpPr>
        <p:spPr>
          <a:xfrm>
            <a:off x="9718243" y="210312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2E7D3A"/>
                </a:solidFill>
                <a:latin typeface="Trebuchet MS" pitchFamily="34" charset="0"/>
                <a:ea typeface="Trebuchet MS" pitchFamily="34" charset="-122"/>
                <a:cs typeface="Trebuchet MS" pitchFamily="34" charset="-120"/>
              </a:rPr>
              <a:t>WP-Hybrid</a:t>
            </a:r>
            <a:endParaRPr lang="en-US" sz="1300" dirty="0"/>
          </a:p>
        </p:txBody>
      </p:sp>
      <p:sp>
        <p:nvSpPr>
          <p:cNvPr id="19" name="Text 17"/>
          <p:cNvSpPr/>
          <p:nvPr/>
        </p:nvSpPr>
        <p:spPr>
          <a:xfrm>
            <a:off x="9718243" y="272491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Wärmepumpe + Kessel</a:t>
            </a:r>
            <a:endParaRPr lang="en-US" sz="1000" dirty="0"/>
          </a:p>
        </p:txBody>
      </p:sp>
      <p:sp>
        <p:nvSpPr>
          <p:cNvPr id="20" name="Shape 18"/>
          <p:cNvSpPr/>
          <p:nvPr/>
        </p:nvSpPr>
        <p:spPr>
          <a:xfrm>
            <a:off x="566928" y="338328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21" name="Text 19"/>
          <p:cNvSpPr/>
          <p:nvPr/>
        </p:nvSpPr>
        <p:spPr>
          <a:xfrm>
            <a:off x="713232" y="356616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Solarthermie-</a:t>
            </a:r>
            <a:endParaRPr lang="en-US" sz="1300" dirty="0"/>
          </a:p>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Hybrid</a:t>
            </a:r>
            <a:endParaRPr lang="en-US" sz="1300" dirty="0"/>
          </a:p>
        </p:txBody>
      </p:sp>
      <p:sp>
        <p:nvSpPr>
          <p:cNvPr id="22" name="Text 20"/>
          <p:cNvSpPr/>
          <p:nvPr/>
        </p:nvSpPr>
        <p:spPr>
          <a:xfrm>
            <a:off x="713232" y="418795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Solar + Kessel</a:t>
            </a:r>
            <a:endParaRPr lang="en-US" sz="1000" dirty="0"/>
          </a:p>
        </p:txBody>
      </p:sp>
      <p:sp>
        <p:nvSpPr>
          <p:cNvPr id="23" name="Shape 21"/>
          <p:cNvSpPr/>
          <p:nvPr/>
        </p:nvSpPr>
        <p:spPr>
          <a:xfrm>
            <a:off x="2818181" y="338328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24" name="Text 22"/>
          <p:cNvSpPr/>
          <p:nvPr/>
        </p:nvSpPr>
        <p:spPr>
          <a:xfrm>
            <a:off x="2964485" y="356616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KWK-Anlage</a:t>
            </a:r>
            <a:endParaRPr lang="en-US" sz="1300" dirty="0"/>
          </a:p>
        </p:txBody>
      </p:sp>
      <p:sp>
        <p:nvSpPr>
          <p:cNvPr id="25" name="Text 23"/>
          <p:cNvSpPr/>
          <p:nvPr/>
        </p:nvSpPr>
        <p:spPr>
          <a:xfrm>
            <a:off x="2964485" y="418795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hocheffizient, neu</a:t>
            </a:r>
            <a:endParaRPr lang="en-US" sz="1000" dirty="0"/>
          </a:p>
        </p:txBody>
      </p:sp>
      <p:sp>
        <p:nvSpPr>
          <p:cNvPr id="26" name="Shape 24"/>
          <p:cNvSpPr/>
          <p:nvPr/>
        </p:nvSpPr>
        <p:spPr>
          <a:xfrm>
            <a:off x="5069434" y="338328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27" name="Text 25"/>
          <p:cNvSpPr/>
          <p:nvPr/>
        </p:nvSpPr>
        <p:spPr>
          <a:xfrm>
            <a:off x="5215738" y="356616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Stromdirekt-</a:t>
            </a:r>
            <a:endParaRPr lang="en-US" sz="1300" dirty="0"/>
          </a:p>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heizung</a:t>
            </a:r>
            <a:endParaRPr lang="en-US" sz="1300" dirty="0"/>
          </a:p>
        </p:txBody>
      </p:sp>
      <p:sp>
        <p:nvSpPr>
          <p:cNvPr id="28" name="Text 26"/>
          <p:cNvSpPr/>
          <p:nvPr/>
        </p:nvSpPr>
        <p:spPr>
          <a:xfrm>
            <a:off x="5215738" y="418795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nur mit Hüllen-Bonus, § 46</a:t>
            </a:r>
            <a:endParaRPr lang="en-US" sz="1000" dirty="0"/>
          </a:p>
        </p:txBody>
      </p:sp>
      <p:sp>
        <p:nvSpPr>
          <p:cNvPr id="29" name="Shape 27"/>
          <p:cNvSpPr/>
          <p:nvPr/>
        </p:nvSpPr>
        <p:spPr>
          <a:xfrm>
            <a:off x="7320686" y="338328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30" name="Text 28"/>
          <p:cNvSpPr/>
          <p:nvPr/>
        </p:nvSpPr>
        <p:spPr>
          <a:xfrm>
            <a:off x="7466990" y="356616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Wärmenetz-</a:t>
            </a:r>
            <a:endParaRPr lang="en-US" sz="1300" dirty="0"/>
          </a:p>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Anschluss</a:t>
            </a:r>
            <a:endParaRPr lang="en-US" sz="1300" dirty="0"/>
          </a:p>
        </p:txBody>
      </p:sp>
      <p:sp>
        <p:nvSpPr>
          <p:cNvPr id="31" name="Text 29"/>
          <p:cNvSpPr/>
          <p:nvPr/>
        </p:nvSpPr>
        <p:spPr>
          <a:xfrm>
            <a:off x="7466990" y="418795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Hausübergabestation</a:t>
            </a:r>
            <a:endParaRPr lang="en-US" sz="1000" dirty="0"/>
          </a:p>
        </p:txBody>
      </p:sp>
      <p:sp>
        <p:nvSpPr>
          <p:cNvPr id="32" name="Shape 30"/>
          <p:cNvSpPr/>
          <p:nvPr/>
        </p:nvSpPr>
        <p:spPr>
          <a:xfrm>
            <a:off x="9571939" y="3383280"/>
            <a:ext cx="2050085" cy="1225296"/>
          </a:xfrm>
          <a:prstGeom prst="roundRect">
            <a:avLst>
              <a:gd name="adj" fmla="val 6716"/>
            </a:avLst>
          </a:prstGeom>
          <a:solidFill>
            <a:srgbClr val="F5F6F3"/>
          </a:solidFill>
          <a:ln/>
          <a:effectLst>
            <a:outerShdw sx="100000" sy="100000" kx="0" ky="0" algn="bl" rotWithShape="0" blurRad="127000" dist="25400" dir="5400000">
              <a:srgbClr val="000000">
                <a:alpha val="7000"/>
              </a:srgbClr>
            </a:outerShdw>
          </a:effectLst>
        </p:spPr>
      </p:sp>
      <p:sp>
        <p:nvSpPr>
          <p:cNvPr id="33" name="Text 31"/>
          <p:cNvSpPr/>
          <p:nvPr/>
        </p:nvSpPr>
        <p:spPr>
          <a:xfrm>
            <a:off x="9718243" y="3566160"/>
            <a:ext cx="1757477" cy="603504"/>
          </a:xfrm>
          <a:prstGeom prst="rect">
            <a:avLst/>
          </a:prstGeom>
          <a:noFill/>
          <a:ln/>
        </p:spPr>
        <p:txBody>
          <a:bodyPr wrap="square" lIns="0" tIns="0" rIns="0" bIns="0" rtlCol="0" anchor="t"/>
          <a:lstStyle/>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Innovative</a:t>
            </a:r>
            <a:endParaRPr lang="en-US" sz="1300" dirty="0"/>
          </a:p>
          <a:p>
            <a:pPr indent="0" marL="0">
              <a:lnSpc>
                <a:spcPts val="1600"/>
              </a:lnSpc>
              <a:buNone/>
            </a:pPr>
            <a:r>
              <a:rPr lang="en-US" sz="1300" b="1" dirty="0">
                <a:solidFill>
                  <a:srgbClr val="1A1819"/>
                </a:solidFill>
                <a:latin typeface="Trebuchet MS" pitchFamily="34" charset="0"/>
                <a:ea typeface="Trebuchet MS" pitchFamily="34" charset="-122"/>
                <a:cs typeface="Trebuchet MS" pitchFamily="34" charset="-120"/>
              </a:rPr>
              <a:t>Lösung</a:t>
            </a:r>
            <a:endParaRPr lang="en-US" sz="1300" dirty="0"/>
          </a:p>
        </p:txBody>
      </p:sp>
      <p:sp>
        <p:nvSpPr>
          <p:cNvPr id="34" name="Text 32"/>
          <p:cNvSpPr/>
          <p:nvPr/>
        </p:nvSpPr>
        <p:spPr>
          <a:xfrm>
            <a:off x="9718243" y="4187952"/>
            <a:ext cx="1757477" cy="310896"/>
          </a:xfrm>
          <a:prstGeom prst="rect">
            <a:avLst/>
          </a:prstGeom>
          <a:noFill/>
          <a:ln/>
        </p:spPr>
        <p:txBody>
          <a:bodyPr wrap="square" lIns="0" tIns="0" rIns="0" bIns="0" rtlCol="0" anchor="t"/>
          <a:lstStyle/>
          <a:p>
            <a:pPr indent="0" marL="0">
              <a:lnSpc>
                <a:spcPts val="1300"/>
              </a:lnSpc>
              <a:buNone/>
            </a:pPr>
            <a:r>
              <a:rPr lang="en-US" sz="1000" dirty="0">
                <a:solidFill>
                  <a:srgbClr val="5B685D"/>
                </a:solidFill>
                <a:latin typeface="Calibri" pitchFamily="34" charset="0"/>
                <a:ea typeface="Calibri" pitchFamily="34" charset="-122"/>
                <a:cs typeface="Calibri" pitchFamily="34" charset="-120"/>
              </a:rPr>
              <a:t>Auffangoption</a:t>
            </a:r>
            <a:endParaRPr lang="en-US" sz="1000" dirty="0"/>
          </a:p>
        </p:txBody>
      </p:sp>
      <p:sp>
        <p:nvSpPr>
          <p:cNvPr id="35" name="Shape 33"/>
          <p:cNvSpPr/>
          <p:nvPr/>
        </p:nvSpPr>
        <p:spPr>
          <a:xfrm>
            <a:off x="566928" y="4754880"/>
            <a:ext cx="11055096" cy="932688"/>
          </a:xfrm>
          <a:prstGeom prst="roundRect">
            <a:avLst>
              <a:gd name="adj" fmla="val 8824"/>
            </a:avLst>
          </a:prstGeom>
          <a:solidFill>
            <a:srgbClr val="FFF6E0"/>
          </a:solidFill>
          <a:ln w="12700">
            <a:solidFill>
              <a:srgbClr val="E8CC8A"/>
            </a:solidFill>
            <a:prstDash val="solid"/>
          </a:ln>
        </p:spPr>
      </p:sp>
      <p:sp>
        <p:nvSpPr>
          <p:cNvPr id="36" name="Text 34"/>
          <p:cNvSpPr/>
          <p:nvPr/>
        </p:nvSpPr>
        <p:spPr>
          <a:xfrm>
            <a:off x="768096" y="4809744"/>
            <a:ext cx="10652760" cy="82296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Stromdirektheizung:  </a:t>
            </a:r>
            <a:pPr indent="0" marL="0">
              <a:buNone/>
            </a:pPr>
            <a:r>
              <a:rPr lang="en-US" sz="1200" dirty="0">
                <a:solidFill>
                  <a:srgbClr val="1A1819"/>
                </a:solidFill>
                <a:latin typeface="Calibri" pitchFamily="34" charset="0"/>
                <a:ea typeface="Calibri" pitchFamily="34" charset="-122"/>
                <a:cs typeface="Calibri" pitchFamily="34" charset="-120"/>
              </a:rPr>
              <a:t>Im Neubau nur, wenn die Hülle 45 % besser ist als §§ 16/19, im Bestand 30 % besser.</a:t>
            </a:r>
            <a:endParaRPr lang="en-US" sz="1200" dirty="0"/>
          </a:p>
          <a:p>
            <a:pPr indent="0" marL="0">
              <a:buNone/>
            </a:pPr>
            <a:r>
              <a:rPr lang="en-US" sz="1200" dirty="0">
                <a:solidFill>
                  <a:srgbClr val="1A1819"/>
                </a:solidFill>
                <a:latin typeface="Calibri" pitchFamily="34" charset="0"/>
                <a:ea typeface="Calibri" pitchFamily="34" charset="-122"/>
                <a:cs typeface="Calibri" pitchFamily="34" charset="-120"/>
              </a:rPr>
              <a:t>Ausnahme: Austausch einer Einzelraumheizung und selbstgenutzte Ein- bis Zweifamilienhäuser.</a:t>
            </a:r>
            <a:endParaRPr lang="en-US" sz="1200" dirty="0"/>
          </a:p>
        </p:txBody>
      </p:sp>
      <p:sp>
        <p:nvSpPr>
          <p:cNvPr id="38" name="Text 3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42 Abs. 2 GModG · Drs. 21/7009, S. 29-30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43</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Die Bio-Treppe</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Wer fossil einbaut, verpflichtet sich zu steigenden Bio-Anteilen.</a:t>
            </a:r>
            <a:endParaRPr lang="en-US" sz="1400" dirty="0"/>
          </a:p>
        </p:txBody>
      </p:sp>
      <p:graphicFrame>
        <p:nvGraphicFramePr>
          <p:cNvPr id="5" name="Chart 0" descr=""/>
          <p:cNvGraphicFramePr/>
          <p:nvPr/>
        </p:nvGraphicFramePr>
        <p:xfrm>
          <a:off x="566928" y="1783080"/>
          <a:ext cx="5806440" cy="3017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39128" y="1783080"/>
            <a:ext cx="4882896" cy="1024128"/>
          </a:xfrm>
          <a:prstGeom prst="roundRect">
            <a:avLst>
              <a:gd name="adj" fmla="val 8036"/>
            </a:avLst>
          </a:prstGeom>
          <a:solidFill>
            <a:srgbClr val="F5F6F3"/>
          </a:solidFill>
          <a:ln/>
        </p:spPr>
      </p:sp>
      <p:sp>
        <p:nvSpPr>
          <p:cNvPr id="7" name="Text 4"/>
          <p:cNvSpPr/>
          <p:nvPr/>
        </p:nvSpPr>
        <p:spPr>
          <a:xfrm>
            <a:off x="6949440" y="1901952"/>
            <a:ext cx="4471416" cy="274320"/>
          </a:xfrm>
          <a:prstGeom prst="rect">
            <a:avLst/>
          </a:prstGeom>
          <a:noFill/>
          <a:ln/>
        </p:spPr>
        <p:txBody>
          <a:bodyPr wrap="square" lIns="0" tIns="0" rIns="0" bIns="0" rtlCol="0" anchor="ctr"/>
          <a:lstStyle/>
          <a:p>
            <a:pPr indent="0" marL="0">
              <a:buNone/>
            </a:pPr>
            <a:r>
              <a:rPr lang="en-US" sz="1350" b="1" dirty="0">
                <a:solidFill>
                  <a:srgbClr val="2E7D3A"/>
                </a:solidFill>
                <a:latin typeface="Trebuchet MS" pitchFamily="34" charset="0"/>
                <a:ea typeface="Trebuchet MS" pitchFamily="34" charset="-122"/>
                <a:cs typeface="Trebuchet MS" pitchFamily="34" charset="-120"/>
              </a:rPr>
              <a:t>Nur für Neuanlagen</a:t>
            </a:r>
            <a:endParaRPr lang="en-US" sz="1350" dirty="0"/>
          </a:p>
        </p:txBody>
      </p:sp>
      <p:sp>
        <p:nvSpPr>
          <p:cNvPr id="8" name="Text 5"/>
          <p:cNvSpPr/>
          <p:nvPr/>
        </p:nvSpPr>
        <p:spPr>
          <a:xfrm>
            <a:off x="6949440" y="2185416"/>
            <a:ext cx="4489704" cy="530352"/>
          </a:xfrm>
          <a:prstGeom prst="rect">
            <a:avLst/>
          </a:prstGeom>
          <a:noFill/>
          <a:ln/>
        </p:spPr>
        <p:txBody>
          <a:bodyPr wrap="square" lIns="0" tIns="0" rIns="0" bIns="0" rtlCol="0" anchor="t"/>
          <a:lstStyle/>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Gilt für Gas, Heizöl und Flüssiggas, die nach Inkraft-</a:t>
            </a:r>
            <a:endParaRPr lang="en-US" sz="1050" dirty="0"/>
          </a:p>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treten neu eingebaut werden. Bestandsanlagen: keine Quote.</a:t>
            </a:r>
            <a:endParaRPr lang="en-US" sz="1050" dirty="0"/>
          </a:p>
        </p:txBody>
      </p:sp>
      <p:sp>
        <p:nvSpPr>
          <p:cNvPr id="9" name="Shape 6"/>
          <p:cNvSpPr/>
          <p:nvPr/>
        </p:nvSpPr>
        <p:spPr>
          <a:xfrm>
            <a:off x="6739128" y="2889504"/>
            <a:ext cx="4882896" cy="1024128"/>
          </a:xfrm>
          <a:prstGeom prst="roundRect">
            <a:avLst>
              <a:gd name="adj" fmla="val 8036"/>
            </a:avLst>
          </a:prstGeom>
          <a:solidFill>
            <a:srgbClr val="F5F6F3"/>
          </a:solidFill>
          <a:ln/>
        </p:spPr>
      </p:sp>
      <p:sp>
        <p:nvSpPr>
          <p:cNvPr id="10" name="Text 7"/>
          <p:cNvSpPr/>
          <p:nvPr/>
        </p:nvSpPr>
        <p:spPr>
          <a:xfrm>
            <a:off x="6949440" y="3008376"/>
            <a:ext cx="4471416" cy="274320"/>
          </a:xfrm>
          <a:prstGeom prst="rect">
            <a:avLst/>
          </a:prstGeom>
          <a:noFill/>
          <a:ln/>
        </p:spPr>
        <p:txBody>
          <a:bodyPr wrap="square" lIns="0" tIns="0" rIns="0" bIns="0" rtlCol="0" anchor="ctr"/>
          <a:lstStyle/>
          <a:p>
            <a:pPr indent="0" marL="0">
              <a:buNone/>
            </a:pPr>
            <a:r>
              <a:rPr lang="en-US" sz="1350" b="1" dirty="0">
                <a:solidFill>
                  <a:srgbClr val="2E7D3A"/>
                </a:solidFill>
                <a:latin typeface="Trebuchet MS" pitchFamily="34" charset="0"/>
                <a:ea typeface="Trebuchet MS" pitchFamily="34" charset="-122"/>
                <a:cs typeface="Trebuchet MS" pitchFamily="34" charset="-120"/>
              </a:rPr>
              <a:t>Eine Frage des Vertrags</a:t>
            </a:r>
            <a:endParaRPr lang="en-US" sz="1350" dirty="0"/>
          </a:p>
        </p:txBody>
      </p:sp>
      <p:sp>
        <p:nvSpPr>
          <p:cNvPr id="11" name="Text 8"/>
          <p:cNvSpPr/>
          <p:nvPr/>
        </p:nvSpPr>
        <p:spPr>
          <a:xfrm>
            <a:off x="6949440" y="3291840"/>
            <a:ext cx="4489704" cy="530352"/>
          </a:xfrm>
          <a:prstGeom prst="rect">
            <a:avLst/>
          </a:prstGeom>
          <a:noFill/>
          <a:ln/>
        </p:spPr>
        <p:txBody>
          <a:bodyPr wrap="square" lIns="0" tIns="0" rIns="0" bIns="0" rtlCol="0" anchor="t"/>
          <a:lstStyle/>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10 % heißt: ein Zehntel der Jahreswärme kommt bilanziell</a:t>
            </a:r>
            <a:endParaRPr lang="en-US" sz="1050" dirty="0"/>
          </a:p>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aus grünem Brennstoff. Das regelt der Liefervertrag,</a:t>
            </a:r>
            <a:endParaRPr lang="en-US" sz="1050" dirty="0"/>
          </a:p>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nicht die Technik am Kessel.</a:t>
            </a:r>
            <a:endParaRPr lang="en-US" sz="1050" dirty="0"/>
          </a:p>
        </p:txBody>
      </p:sp>
      <p:sp>
        <p:nvSpPr>
          <p:cNvPr id="12" name="Shape 9"/>
          <p:cNvSpPr/>
          <p:nvPr/>
        </p:nvSpPr>
        <p:spPr>
          <a:xfrm>
            <a:off x="6739128" y="3995928"/>
            <a:ext cx="4882896" cy="1024128"/>
          </a:xfrm>
          <a:prstGeom prst="roundRect">
            <a:avLst>
              <a:gd name="adj" fmla="val 8036"/>
            </a:avLst>
          </a:prstGeom>
          <a:solidFill>
            <a:srgbClr val="F5F6F3"/>
          </a:solidFill>
          <a:ln/>
        </p:spPr>
      </p:sp>
      <p:sp>
        <p:nvSpPr>
          <p:cNvPr id="13" name="Text 10"/>
          <p:cNvSpPr/>
          <p:nvPr/>
        </p:nvSpPr>
        <p:spPr>
          <a:xfrm>
            <a:off x="6949440" y="4114800"/>
            <a:ext cx="4471416" cy="274320"/>
          </a:xfrm>
          <a:prstGeom prst="rect">
            <a:avLst/>
          </a:prstGeom>
          <a:noFill/>
          <a:ln/>
        </p:spPr>
        <p:txBody>
          <a:bodyPr wrap="square" lIns="0" tIns="0" rIns="0" bIns="0" rtlCol="0" anchor="ctr"/>
          <a:lstStyle/>
          <a:p>
            <a:pPr indent="0" marL="0">
              <a:buNone/>
            </a:pPr>
            <a:r>
              <a:rPr lang="en-US" sz="1350" b="1" dirty="0">
                <a:solidFill>
                  <a:srgbClr val="2E7D3A"/>
                </a:solidFill>
                <a:latin typeface="Trebuchet MS" pitchFamily="34" charset="0"/>
                <a:ea typeface="Trebuchet MS" pitchFamily="34" charset="-122"/>
                <a:cs typeface="Trebuchet MS" pitchFamily="34" charset="-120"/>
              </a:rPr>
              <a:t>Nachweis + Bußgeld</a:t>
            </a:r>
            <a:endParaRPr lang="en-US" sz="1350" dirty="0"/>
          </a:p>
        </p:txBody>
      </p:sp>
      <p:sp>
        <p:nvSpPr>
          <p:cNvPr id="14" name="Text 11"/>
          <p:cNvSpPr/>
          <p:nvPr/>
        </p:nvSpPr>
        <p:spPr>
          <a:xfrm>
            <a:off x="6949440" y="4398264"/>
            <a:ext cx="4489704" cy="530352"/>
          </a:xfrm>
          <a:prstGeom prst="rect">
            <a:avLst/>
          </a:prstGeom>
          <a:noFill/>
          <a:ln/>
        </p:spPr>
        <p:txBody>
          <a:bodyPr wrap="square" lIns="0" tIns="0" rIns="0" bIns="0" rtlCol="0" anchor="t"/>
          <a:lstStyle/>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Lieferantenbestätigung in jeder Abrechnung (§ 96),</a:t>
            </a:r>
            <a:endParaRPr lang="en-US" sz="1050" dirty="0"/>
          </a:p>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5 Jahre aufbewahren. Bußgeld bis 5.000 €.</a:t>
            </a:r>
            <a:endParaRPr lang="en-US" sz="1050" dirty="0"/>
          </a:p>
        </p:txBody>
      </p:sp>
      <p:sp>
        <p:nvSpPr>
          <p:cNvPr id="15" name="Shape 12"/>
          <p:cNvSpPr/>
          <p:nvPr/>
        </p:nvSpPr>
        <p:spPr>
          <a:xfrm>
            <a:off x="566928" y="4956048"/>
            <a:ext cx="11055096" cy="786384"/>
          </a:xfrm>
          <a:prstGeom prst="roundRect">
            <a:avLst>
              <a:gd name="adj" fmla="val 10465"/>
            </a:avLst>
          </a:prstGeom>
          <a:solidFill>
            <a:srgbClr val="EDF5EE"/>
          </a:solidFill>
          <a:ln/>
        </p:spPr>
      </p:sp>
      <p:sp>
        <p:nvSpPr>
          <p:cNvPr id="16" name="Text 13"/>
          <p:cNvSpPr/>
          <p:nvPr/>
        </p:nvSpPr>
        <p:spPr>
          <a:xfrm>
            <a:off x="822960" y="5029200"/>
            <a:ext cx="4572000" cy="256032"/>
          </a:xfrm>
          <a:prstGeom prst="rect">
            <a:avLst/>
          </a:prstGeom>
          <a:noFill/>
          <a:ln/>
        </p:spPr>
        <p:txBody>
          <a:bodyPr wrap="square" lIns="0" tIns="0" rIns="0" bIns="0" rtlCol="0" anchor="ctr"/>
          <a:lstStyle/>
          <a:p>
            <a:pPr indent="0" marL="0">
              <a:buNone/>
            </a:pPr>
            <a:r>
              <a:rPr lang="en-US" sz="1250" b="1" dirty="0">
                <a:solidFill>
                  <a:srgbClr val="2E7D3A"/>
                </a:solidFill>
                <a:latin typeface="Trebuchet MS" pitchFamily="34" charset="0"/>
                <a:ea typeface="Trebuchet MS" pitchFamily="34" charset="-122"/>
                <a:cs typeface="Trebuchet MS" pitchFamily="34" charset="-120"/>
              </a:rPr>
              <a:t>Vier Wege an der Bio-Treppe vorbei (2029 bis 2034)</a:t>
            </a:r>
            <a:endParaRPr lang="en-US" sz="1250" dirty="0"/>
          </a:p>
        </p:txBody>
      </p:sp>
      <p:sp>
        <p:nvSpPr>
          <p:cNvPr id="17" name="Text 14"/>
          <p:cNvSpPr/>
          <p:nvPr/>
        </p:nvSpPr>
        <p:spPr>
          <a:xfrm>
            <a:off x="822960" y="5303520"/>
            <a:ext cx="10543032" cy="310896"/>
          </a:xfrm>
          <a:prstGeom prst="rect">
            <a:avLst/>
          </a:prstGeom>
          <a:noFill/>
          <a:ln/>
        </p:spPr>
        <p:txBody>
          <a:bodyPr wrap="square" lIns="0" tIns="0" rIns="0" bIns="0" rtlCol="0" anchor="ctr"/>
          <a:lstStyle/>
          <a:p>
            <a:pPr indent="0" marL="0">
              <a:buNone/>
            </a:pPr>
            <a:r>
              <a:rPr lang="en-US" sz="1150" dirty="0">
                <a:solidFill>
                  <a:srgbClr val="1A1819"/>
                </a:solidFill>
                <a:latin typeface="Calibri" pitchFamily="34" charset="0"/>
                <a:ea typeface="Calibri" pitchFamily="34" charset="-122"/>
                <a:cs typeface="Calibri" pitchFamily="34" charset="-120"/>
              </a:rPr>
              <a:t>Solarthermie 0,04 m²/m² (bis 2 WE) bzw. 0,03  ·  Lüftung mit WRG ≥ 73 %  ·  WP-Hybrid ≥ 30 % bivalent-parallel  ·  Biomasse-Hybrid</a:t>
            </a:r>
            <a:endParaRPr lang="en-US" sz="1150" dirty="0"/>
          </a:p>
        </p:txBody>
      </p:sp>
      <p:sp>
        <p:nvSpPr>
          <p:cNvPr id="19" name="Text 1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43 GModG · Drs. 21/7009, S. 31-34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WIRTSCHAFTLICHKEIT</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Fossil ist erlaubt - und planbar teuer</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Vier Posten, die dauerhaft auf die Betriebskosten wirken. Gehören in jede Wirtschaftlichkeitsbetrachtung.</a:t>
            </a:r>
            <a:endParaRPr lang="en-US" sz="1400" dirty="0"/>
          </a:p>
        </p:txBody>
      </p:sp>
      <p:sp>
        <p:nvSpPr>
          <p:cNvPr id="5" name="Shape 3"/>
          <p:cNvSpPr/>
          <p:nvPr/>
        </p:nvSpPr>
        <p:spPr>
          <a:xfrm>
            <a:off x="566928" y="1847088"/>
            <a:ext cx="11055096" cy="841248"/>
          </a:xfrm>
          <a:prstGeom prst="roundRect">
            <a:avLst>
              <a:gd name="adj" fmla="val 9783"/>
            </a:avLst>
          </a:prstGeom>
          <a:solidFill>
            <a:srgbClr val="F5F6F3"/>
          </a:solidFill>
          <a:ln/>
        </p:spPr>
      </p:sp>
      <p:sp>
        <p:nvSpPr>
          <p:cNvPr id="6" name="Shape 4"/>
          <p:cNvSpPr/>
          <p:nvPr/>
        </p:nvSpPr>
        <p:spPr>
          <a:xfrm>
            <a:off x="859536" y="2084832"/>
            <a:ext cx="365760" cy="365760"/>
          </a:xfrm>
          <a:prstGeom prst="ellipse">
            <a:avLst/>
          </a:prstGeom>
          <a:solidFill>
            <a:srgbClr val="2E7D3A"/>
          </a:solidFill>
          <a:ln/>
        </p:spPr>
      </p:sp>
      <p:sp>
        <p:nvSpPr>
          <p:cNvPr id="7" name="Text 5"/>
          <p:cNvSpPr/>
          <p:nvPr/>
        </p:nvSpPr>
        <p:spPr>
          <a:xfrm>
            <a:off x="859536"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89888" y="1938528"/>
            <a:ext cx="274320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Bio-Treppe (§ 43)</a:t>
            </a:r>
            <a:endParaRPr lang="en-US" sz="1450" dirty="0"/>
          </a:p>
        </p:txBody>
      </p:sp>
      <p:sp>
        <p:nvSpPr>
          <p:cNvPr id="9" name="Text 7"/>
          <p:cNvSpPr/>
          <p:nvPr/>
        </p:nvSpPr>
        <p:spPr>
          <a:xfrm>
            <a:off x="1389888" y="2249424"/>
            <a:ext cx="9912096" cy="365760"/>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Biomethan und Bioöl kosten deutlich mehr als Erdgas und Heizöl. Der Pflichtanteil steigt bis 2040 auf 60 %.</a:t>
            </a:r>
            <a:endParaRPr lang="en-US" sz="1150" dirty="0"/>
          </a:p>
        </p:txBody>
      </p:sp>
      <p:sp>
        <p:nvSpPr>
          <p:cNvPr id="10" name="Shape 8"/>
          <p:cNvSpPr/>
          <p:nvPr/>
        </p:nvSpPr>
        <p:spPr>
          <a:xfrm>
            <a:off x="566928" y="2761488"/>
            <a:ext cx="11055096" cy="841248"/>
          </a:xfrm>
          <a:prstGeom prst="roundRect">
            <a:avLst>
              <a:gd name="adj" fmla="val 9783"/>
            </a:avLst>
          </a:prstGeom>
          <a:solidFill>
            <a:srgbClr val="FFFFFF"/>
          </a:solidFill>
          <a:ln w="12700">
            <a:solidFill>
              <a:srgbClr val="D5DDD6"/>
            </a:solidFill>
            <a:prstDash val="solid"/>
          </a:ln>
        </p:spPr>
      </p:sp>
      <p:sp>
        <p:nvSpPr>
          <p:cNvPr id="11" name="Shape 9"/>
          <p:cNvSpPr/>
          <p:nvPr/>
        </p:nvSpPr>
        <p:spPr>
          <a:xfrm>
            <a:off x="859536" y="2999232"/>
            <a:ext cx="365760" cy="365760"/>
          </a:xfrm>
          <a:prstGeom prst="ellipse">
            <a:avLst/>
          </a:prstGeom>
          <a:solidFill>
            <a:srgbClr val="2E7D3A"/>
          </a:solidFill>
          <a:ln/>
        </p:spPr>
      </p:sp>
      <p:sp>
        <p:nvSpPr>
          <p:cNvPr id="12" name="Text 10"/>
          <p:cNvSpPr/>
          <p:nvPr/>
        </p:nvSpPr>
        <p:spPr>
          <a:xfrm>
            <a:off x="859536" y="29992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89888" y="2852928"/>
            <a:ext cx="274320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CO₂-Preis</a:t>
            </a:r>
            <a:endParaRPr lang="en-US" sz="1450" dirty="0"/>
          </a:p>
        </p:txBody>
      </p:sp>
      <p:sp>
        <p:nvSpPr>
          <p:cNvPr id="14" name="Text 12"/>
          <p:cNvSpPr/>
          <p:nvPr/>
        </p:nvSpPr>
        <p:spPr>
          <a:xfrm>
            <a:off x="1389888" y="3163824"/>
            <a:ext cx="9912096" cy="365760"/>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Ab 2027 übernimmt der EU-Emissionshandel (ETS 2) die Bepreisung. Kein fester Preispfad mehr - der Markt entscheidet.</a:t>
            </a:r>
            <a:endParaRPr lang="en-US" sz="1150" dirty="0"/>
          </a:p>
        </p:txBody>
      </p:sp>
      <p:sp>
        <p:nvSpPr>
          <p:cNvPr id="15" name="Shape 13"/>
          <p:cNvSpPr/>
          <p:nvPr/>
        </p:nvSpPr>
        <p:spPr>
          <a:xfrm>
            <a:off x="566928" y="3675888"/>
            <a:ext cx="11055096" cy="841248"/>
          </a:xfrm>
          <a:prstGeom prst="roundRect">
            <a:avLst>
              <a:gd name="adj" fmla="val 9783"/>
            </a:avLst>
          </a:prstGeom>
          <a:solidFill>
            <a:srgbClr val="F5F6F3"/>
          </a:solidFill>
          <a:ln/>
        </p:spPr>
      </p:sp>
      <p:sp>
        <p:nvSpPr>
          <p:cNvPr id="16" name="Shape 14"/>
          <p:cNvSpPr/>
          <p:nvPr/>
        </p:nvSpPr>
        <p:spPr>
          <a:xfrm>
            <a:off x="859536" y="3913632"/>
            <a:ext cx="365760" cy="365760"/>
          </a:xfrm>
          <a:prstGeom prst="ellipse">
            <a:avLst/>
          </a:prstGeom>
          <a:solidFill>
            <a:srgbClr val="2E7D3A"/>
          </a:solidFill>
          <a:ln/>
        </p:spPr>
      </p:sp>
      <p:sp>
        <p:nvSpPr>
          <p:cNvPr id="17" name="Text 15"/>
          <p:cNvSpPr/>
          <p:nvPr/>
        </p:nvSpPr>
        <p:spPr>
          <a:xfrm>
            <a:off x="859536"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89888" y="3767328"/>
            <a:ext cx="274320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Grüngasquote (§ 42a)</a:t>
            </a:r>
            <a:endParaRPr lang="en-US" sz="1450" dirty="0"/>
          </a:p>
        </p:txBody>
      </p:sp>
      <p:sp>
        <p:nvSpPr>
          <p:cNvPr id="19" name="Text 17"/>
          <p:cNvSpPr/>
          <p:nvPr/>
        </p:nvSpPr>
        <p:spPr>
          <a:xfrm>
            <a:off x="1389888" y="4078224"/>
            <a:ext cx="9912096" cy="365760"/>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Lieferanten müssen ab 2028 steigende Grünanteile liefern (Start ca. 1 %), bis 2045 vollständig klimaneutral. Die Kosten landen im Arbeitspreis.</a:t>
            </a:r>
            <a:endParaRPr lang="en-US" sz="1150" dirty="0"/>
          </a:p>
        </p:txBody>
      </p:sp>
      <p:sp>
        <p:nvSpPr>
          <p:cNvPr id="20" name="Shape 18"/>
          <p:cNvSpPr/>
          <p:nvPr/>
        </p:nvSpPr>
        <p:spPr>
          <a:xfrm>
            <a:off x="566928" y="4590288"/>
            <a:ext cx="11055096" cy="841248"/>
          </a:xfrm>
          <a:prstGeom prst="roundRect">
            <a:avLst>
              <a:gd name="adj" fmla="val 9783"/>
            </a:avLst>
          </a:prstGeom>
          <a:solidFill>
            <a:srgbClr val="FFFFFF"/>
          </a:solidFill>
          <a:ln w="12700">
            <a:solidFill>
              <a:srgbClr val="D5DDD6"/>
            </a:solidFill>
            <a:prstDash val="solid"/>
          </a:ln>
        </p:spPr>
      </p:sp>
      <p:sp>
        <p:nvSpPr>
          <p:cNvPr id="21" name="Shape 19"/>
          <p:cNvSpPr/>
          <p:nvPr/>
        </p:nvSpPr>
        <p:spPr>
          <a:xfrm>
            <a:off x="859536" y="4828032"/>
            <a:ext cx="365760" cy="365760"/>
          </a:xfrm>
          <a:prstGeom prst="ellipse">
            <a:avLst/>
          </a:prstGeom>
          <a:solidFill>
            <a:srgbClr val="2E7D3A"/>
          </a:solidFill>
          <a:ln/>
        </p:spPr>
      </p:sp>
      <p:sp>
        <p:nvSpPr>
          <p:cNvPr id="22" name="Text 20"/>
          <p:cNvSpPr/>
          <p:nvPr/>
        </p:nvSpPr>
        <p:spPr>
          <a:xfrm>
            <a:off x="859536"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389888" y="4681728"/>
            <a:ext cx="2743200" cy="310896"/>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Kostenteilung (vermietet)</a:t>
            </a:r>
            <a:endParaRPr lang="en-US" sz="1450" dirty="0"/>
          </a:p>
        </p:txBody>
      </p:sp>
      <p:sp>
        <p:nvSpPr>
          <p:cNvPr id="24" name="Text 22"/>
          <p:cNvSpPr/>
          <p:nvPr/>
        </p:nvSpPr>
        <p:spPr>
          <a:xfrm>
            <a:off x="1389888" y="4992624"/>
            <a:ext cx="9912096" cy="365760"/>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Ab 2028/2029 trägt der Vermieter CO₂-Kosten, Netzentgelte und Bio-Mehrkosten dauerhaft zur Hälfte selbst.</a:t>
            </a:r>
            <a:endParaRPr lang="en-US" sz="1150" dirty="0"/>
          </a:p>
        </p:txBody>
      </p:sp>
      <p:sp>
        <p:nvSpPr>
          <p:cNvPr id="25" name="Shape 23"/>
          <p:cNvSpPr/>
          <p:nvPr/>
        </p:nvSpPr>
        <p:spPr>
          <a:xfrm>
            <a:off x="566928" y="5577840"/>
            <a:ext cx="11055096" cy="603504"/>
          </a:xfrm>
          <a:prstGeom prst="roundRect">
            <a:avLst>
              <a:gd name="adj" fmla="val 13636"/>
            </a:avLst>
          </a:prstGeom>
          <a:solidFill>
            <a:srgbClr val="1A1819"/>
          </a:solidFill>
          <a:ln/>
        </p:spPr>
      </p:sp>
      <p:sp>
        <p:nvSpPr>
          <p:cNvPr id="26" name="Text 24"/>
          <p:cNvSpPr/>
          <p:nvPr/>
        </p:nvSpPr>
        <p:spPr>
          <a:xfrm>
            <a:off x="841248" y="5577840"/>
            <a:ext cx="10506456" cy="603504"/>
          </a:xfrm>
          <a:prstGeom prst="rect">
            <a:avLst/>
          </a:prstGeom>
          <a:noFill/>
          <a:ln/>
        </p:spPr>
        <p:txBody>
          <a:bodyPr wrap="square" lIns="0" tIns="0" rIns="0" bIns="0" rtlCol="0" anchor="ctr"/>
          <a:lstStyle/>
          <a:p>
            <a:pPr indent="0" marL="0">
              <a:buNone/>
            </a:pPr>
            <a:r>
              <a:rPr lang="en-US" sz="1250" b="1" dirty="0">
                <a:solidFill>
                  <a:srgbClr val="58B264"/>
                </a:solidFill>
                <a:latin typeface="Calibri" pitchFamily="34" charset="0"/>
                <a:ea typeface="Calibri" pitchFamily="34" charset="-122"/>
                <a:cs typeface="Calibri" pitchFamily="34" charset="-120"/>
              </a:rPr>
              <a:t>Unsere Linie:  </a:t>
            </a:r>
            <a:pPr indent="0" marL="0">
              <a:buNone/>
            </a:pPr>
            <a:r>
              <a:rPr lang="en-US" sz="1250" dirty="0">
                <a:solidFill>
                  <a:srgbClr val="FFFFFF"/>
                </a:solidFill>
                <a:latin typeface="Calibri" pitchFamily="34" charset="0"/>
                <a:ea typeface="Calibri" pitchFamily="34" charset="-122"/>
                <a:cs typeface="Calibri" pitchFamily="34" charset="-120"/>
              </a:rPr>
              <a:t>Fossil ist nicht verboten - aber wir rechnen die Restlaufzeit ehrlich durch. Ab 2040 liegt die Wärmepumpe im Kostenvergleich meist vorn.</a:t>
            </a:r>
            <a:endParaRPr lang="en-US" sz="125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42a, 43 GModG · §§ 5a ff. CO2KostAufG · EU-Emissionshandel ETS 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43 ABS. 7</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Wenn der Kessel stirbt: 12 Monate Luft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Der irreparable Ausfall ersetzt die bisherigen Übergangsfristen.</a:t>
            </a:r>
            <a:endParaRPr lang="en-US" sz="1400" dirty="0"/>
          </a:p>
        </p:txBody>
      </p:sp>
      <p:sp>
        <p:nvSpPr>
          <p:cNvPr id="5" name="Shape 3"/>
          <p:cNvSpPr/>
          <p:nvPr/>
        </p:nvSpPr>
        <p:spPr>
          <a:xfrm>
            <a:off x="566928" y="1847088"/>
            <a:ext cx="3502152" cy="2331720"/>
          </a:xfrm>
          <a:prstGeom prst="roundRect">
            <a:avLst>
              <a:gd name="adj" fmla="val 3529"/>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04672" y="2066544"/>
            <a:ext cx="841248" cy="310896"/>
          </a:xfrm>
          <a:prstGeom prst="roundRect">
            <a:avLst>
              <a:gd name="adj" fmla="val 50000"/>
            </a:avLst>
          </a:prstGeom>
          <a:solidFill>
            <a:srgbClr val="2E7D3A"/>
          </a:solidFill>
          <a:ln/>
        </p:spPr>
      </p:sp>
      <p:sp>
        <p:nvSpPr>
          <p:cNvPr id="7" name="Text 5"/>
          <p:cNvSpPr/>
          <p:nvPr/>
        </p:nvSpPr>
        <p:spPr>
          <a:xfrm>
            <a:off x="804672" y="2066544"/>
            <a:ext cx="8412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Fall 1</a:t>
            </a:r>
            <a:endParaRPr lang="en-US" sz="1100" dirty="0"/>
          </a:p>
        </p:txBody>
      </p:sp>
      <p:sp>
        <p:nvSpPr>
          <p:cNvPr id="8" name="Text 6"/>
          <p:cNvSpPr/>
          <p:nvPr/>
        </p:nvSpPr>
        <p:spPr>
          <a:xfrm>
            <a:off x="804672" y="2487168"/>
            <a:ext cx="3026664" cy="658368"/>
          </a:xfrm>
          <a:prstGeom prst="rect">
            <a:avLst/>
          </a:prstGeom>
          <a:noFill/>
          <a:ln/>
        </p:spPr>
        <p:txBody>
          <a:bodyPr wrap="square" lIns="0" tIns="0" rIns="0" bIns="0" rtlCol="0" anchor="t"/>
          <a:lstStyle/>
          <a:p>
            <a:pPr indent="0" marL="0">
              <a:lnSpc>
                <a:spcPts val="1900"/>
              </a:lnSpc>
              <a:buNone/>
            </a:pPr>
            <a:r>
              <a:rPr lang="en-US" sz="1500" b="1" dirty="0">
                <a:solidFill>
                  <a:srgbClr val="1A1819"/>
                </a:solidFill>
                <a:latin typeface="Trebuchet MS" pitchFamily="34" charset="0"/>
                <a:ea typeface="Trebuchet MS" pitchFamily="34" charset="-122"/>
                <a:cs typeface="Trebuchet MS" pitchFamily="34" charset="-120"/>
              </a:rPr>
              <a:t>Havarie im Jahr 2028</a:t>
            </a:r>
            <a:endParaRPr lang="en-US" sz="1500" dirty="0"/>
          </a:p>
        </p:txBody>
      </p:sp>
      <p:sp>
        <p:nvSpPr>
          <p:cNvPr id="9" name="Text 7"/>
          <p:cNvSpPr/>
          <p:nvPr/>
        </p:nvSpPr>
        <p:spPr>
          <a:xfrm>
            <a:off x="804672" y="3163824"/>
            <a:ext cx="3026664" cy="868680"/>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Neue Gas- oder Öl-Heizung wegen irreparablen Ausfalls: Die Bio-Treppe greift erst 12 Monate nach Einbau - nicht schon am 01.01.2029.</a:t>
            </a:r>
            <a:endParaRPr lang="en-US" sz="1150" dirty="0"/>
          </a:p>
        </p:txBody>
      </p:sp>
      <p:sp>
        <p:nvSpPr>
          <p:cNvPr id="10" name="Shape 8"/>
          <p:cNvSpPr/>
          <p:nvPr/>
        </p:nvSpPr>
        <p:spPr>
          <a:xfrm>
            <a:off x="4343400" y="1847088"/>
            <a:ext cx="3502152" cy="2331720"/>
          </a:xfrm>
          <a:prstGeom prst="roundRect">
            <a:avLst>
              <a:gd name="adj" fmla="val 3529"/>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4581144" y="2066544"/>
            <a:ext cx="841248" cy="310896"/>
          </a:xfrm>
          <a:prstGeom prst="roundRect">
            <a:avLst>
              <a:gd name="adj" fmla="val 50000"/>
            </a:avLst>
          </a:prstGeom>
          <a:solidFill>
            <a:srgbClr val="2E7D3A"/>
          </a:solidFill>
          <a:ln/>
        </p:spPr>
      </p:sp>
      <p:sp>
        <p:nvSpPr>
          <p:cNvPr id="12" name="Text 10"/>
          <p:cNvSpPr/>
          <p:nvPr/>
        </p:nvSpPr>
        <p:spPr>
          <a:xfrm>
            <a:off x="4581144" y="2066544"/>
            <a:ext cx="8412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Fall 2</a:t>
            </a:r>
            <a:endParaRPr lang="en-US" sz="1100" dirty="0"/>
          </a:p>
        </p:txBody>
      </p:sp>
      <p:sp>
        <p:nvSpPr>
          <p:cNvPr id="13" name="Text 11"/>
          <p:cNvSpPr/>
          <p:nvPr/>
        </p:nvSpPr>
        <p:spPr>
          <a:xfrm>
            <a:off x="4581144" y="2487168"/>
            <a:ext cx="3026664" cy="658368"/>
          </a:xfrm>
          <a:prstGeom prst="rect">
            <a:avLst/>
          </a:prstGeom>
          <a:noFill/>
          <a:ln/>
        </p:spPr>
        <p:txBody>
          <a:bodyPr wrap="square" lIns="0" tIns="0" rIns="0" bIns="0" rtlCol="0" anchor="t"/>
          <a:lstStyle/>
          <a:p>
            <a:pPr indent="0" marL="0">
              <a:lnSpc>
                <a:spcPts val="1900"/>
              </a:lnSpc>
              <a:buNone/>
            </a:pPr>
            <a:r>
              <a:rPr lang="en-US" sz="1500" b="1" dirty="0">
                <a:solidFill>
                  <a:srgbClr val="1A1819"/>
                </a:solidFill>
                <a:latin typeface="Trebuchet MS" pitchFamily="34" charset="0"/>
                <a:ea typeface="Trebuchet MS" pitchFamily="34" charset="-122"/>
                <a:cs typeface="Trebuchet MS" pitchFamily="34" charset="-120"/>
              </a:rPr>
              <a:t>Havarie ab 2029,</a:t>
            </a:r>
            <a:endParaRPr lang="en-US" sz="1500" dirty="0"/>
          </a:p>
          <a:p>
            <a:pPr indent="0" marL="0">
              <a:lnSpc>
                <a:spcPts val="1900"/>
              </a:lnSpc>
              <a:buNone/>
            </a:pPr>
            <a:r>
              <a:rPr lang="en-US" sz="1500" b="1" dirty="0">
                <a:solidFill>
                  <a:srgbClr val="1A1819"/>
                </a:solidFill>
                <a:latin typeface="Trebuchet MS" pitchFamily="34" charset="0"/>
                <a:ea typeface="Trebuchet MS" pitchFamily="34" charset="-122"/>
                <a:cs typeface="Trebuchet MS" pitchFamily="34" charset="-120"/>
              </a:rPr>
              <a:t>Anlage aus GModG-Zeit</a:t>
            </a:r>
            <a:endParaRPr lang="en-US" sz="1500" dirty="0"/>
          </a:p>
        </p:txBody>
      </p:sp>
      <p:sp>
        <p:nvSpPr>
          <p:cNvPr id="14" name="Text 12"/>
          <p:cNvSpPr/>
          <p:nvPr/>
        </p:nvSpPr>
        <p:spPr>
          <a:xfrm>
            <a:off x="4581144" y="3163824"/>
            <a:ext cx="3026664" cy="868680"/>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Die beim Ausfall geltende Stufe wird für 12 Monate eingefroren. Beispiel: Havarie 2034 - die 30-%-Stufe ab 2035 greift erst später.</a:t>
            </a:r>
            <a:endParaRPr lang="en-US" sz="1150" dirty="0"/>
          </a:p>
        </p:txBody>
      </p:sp>
      <p:sp>
        <p:nvSpPr>
          <p:cNvPr id="15" name="Shape 13"/>
          <p:cNvSpPr/>
          <p:nvPr/>
        </p:nvSpPr>
        <p:spPr>
          <a:xfrm>
            <a:off x="8119872" y="1847088"/>
            <a:ext cx="3502152" cy="2331720"/>
          </a:xfrm>
          <a:prstGeom prst="roundRect">
            <a:avLst>
              <a:gd name="adj" fmla="val 3529"/>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357616" y="2066544"/>
            <a:ext cx="841248" cy="310896"/>
          </a:xfrm>
          <a:prstGeom prst="roundRect">
            <a:avLst>
              <a:gd name="adj" fmla="val 50000"/>
            </a:avLst>
          </a:prstGeom>
          <a:solidFill>
            <a:srgbClr val="2E7D3A"/>
          </a:solidFill>
          <a:ln/>
        </p:spPr>
      </p:sp>
      <p:sp>
        <p:nvSpPr>
          <p:cNvPr id="17" name="Text 15"/>
          <p:cNvSpPr/>
          <p:nvPr/>
        </p:nvSpPr>
        <p:spPr>
          <a:xfrm>
            <a:off x="8357616" y="2066544"/>
            <a:ext cx="8412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Fall 3</a:t>
            </a:r>
            <a:endParaRPr lang="en-US" sz="1100" dirty="0"/>
          </a:p>
        </p:txBody>
      </p:sp>
      <p:sp>
        <p:nvSpPr>
          <p:cNvPr id="18" name="Text 16"/>
          <p:cNvSpPr/>
          <p:nvPr/>
        </p:nvSpPr>
        <p:spPr>
          <a:xfrm>
            <a:off x="8357616" y="2487168"/>
            <a:ext cx="3026664" cy="658368"/>
          </a:xfrm>
          <a:prstGeom prst="rect">
            <a:avLst/>
          </a:prstGeom>
          <a:noFill/>
          <a:ln/>
        </p:spPr>
        <p:txBody>
          <a:bodyPr wrap="square" lIns="0" tIns="0" rIns="0" bIns="0" rtlCol="0" anchor="t"/>
          <a:lstStyle/>
          <a:p>
            <a:pPr indent="0" marL="0">
              <a:lnSpc>
                <a:spcPts val="1900"/>
              </a:lnSpc>
              <a:buNone/>
            </a:pPr>
            <a:r>
              <a:rPr lang="en-US" sz="1500" b="1" dirty="0">
                <a:solidFill>
                  <a:srgbClr val="1A1819"/>
                </a:solidFill>
                <a:latin typeface="Trebuchet MS" pitchFamily="34" charset="0"/>
                <a:ea typeface="Trebuchet MS" pitchFamily="34" charset="-122"/>
                <a:cs typeface="Trebuchet MS" pitchFamily="34" charset="-120"/>
              </a:rPr>
              <a:t>Havarie ab 2029,</a:t>
            </a:r>
            <a:endParaRPr lang="en-US" sz="1500" dirty="0"/>
          </a:p>
          <a:p>
            <a:pPr indent="0" marL="0">
              <a:lnSpc>
                <a:spcPts val="1900"/>
              </a:lnSpc>
              <a:buNone/>
            </a:pPr>
            <a:r>
              <a:rPr lang="en-US" sz="1500" b="1" dirty="0">
                <a:solidFill>
                  <a:srgbClr val="1A1819"/>
                </a:solidFill>
                <a:latin typeface="Trebuchet MS" pitchFamily="34" charset="0"/>
                <a:ea typeface="Trebuchet MS" pitchFamily="34" charset="-122"/>
                <a:cs typeface="Trebuchet MS" pitchFamily="34" charset="-120"/>
              </a:rPr>
              <a:t>Altanlage von vorher</a:t>
            </a:r>
            <a:endParaRPr lang="en-US" sz="1500" dirty="0"/>
          </a:p>
        </p:txBody>
      </p:sp>
      <p:sp>
        <p:nvSpPr>
          <p:cNvPr id="19" name="Text 17"/>
          <p:cNvSpPr/>
          <p:nvPr/>
        </p:nvSpPr>
        <p:spPr>
          <a:xfrm>
            <a:off x="8357616" y="3163824"/>
            <a:ext cx="3026664" cy="868680"/>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12 Monate lang gar keine Quote. Danach gilt die dann aktuelle Stufe der Bio-Treppe.</a:t>
            </a:r>
            <a:endParaRPr lang="en-US" sz="1150" dirty="0"/>
          </a:p>
        </p:txBody>
      </p:sp>
      <p:sp>
        <p:nvSpPr>
          <p:cNvPr id="20" name="Shape 18"/>
          <p:cNvSpPr/>
          <p:nvPr/>
        </p:nvSpPr>
        <p:spPr>
          <a:xfrm>
            <a:off x="566928" y="4389120"/>
            <a:ext cx="5390388" cy="1078992"/>
          </a:xfrm>
          <a:prstGeom prst="roundRect">
            <a:avLst>
              <a:gd name="adj" fmla="val 7627"/>
            </a:avLst>
          </a:prstGeom>
          <a:solidFill>
            <a:srgbClr val="EDF5EE"/>
          </a:solidFill>
          <a:ln/>
        </p:spPr>
      </p:sp>
      <p:sp>
        <p:nvSpPr>
          <p:cNvPr id="21" name="Text 19"/>
          <p:cNvSpPr/>
          <p:nvPr/>
        </p:nvSpPr>
        <p:spPr>
          <a:xfrm>
            <a:off x="822960" y="4535424"/>
            <a:ext cx="4878324" cy="274320"/>
          </a:xfrm>
          <a:prstGeom prst="rect">
            <a:avLst/>
          </a:prstGeom>
          <a:noFill/>
          <a:ln/>
        </p:spPr>
        <p:txBody>
          <a:bodyPr wrap="square" lIns="0" tIns="0" rIns="0" bIns="0" rtlCol="0" anchor="ctr"/>
          <a:lstStyle/>
          <a:p>
            <a:pPr indent="0" marL="0">
              <a:buNone/>
            </a:pPr>
            <a:r>
              <a:rPr lang="en-US" sz="1400" b="1" dirty="0">
                <a:solidFill>
                  <a:srgbClr val="2E7D3A"/>
                </a:solidFill>
                <a:latin typeface="Trebuchet MS" pitchFamily="34" charset="0"/>
                <a:ea typeface="Trebuchet MS" pitchFamily="34" charset="-122"/>
                <a:cs typeface="Trebuchet MS" pitchFamily="34" charset="-120"/>
              </a:rPr>
              <a:t>Beratungspflicht entfällt</a:t>
            </a:r>
            <a:endParaRPr lang="en-US" sz="1400" dirty="0"/>
          </a:p>
        </p:txBody>
      </p:sp>
      <p:sp>
        <p:nvSpPr>
          <p:cNvPr id="22" name="Text 20"/>
          <p:cNvSpPr/>
          <p:nvPr/>
        </p:nvSpPr>
        <p:spPr>
          <a:xfrm>
            <a:off x="822960" y="4828032"/>
            <a:ext cx="4878324" cy="530352"/>
          </a:xfrm>
          <a:prstGeom prst="rect">
            <a:avLst/>
          </a:prstGeom>
          <a:noFill/>
          <a:ln/>
        </p:spPr>
        <p:txBody>
          <a:bodyPr wrap="square" lIns="0" tIns="0" rIns="0" bIns="0" rtlCol="0" anchor="t"/>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Die verpflichtende Beratung vor dem Einbau fossiler Heizungen (§ 71 Abs. 11 GEG) wird ersatzlos gestrichen.</a:t>
            </a:r>
            <a:endParaRPr lang="en-US" sz="1150" dirty="0"/>
          </a:p>
        </p:txBody>
      </p:sp>
      <p:sp>
        <p:nvSpPr>
          <p:cNvPr id="23" name="Shape 21"/>
          <p:cNvSpPr/>
          <p:nvPr/>
        </p:nvSpPr>
        <p:spPr>
          <a:xfrm>
            <a:off x="6231636" y="4389120"/>
            <a:ext cx="5390388" cy="1078992"/>
          </a:xfrm>
          <a:prstGeom prst="roundRect">
            <a:avLst>
              <a:gd name="adj" fmla="val 7627"/>
            </a:avLst>
          </a:prstGeom>
          <a:solidFill>
            <a:srgbClr val="EDF5EE"/>
          </a:solidFill>
          <a:ln/>
        </p:spPr>
      </p:sp>
      <p:sp>
        <p:nvSpPr>
          <p:cNvPr id="24" name="Text 22"/>
          <p:cNvSpPr/>
          <p:nvPr/>
        </p:nvSpPr>
        <p:spPr>
          <a:xfrm>
            <a:off x="6487668" y="4535424"/>
            <a:ext cx="4878324" cy="274320"/>
          </a:xfrm>
          <a:prstGeom prst="rect">
            <a:avLst/>
          </a:prstGeom>
          <a:noFill/>
          <a:ln/>
        </p:spPr>
        <p:txBody>
          <a:bodyPr wrap="square" lIns="0" tIns="0" rIns="0" bIns="0" rtlCol="0" anchor="ctr"/>
          <a:lstStyle/>
          <a:p>
            <a:pPr indent="0" marL="0">
              <a:buNone/>
            </a:pPr>
            <a:r>
              <a:rPr lang="en-US" sz="1400" b="1" dirty="0">
                <a:solidFill>
                  <a:srgbClr val="2E7D3A"/>
                </a:solidFill>
                <a:latin typeface="Trebuchet MS" pitchFamily="34" charset="0"/>
                <a:ea typeface="Trebuchet MS" pitchFamily="34" charset="-122"/>
                <a:cs typeface="Trebuchet MS" pitchFamily="34" charset="-120"/>
              </a:rPr>
              <a:t>Mietrecht läuft parallel</a:t>
            </a:r>
            <a:endParaRPr lang="en-US" sz="1400" dirty="0"/>
          </a:p>
        </p:txBody>
      </p:sp>
      <p:sp>
        <p:nvSpPr>
          <p:cNvPr id="25" name="Text 23"/>
          <p:cNvSpPr/>
          <p:nvPr/>
        </p:nvSpPr>
        <p:spPr>
          <a:xfrm>
            <a:off x="6487668" y="4828032"/>
            <a:ext cx="4878324" cy="530352"/>
          </a:xfrm>
          <a:prstGeom prst="rect">
            <a:avLst/>
          </a:prstGeom>
          <a:noFill/>
          <a:ln/>
        </p:spPr>
        <p:txBody>
          <a:bodyPr wrap="square" lIns="0" tIns="0" rIns="0" bIns="0" rtlCol="0" anchor="t"/>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Auch die CO₂-Kostenteilung pausiert bei Havarie-Einbau 12 Monate (§ 5a Abs. 4 CO2KostAufG).</a:t>
            </a:r>
            <a:endParaRPr lang="en-US" sz="1150" dirty="0"/>
          </a:p>
        </p:txBody>
      </p:sp>
      <p:sp>
        <p:nvSpPr>
          <p:cNvPr id="27" name="Text 2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43 Abs. 7 GModG · Drs. 21/7009, S. 33 (Begründung S. 169)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MIETRECHT</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Vermietete Objekte: zwei neue Baustellen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Betrifft alle Projekte mit Vermieterinnen und Vermietern als Auftraggeber.</a:t>
            </a:r>
            <a:endParaRPr lang="en-US" sz="1400" dirty="0"/>
          </a:p>
        </p:txBody>
      </p:sp>
      <p:sp>
        <p:nvSpPr>
          <p:cNvPr id="5" name="Shape 3"/>
          <p:cNvSpPr/>
          <p:nvPr/>
        </p:nvSpPr>
        <p:spPr>
          <a:xfrm>
            <a:off x="566928" y="1828800"/>
            <a:ext cx="5372100" cy="3767328"/>
          </a:xfrm>
          <a:prstGeom prst="roundRect">
            <a:avLst>
              <a:gd name="adj" fmla="val 2184"/>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11680"/>
            <a:ext cx="2743200" cy="256032"/>
          </a:xfrm>
          <a:prstGeom prst="rect">
            <a:avLst/>
          </a:prstGeom>
          <a:noFill/>
          <a:ln/>
        </p:spPr>
        <p:txBody>
          <a:bodyPr wrap="square" lIns="0" tIns="0" rIns="0" bIns="0" rtlCol="0" anchor="ctr"/>
          <a:lstStyle/>
          <a:p>
            <a:pPr indent="0" marL="0">
              <a:buNone/>
            </a:pPr>
            <a:r>
              <a:rPr lang="en-US" sz="1100" b="1" spc="140" kern="0" dirty="0">
                <a:solidFill>
                  <a:srgbClr val="2E7D3A"/>
                </a:solidFill>
                <a:latin typeface="Calibri" pitchFamily="34" charset="0"/>
                <a:ea typeface="Calibri" pitchFamily="34" charset="-122"/>
                <a:cs typeface="Calibri" pitchFamily="34" charset="-120"/>
              </a:rPr>
              <a:t>§ 559f BGB</a:t>
            </a:r>
            <a:endParaRPr lang="en-US" sz="1100" dirty="0"/>
          </a:p>
        </p:txBody>
      </p:sp>
      <p:sp>
        <p:nvSpPr>
          <p:cNvPr id="7" name="Text 5"/>
          <p:cNvSpPr/>
          <p:nvPr/>
        </p:nvSpPr>
        <p:spPr>
          <a:xfrm>
            <a:off x="859536" y="2286000"/>
            <a:ext cx="4786884" cy="640080"/>
          </a:xfrm>
          <a:prstGeom prst="rect">
            <a:avLst/>
          </a:prstGeom>
          <a:noFill/>
          <a:ln/>
        </p:spPr>
        <p:txBody>
          <a:bodyPr wrap="square" lIns="0" tIns="0" rIns="0" bIns="0" rtlCol="0" anchor="t"/>
          <a:lstStyle/>
          <a:p>
            <a:pPr indent="0" marL="0">
              <a:lnSpc>
                <a:spcPts val="2400"/>
              </a:lnSpc>
              <a:buNone/>
            </a:pPr>
            <a:r>
              <a:rPr lang="en-US" sz="1900" b="1" dirty="0">
                <a:solidFill>
                  <a:srgbClr val="1A1819"/>
                </a:solidFill>
                <a:latin typeface="Trebuchet MS" pitchFamily="34" charset="0"/>
                <a:ea typeface="Trebuchet MS" pitchFamily="34" charset="-122"/>
                <a:cs typeface="Trebuchet MS" pitchFamily="34" charset="-120"/>
              </a:rPr>
              <a:t>Ohne JAZ-Nachweis nur</a:t>
            </a:r>
            <a:endParaRPr lang="en-US" sz="1900" dirty="0"/>
          </a:p>
          <a:p>
            <a:pPr indent="0" marL="0">
              <a:lnSpc>
                <a:spcPts val="2400"/>
              </a:lnSpc>
              <a:buNone/>
            </a:pPr>
            <a:r>
              <a:rPr lang="en-US" sz="1900" b="1" dirty="0">
                <a:solidFill>
                  <a:srgbClr val="1A1819"/>
                </a:solidFill>
                <a:latin typeface="Trebuchet MS" pitchFamily="34" charset="0"/>
                <a:ea typeface="Trebuchet MS" pitchFamily="34" charset="-122"/>
                <a:cs typeface="Trebuchet MS" pitchFamily="34" charset="-120"/>
              </a:rPr>
              <a:t>die halbe Umlage</a:t>
            </a:r>
            <a:endParaRPr lang="en-US" sz="1900" dirty="0"/>
          </a:p>
        </p:txBody>
      </p:sp>
      <p:sp>
        <p:nvSpPr>
          <p:cNvPr id="8" name="Text 6"/>
          <p:cNvSpPr/>
          <p:nvPr/>
        </p:nvSpPr>
        <p:spPr>
          <a:xfrm>
            <a:off x="896112" y="3017520"/>
            <a:ext cx="4713732" cy="17373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Jahresarbeitszahl ≥ 2,5 nachgewiesen  →  volle Umlage, 8 % der Kosten pro Jahr</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Kein Nachweis  →  nur 50 % der Kosten dürfen umgelegt werden</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Nachweis nach VDI 4650 Blatt 1, in der Regel vor Inbetriebnahme, durch das Fachunternehmen</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Nicht nötig bei: Baujahr nach 1996, WSchV-1995-Niveau, Sanierung auf § 38-Niveau oder Vorlauftemperatur ≤ 55 °C</a:t>
            </a:r>
            <a:endParaRPr lang="en-US" sz="1150" dirty="0"/>
          </a:p>
        </p:txBody>
      </p:sp>
      <p:sp>
        <p:nvSpPr>
          <p:cNvPr id="9" name="Shape 7"/>
          <p:cNvSpPr/>
          <p:nvPr/>
        </p:nvSpPr>
        <p:spPr>
          <a:xfrm>
            <a:off x="859536" y="4828032"/>
            <a:ext cx="4786884" cy="585216"/>
          </a:xfrm>
          <a:prstGeom prst="roundRect">
            <a:avLst>
              <a:gd name="adj" fmla="val 14063"/>
            </a:avLst>
          </a:prstGeom>
          <a:solidFill>
            <a:srgbClr val="EDF5EE"/>
          </a:solidFill>
          <a:ln/>
        </p:spPr>
      </p:sp>
      <p:sp>
        <p:nvSpPr>
          <p:cNvPr id="10" name="Text 8"/>
          <p:cNvSpPr/>
          <p:nvPr/>
        </p:nvSpPr>
        <p:spPr>
          <a:xfrm>
            <a:off x="1042416" y="4828032"/>
            <a:ext cx="4421124" cy="585216"/>
          </a:xfrm>
          <a:prstGeom prst="rect">
            <a:avLst/>
          </a:prstGeom>
          <a:noFill/>
          <a:ln/>
        </p:spPr>
        <p:txBody>
          <a:bodyPr wrap="square" lIns="0" tIns="0" rIns="0" bIns="0" rtlCol="0" anchor="ctr"/>
          <a:lstStyle/>
          <a:p>
            <a:pPr indent="0" marL="0">
              <a:buNone/>
            </a:pPr>
            <a:r>
              <a:rPr lang="en-US" sz="1100" b="1" dirty="0">
                <a:solidFill>
                  <a:srgbClr val="2E7D3A"/>
                </a:solidFill>
                <a:latin typeface="Calibri" pitchFamily="34" charset="0"/>
                <a:ea typeface="Calibri" pitchFamily="34" charset="-122"/>
                <a:cs typeface="Calibri" pitchFamily="34" charset="-120"/>
              </a:rPr>
              <a:t>Für uns: Heizlast + VDI-4650-Berechnung gehören in die Auslegung - nicht hinterher aus Betriebsdaten.</a:t>
            </a:r>
            <a:endParaRPr lang="en-US" sz="1100" dirty="0"/>
          </a:p>
        </p:txBody>
      </p:sp>
      <p:sp>
        <p:nvSpPr>
          <p:cNvPr id="11" name="Shape 9"/>
          <p:cNvSpPr/>
          <p:nvPr/>
        </p:nvSpPr>
        <p:spPr>
          <a:xfrm>
            <a:off x="6249924" y="1828800"/>
            <a:ext cx="5372100" cy="3767328"/>
          </a:xfrm>
          <a:prstGeom prst="roundRect">
            <a:avLst>
              <a:gd name="adj" fmla="val 2184"/>
            </a:avLst>
          </a:prstGeom>
          <a:solidFill>
            <a:srgbClr val="F5F6F3"/>
          </a:solidFill>
          <a:ln/>
          <a:effectLst>
            <a:outerShdw sx="100000" sy="100000" kx="0" ky="0" algn="bl" rotWithShape="0" blurRad="127000" dist="25400" dir="5400000">
              <a:srgbClr val="000000">
                <a:alpha val="7000"/>
              </a:srgbClr>
            </a:outerShdw>
          </a:effectLst>
        </p:spPr>
      </p:sp>
      <p:sp>
        <p:nvSpPr>
          <p:cNvPr id="12" name="Text 10"/>
          <p:cNvSpPr/>
          <p:nvPr/>
        </p:nvSpPr>
        <p:spPr>
          <a:xfrm>
            <a:off x="6542532" y="2011680"/>
            <a:ext cx="2743200" cy="256032"/>
          </a:xfrm>
          <a:prstGeom prst="rect">
            <a:avLst/>
          </a:prstGeom>
          <a:noFill/>
          <a:ln/>
        </p:spPr>
        <p:txBody>
          <a:bodyPr wrap="square" lIns="0" tIns="0" rIns="0" bIns="0" rtlCol="0" anchor="ctr"/>
          <a:lstStyle/>
          <a:p>
            <a:pPr indent="0" marL="0">
              <a:buNone/>
            </a:pPr>
            <a:r>
              <a:rPr lang="en-US" sz="1100" b="1" spc="140" kern="0" dirty="0">
                <a:solidFill>
                  <a:srgbClr val="2E7D3A"/>
                </a:solidFill>
                <a:latin typeface="Calibri" pitchFamily="34" charset="0"/>
                <a:ea typeface="Calibri" pitchFamily="34" charset="-122"/>
                <a:cs typeface="Calibri" pitchFamily="34" charset="-120"/>
              </a:rPr>
              <a:t>CO2KOSTAUFG</a:t>
            </a:r>
            <a:endParaRPr lang="en-US" sz="1100" dirty="0"/>
          </a:p>
        </p:txBody>
      </p:sp>
      <p:sp>
        <p:nvSpPr>
          <p:cNvPr id="13" name="Text 11"/>
          <p:cNvSpPr/>
          <p:nvPr/>
        </p:nvSpPr>
        <p:spPr>
          <a:xfrm>
            <a:off x="6542532" y="2286000"/>
            <a:ext cx="4786884" cy="640080"/>
          </a:xfrm>
          <a:prstGeom prst="rect">
            <a:avLst/>
          </a:prstGeom>
          <a:noFill/>
          <a:ln/>
        </p:spPr>
        <p:txBody>
          <a:bodyPr wrap="square" lIns="0" tIns="0" rIns="0" bIns="0" rtlCol="0" anchor="t"/>
          <a:lstStyle/>
          <a:p>
            <a:pPr indent="0" marL="0">
              <a:lnSpc>
                <a:spcPts val="2400"/>
              </a:lnSpc>
              <a:buNone/>
            </a:pPr>
            <a:r>
              <a:rPr lang="en-US" sz="1900" b="1" dirty="0">
                <a:solidFill>
                  <a:srgbClr val="1A1819"/>
                </a:solidFill>
                <a:latin typeface="Trebuchet MS" pitchFamily="34" charset="0"/>
                <a:ea typeface="Trebuchet MS" pitchFamily="34" charset="-122"/>
                <a:cs typeface="Trebuchet MS" pitchFamily="34" charset="-120"/>
              </a:rPr>
              <a:t>Wer zahlt was ab wann?</a:t>
            </a:r>
            <a:endParaRPr lang="en-US" sz="1900" dirty="0"/>
          </a:p>
        </p:txBody>
      </p:sp>
      <p:sp>
        <p:nvSpPr>
          <p:cNvPr id="14" name="Text 12"/>
          <p:cNvSpPr/>
          <p:nvPr/>
        </p:nvSpPr>
        <p:spPr>
          <a:xfrm>
            <a:off x="6579108" y="3035808"/>
            <a:ext cx="1691640" cy="475488"/>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CO₂-Kosten</a:t>
            </a:r>
            <a:endParaRPr lang="en-US" sz="1150" dirty="0"/>
          </a:p>
        </p:txBody>
      </p:sp>
      <p:sp>
        <p:nvSpPr>
          <p:cNvPr id="15" name="Text 13"/>
          <p:cNvSpPr/>
          <p:nvPr/>
        </p:nvSpPr>
        <p:spPr>
          <a:xfrm>
            <a:off x="8307324" y="3035808"/>
            <a:ext cx="1417320" cy="47548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10-Stufen-Modell</a:t>
            </a:r>
            <a:endParaRPr lang="en-US" sz="1050" dirty="0"/>
          </a:p>
        </p:txBody>
      </p:sp>
      <p:sp>
        <p:nvSpPr>
          <p:cNvPr id="16" name="Text 14"/>
          <p:cNvSpPr/>
          <p:nvPr/>
        </p:nvSpPr>
        <p:spPr>
          <a:xfrm>
            <a:off x="9770364" y="3035808"/>
            <a:ext cx="1874520" cy="475488"/>
          </a:xfrm>
          <a:prstGeom prst="rect">
            <a:avLst/>
          </a:prstGeom>
          <a:noFill/>
          <a:ln/>
        </p:spPr>
        <p:txBody>
          <a:bodyPr wrap="square" lIns="0" tIns="0" rIns="0" bIns="0" rtlCol="0" anchor="ctr"/>
          <a:lstStyle/>
          <a:p>
            <a:pPr indent="0" marL="0">
              <a:buNone/>
            </a:pPr>
            <a:r>
              <a:rPr lang="en-US" sz="1050" b="1" dirty="0">
                <a:solidFill>
                  <a:srgbClr val="2E7D3A"/>
                </a:solidFill>
                <a:latin typeface="Calibri" pitchFamily="34" charset="0"/>
                <a:ea typeface="Calibri" pitchFamily="34" charset="-122"/>
                <a:cs typeface="Calibri" pitchFamily="34" charset="-120"/>
              </a:rPr>
              <a:t>ab 2028: fix 50 / 50</a:t>
            </a:r>
            <a:endParaRPr lang="en-US" sz="1050" dirty="0"/>
          </a:p>
        </p:txBody>
      </p:sp>
      <p:sp>
        <p:nvSpPr>
          <p:cNvPr id="17" name="Text 15"/>
          <p:cNvSpPr/>
          <p:nvPr/>
        </p:nvSpPr>
        <p:spPr>
          <a:xfrm>
            <a:off x="6579108" y="3584448"/>
            <a:ext cx="1691640" cy="475488"/>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Gas-Netzentgelte</a:t>
            </a:r>
            <a:endParaRPr lang="en-US" sz="1150" dirty="0"/>
          </a:p>
        </p:txBody>
      </p:sp>
      <p:sp>
        <p:nvSpPr>
          <p:cNvPr id="18" name="Text 16"/>
          <p:cNvSpPr/>
          <p:nvPr/>
        </p:nvSpPr>
        <p:spPr>
          <a:xfrm>
            <a:off x="8307324" y="3584448"/>
            <a:ext cx="1417320" cy="47548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voll beim Mieter</a:t>
            </a:r>
            <a:endParaRPr lang="en-US" sz="1050" dirty="0"/>
          </a:p>
        </p:txBody>
      </p:sp>
      <p:sp>
        <p:nvSpPr>
          <p:cNvPr id="19" name="Text 17"/>
          <p:cNvSpPr/>
          <p:nvPr/>
        </p:nvSpPr>
        <p:spPr>
          <a:xfrm>
            <a:off x="9770364" y="3584448"/>
            <a:ext cx="1874520" cy="475488"/>
          </a:xfrm>
          <a:prstGeom prst="rect">
            <a:avLst/>
          </a:prstGeom>
          <a:noFill/>
          <a:ln/>
        </p:spPr>
        <p:txBody>
          <a:bodyPr wrap="square" lIns="0" tIns="0" rIns="0" bIns="0" rtlCol="0" anchor="ctr"/>
          <a:lstStyle/>
          <a:p>
            <a:pPr indent="0" marL="0">
              <a:buNone/>
            </a:pPr>
            <a:r>
              <a:rPr lang="en-US" sz="1050" b="1" dirty="0">
                <a:solidFill>
                  <a:srgbClr val="2E7D3A"/>
                </a:solidFill>
                <a:latin typeface="Calibri" pitchFamily="34" charset="0"/>
                <a:ea typeface="Calibri" pitchFamily="34" charset="-122"/>
                <a:cs typeface="Calibri" pitchFamily="34" charset="-120"/>
              </a:rPr>
              <a:t>ab 2028: 50 / 50</a:t>
            </a:r>
            <a:endParaRPr lang="en-US" sz="1050" dirty="0"/>
          </a:p>
        </p:txBody>
      </p:sp>
      <p:sp>
        <p:nvSpPr>
          <p:cNvPr id="20" name="Text 18"/>
          <p:cNvSpPr/>
          <p:nvPr/>
        </p:nvSpPr>
        <p:spPr>
          <a:xfrm>
            <a:off x="6579108" y="4133088"/>
            <a:ext cx="1691640" cy="475488"/>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Bio-Pflichtanteil</a:t>
            </a:r>
            <a:endParaRPr lang="en-US" sz="1150" dirty="0"/>
          </a:p>
        </p:txBody>
      </p:sp>
      <p:sp>
        <p:nvSpPr>
          <p:cNvPr id="21" name="Text 19"/>
          <p:cNvSpPr/>
          <p:nvPr/>
        </p:nvSpPr>
        <p:spPr>
          <a:xfrm>
            <a:off x="8307324" y="4133088"/>
            <a:ext cx="1417320" cy="47548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gab es nicht</a:t>
            </a:r>
            <a:endParaRPr lang="en-US" sz="1050" dirty="0"/>
          </a:p>
        </p:txBody>
      </p:sp>
      <p:sp>
        <p:nvSpPr>
          <p:cNvPr id="22" name="Text 20"/>
          <p:cNvSpPr/>
          <p:nvPr/>
        </p:nvSpPr>
        <p:spPr>
          <a:xfrm>
            <a:off x="9770364" y="4133088"/>
            <a:ext cx="1874520" cy="475488"/>
          </a:xfrm>
          <a:prstGeom prst="rect">
            <a:avLst/>
          </a:prstGeom>
          <a:noFill/>
          <a:ln/>
        </p:spPr>
        <p:txBody>
          <a:bodyPr wrap="square" lIns="0" tIns="0" rIns="0" bIns="0" rtlCol="0" anchor="ctr"/>
          <a:lstStyle/>
          <a:p>
            <a:pPr indent="0" marL="0">
              <a:buNone/>
            </a:pPr>
            <a:r>
              <a:rPr lang="en-US" sz="1050" b="1" dirty="0">
                <a:solidFill>
                  <a:srgbClr val="2E7D3A"/>
                </a:solidFill>
                <a:latin typeface="Calibri" pitchFamily="34" charset="0"/>
                <a:ea typeface="Calibri" pitchFamily="34" charset="-122"/>
                <a:cs typeface="Calibri" pitchFamily="34" charset="-120"/>
              </a:rPr>
              <a:t>ab 2029: 50 / 50, Deckel 30 %</a:t>
            </a:r>
            <a:endParaRPr lang="en-US" sz="1050" dirty="0"/>
          </a:p>
        </p:txBody>
      </p:sp>
      <p:sp>
        <p:nvSpPr>
          <p:cNvPr id="23" name="Shape 21"/>
          <p:cNvSpPr/>
          <p:nvPr/>
        </p:nvSpPr>
        <p:spPr>
          <a:xfrm>
            <a:off x="6542532" y="4736592"/>
            <a:ext cx="4786884" cy="676656"/>
          </a:xfrm>
          <a:prstGeom prst="roundRect">
            <a:avLst>
              <a:gd name="adj" fmla="val 12162"/>
            </a:avLst>
          </a:prstGeom>
          <a:solidFill>
            <a:srgbClr val="FFF6E0"/>
          </a:solidFill>
          <a:ln w="12700">
            <a:solidFill>
              <a:srgbClr val="E8CC8A"/>
            </a:solidFill>
            <a:prstDash val="solid"/>
          </a:ln>
        </p:spPr>
      </p:sp>
      <p:sp>
        <p:nvSpPr>
          <p:cNvPr id="24" name="Text 22"/>
          <p:cNvSpPr/>
          <p:nvPr/>
        </p:nvSpPr>
        <p:spPr>
          <a:xfrm>
            <a:off x="6707124" y="4736592"/>
            <a:ext cx="4457700" cy="676656"/>
          </a:xfrm>
          <a:prstGeom prst="rect">
            <a:avLst/>
          </a:prstGeom>
          <a:noFill/>
          <a:ln/>
        </p:spPr>
        <p:txBody>
          <a:bodyPr wrap="square" lIns="0" tIns="0" rIns="0" bIns="0" rtlCol="0" anchor="ctr"/>
          <a:lstStyle/>
          <a:p>
            <a:pPr indent="0" marL="0">
              <a:buNone/>
            </a:pPr>
            <a:r>
              <a:rPr lang="en-US" sz="1050" b="1" dirty="0">
                <a:solidFill>
                  <a:srgbClr val="8A6100"/>
                </a:solidFill>
                <a:latin typeface="Calibri" pitchFamily="34" charset="0"/>
                <a:ea typeface="Calibri" pitchFamily="34" charset="-122"/>
                <a:cs typeface="Calibri" pitchFamily="34" charset="-120"/>
              </a:rPr>
              <a:t>Härtefall § 5d:  </a:t>
            </a:r>
            <a:pPr indent="0" marL="0">
              <a:buNone/>
            </a:pPr>
            <a:r>
              <a:rPr lang="en-US" sz="1050" dirty="0">
                <a:solidFill>
                  <a:srgbClr val="1A1819"/>
                </a:solidFill>
                <a:latin typeface="Calibri" pitchFamily="34" charset="0"/>
                <a:ea typeface="Calibri" pitchFamily="34" charset="-122"/>
                <a:cs typeface="Calibri" pitchFamily="34" charset="-120"/>
              </a:rPr>
              <a:t>Vermieteranteil entfällt bei max. 6 Wohnungen, günstiger Miete, Klasse G/H und wenn eine Wärmepumpe technisch unmöglich ist.</a:t>
            </a:r>
            <a:endParaRPr lang="en-US" sz="1050" dirty="0"/>
          </a:p>
        </p:txBody>
      </p:sp>
      <p:sp>
        <p:nvSpPr>
          <p:cNvPr id="26" name="Text 23"/>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559e, 559f BGB (Artikel 6) · §§ 3a, 5a-5d CO2KostAufG (Artikel 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AB STUFE 2 (≈ 01.01.2027)</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Ab 2027 rechnen wir anders</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Neue Norm, neue Bezugsfläche, neues Referenzgebäude. Betrifft jede Bilanz und jeden Ausweis.</a:t>
            </a:r>
            <a:endParaRPr lang="en-US" sz="1400" dirty="0"/>
          </a:p>
        </p:txBody>
      </p:sp>
      <p:sp>
        <p:nvSpPr>
          <p:cNvPr id="5" name="Shape 3"/>
          <p:cNvSpPr/>
          <p:nvPr/>
        </p:nvSpPr>
        <p:spPr>
          <a:xfrm>
            <a:off x="566928" y="1828800"/>
            <a:ext cx="5372100" cy="2212848"/>
          </a:xfrm>
          <a:prstGeom prst="roundRect">
            <a:avLst>
              <a:gd name="adj" fmla="val 3719"/>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11680"/>
            <a:ext cx="36576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Die Norm</a:t>
            </a:r>
            <a:endParaRPr lang="en-US" sz="1700" dirty="0"/>
          </a:p>
        </p:txBody>
      </p:sp>
      <p:sp>
        <p:nvSpPr>
          <p:cNvPr id="7" name="Text 5"/>
          <p:cNvSpPr/>
          <p:nvPr/>
        </p:nvSpPr>
        <p:spPr>
          <a:xfrm>
            <a:off x="896112" y="2395728"/>
            <a:ext cx="4713732" cy="148132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DIN/TS 18599:2025-10 wird das einzige Bilanzierungsverfahren</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DIN V 4701-10 und das alte Modellgebäudeverfahren entfallen</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Nutzungsprofile rutschen von Tabelle 5 in Tabelle 6</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U-Wert-Normen aktualisiert (DIN 4108-4, DIN EN ISO 6946)</a:t>
            </a:r>
            <a:endParaRPr lang="en-US" sz="1150" dirty="0"/>
          </a:p>
        </p:txBody>
      </p:sp>
      <p:sp>
        <p:nvSpPr>
          <p:cNvPr id="8" name="Shape 6"/>
          <p:cNvSpPr/>
          <p:nvPr/>
        </p:nvSpPr>
        <p:spPr>
          <a:xfrm>
            <a:off x="6249924" y="1828800"/>
            <a:ext cx="5372100" cy="2212848"/>
          </a:xfrm>
          <a:prstGeom prst="roundRect">
            <a:avLst>
              <a:gd name="adj" fmla="val 3719"/>
            </a:avLst>
          </a:prstGeom>
          <a:solidFill>
            <a:srgbClr val="F5F6F3"/>
          </a:solidFill>
          <a:ln/>
          <a:effectLst>
            <a:outerShdw sx="100000" sy="100000" kx="0" ky="0" algn="bl" rotWithShape="0" blurRad="127000" dist="25400" dir="5400000">
              <a:srgbClr val="000000">
                <a:alpha val="7000"/>
              </a:srgbClr>
            </a:outerShdw>
          </a:effectLst>
        </p:spPr>
      </p:sp>
      <p:sp>
        <p:nvSpPr>
          <p:cNvPr id="9" name="Text 7"/>
          <p:cNvSpPr/>
          <p:nvPr/>
        </p:nvSpPr>
        <p:spPr>
          <a:xfrm>
            <a:off x="6542532" y="2011680"/>
            <a:ext cx="36576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Die Bezugsfläche</a:t>
            </a:r>
            <a:endParaRPr lang="en-US" sz="1700" dirty="0"/>
          </a:p>
        </p:txBody>
      </p:sp>
      <p:sp>
        <p:nvSpPr>
          <p:cNvPr id="10" name="Text 8"/>
          <p:cNvSpPr/>
          <p:nvPr/>
        </p:nvSpPr>
        <p:spPr>
          <a:xfrm>
            <a:off x="6579108" y="2395728"/>
            <a:ext cx="4713732" cy="148132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Bisher WG: Gebäudenutzfläche AN = 0,32 · Ve - eine Rechengröße, meist größer als die echte Wohnfläche</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Bisher NWG: Nettogrundfläche NGF</a:t>
            </a:r>
            <a:endParaRPr lang="en-US" sz="1150" dirty="0"/>
          </a:p>
          <a:p>
            <a:pPr marL="342900" indent="-342900">
              <a:spcAft>
                <a:spcPts val="600"/>
              </a:spcAft>
              <a:buSzPct val="100000"/>
              <a:buChar char="•"/>
            </a:pPr>
            <a:r>
              <a:rPr lang="en-US" sz="1150" dirty="0">
                <a:solidFill>
                  <a:srgbClr val="1A1819"/>
                </a:solidFill>
                <a:latin typeface="Calibri" pitchFamily="34" charset="0"/>
                <a:ea typeface="Calibri" pitchFamily="34" charset="-122"/>
                <a:cs typeface="Calibri" pitchFamily="34" charset="-120"/>
              </a:rPr>
              <a:t>Neu für beide: „Nutzfläche" = tatsächlich beheizte oder gekühlte Nettoraumfläche nach DIN 277:2021-08</a:t>
            </a:r>
            <a:endParaRPr lang="en-US" sz="1150" dirty="0"/>
          </a:p>
        </p:txBody>
      </p:sp>
      <p:sp>
        <p:nvSpPr>
          <p:cNvPr id="11" name="Shape 9"/>
          <p:cNvSpPr/>
          <p:nvPr/>
        </p:nvSpPr>
        <p:spPr>
          <a:xfrm>
            <a:off x="566928" y="4206240"/>
            <a:ext cx="11055096" cy="960120"/>
          </a:xfrm>
          <a:prstGeom prst="roundRect">
            <a:avLst>
              <a:gd name="adj" fmla="val 8571"/>
            </a:avLst>
          </a:prstGeom>
          <a:solidFill>
            <a:srgbClr val="1A1819"/>
          </a:solidFill>
          <a:ln/>
        </p:spPr>
      </p:sp>
      <p:sp>
        <p:nvSpPr>
          <p:cNvPr id="12" name="Text 10"/>
          <p:cNvSpPr/>
          <p:nvPr/>
        </p:nvSpPr>
        <p:spPr>
          <a:xfrm>
            <a:off x="859536" y="4334256"/>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Die Folge - und unsere wichtigste Kundenbotschaft</a:t>
            </a:r>
            <a:endParaRPr lang="en-US" sz="1500" dirty="0"/>
          </a:p>
        </p:txBody>
      </p:sp>
      <p:sp>
        <p:nvSpPr>
          <p:cNvPr id="13" name="Text 11"/>
          <p:cNvSpPr/>
          <p:nvPr/>
        </p:nvSpPr>
        <p:spPr>
          <a:xfrm>
            <a:off x="859536" y="4626864"/>
            <a:ext cx="10469880" cy="420624"/>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Alle kWh/m²-Kennwerte verschieben sich systematisch. Alte und neue Ausweise sind nicht mehr direkt vergleichbar. Das müssen wir aktiv erklären, bevor der Kunde es selbst merkt.</a:t>
            </a:r>
            <a:endParaRPr lang="en-US" sz="1250" dirty="0"/>
          </a:p>
        </p:txBody>
      </p:sp>
      <p:sp>
        <p:nvSpPr>
          <p:cNvPr id="14" name="Shape 12"/>
          <p:cNvSpPr/>
          <p:nvPr/>
        </p:nvSpPr>
        <p:spPr>
          <a:xfrm>
            <a:off x="566928" y="5330952"/>
            <a:ext cx="11055096" cy="603504"/>
          </a:xfrm>
          <a:prstGeom prst="roundRect">
            <a:avLst>
              <a:gd name="adj" fmla="val 13636"/>
            </a:avLst>
          </a:prstGeom>
          <a:solidFill>
            <a:srgbClr val="EDF5EE"/>
          </a:solidFill>
          <a:ln/>
        </p:spPr>
      </p:sp>
      <p:sp>
        <p:nvSpPr>
          <p:cNvPr id="15" name="Text 13"/>
          <p:cNvSpPr/>
          <p:nvPr/>
        </p:nvSpPr>
        <p:spPr>
          <a:xfrm>
            <a:off x="841248" y="5330952"/>
            <a:ext cx="10506456" cy="603504"/>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Referenzgebäude:  </a:t>
            </a:r>
            <a:pPr indent="0" marL="0">
              <a:buNone/>
            </a:pPr>
            <a:r>
              <a:rPr lang="en-US" sz="1150" dirty="0">
                <a:solidFill>
                  <a:srgbClr val="1A1819"/>
                </a:solidFill>
                <a:latin typeface="Calibri" pitchFamily="34" charset="0"/>
                <a:ea typeface="Calibri" pitchFamily="34" charset="-122"/>
                <a:cs typeface="Calibri" pitchFamily="34" charset="-120"/>
              </a:rPr>
              <a:t>kein konkreter Kessel mehr, sondern technologieneutral mit fp,tot = 0,75 - ab 2030 dann 0,70. Hülle bleibt: Wand 0,28 · Dach 0,20 · Fenster 1,3.</a:t>
            </a:r>
            <a:endParaRPr lang="en-US" sz="1150" dirty="0"/>
          </a:p>
        </p:txBody>
      </p:sp>
      <p:sp>
        <p:nvSpPr>
          <p:cNvPr id="17" name="Text 1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20-30, § 3 Nr. 26, Anlagen 1+2 GModG · Artikel 2, Stufe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ANLAGEN 4 + 9</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Strom gewinnt, Öl und Gas verlieren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Die neuen Primärenergie- und Treibhausgasfaktoren verändern jede Bilanz.</a:t>
            </a:r>
            <a:endParaRPr lang="en-US" sz="1400" dirty="0"/>
          </a:p>
        </p:txBody>
      </p:sp>
      <p:graphicFrame>
        <p:nvGraphicFramePr>
          <p:cNvPr id="5" name="Chart 0" descr=""/>
          <p:cNvGraphicFramePr/>
          <p:nvPr/>
        </p:nvGraphicFramePr>
        <p:xfrm>
          <a:off x="566928" y="1828800"/>
          <a:ext cx="6720840" cy="2788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 y="4626864"/>
            <a:ext cx="6720840" cy="237744"/>
          </a:xfrm>
          <a:prstGeom prst="rect">
            <a:avLst/>
          </a:prstGeom>
          <a:noFill/>
          <a:ln/>
        </p:spPr>
        <p:txBody>
          <a:bodyPr wrap="square" lIns="0" tIns="0" rIns="0" bIns="0" rtlCol="0" anchor="ctr"/>
          <a:lstStyle/>
          <a:p>
            <a:pPr indent="0" marL="0">
              <a:buNone/>
            </a:pPr>
            <a:r>
              <a:rPr lang="en-US" sz="1000" i="1" dirty="0">
                <a:solidFill>
                  <a:srgbClr val="5B685D"/>
                </a:solidFill>
                <a:latin typeface="Calibri" pitchFamily="34" charset="0"/>
                <a:ea typeface="Calibri" pitchFamily="34" charset="-122"/>
                <a:cs typeface="Calibri" pitchFamily="34" charset="-120"/>
              </a:rPr>
              <a:t>Primärenergiefaktoren (nicht erneuerbarer Anteil)</a:t>
            </a:r>
            <a:endParaRPr lang="en-US" sz="1000" dirty="0"/>
          </a:p>
        </p:txBody>
      </p:sp>
      <p:sp>
        <p:nvSpPr>
          <p:cNvPr id="7" name="Shape 4"/>
          <p:cNvSpPr/>
          <p:nvPr/>
        </p:nvSpPr>
        <p:spPr>
          <a:xfrm>
            <a:off x="7653528" y="1828800"/>
            <a:ext cx="3968496" cy="1700784"/>
          </a:xfrm>
          <a:prstGeom prst="roundRect">
            <a:avLst>
              <a:gd name="adj" fmla="val 4839"/>
            </a:avLst>
          </a:prstGeom>
          <a:solidFill>
            <a:srgbClr val="1A1819"/>
          </a:solidFill>
          <a:ln/>
        </p:spPr>
      </p:sp>
      <p:sp>
        <p:nvSpPr>
          <p:cNvPr id="8" name="Text 5"/>
          <p:cNvSpPr/>
          <p:nvPr/>
        </p:nvSpPr>
        <p:spPr>
          <a:xfrm>
            <a:off x="7863840" y="1993392"/>
            <a:ext cx="3557016" cy="237744"/>
          </a:xfrm>
          <a:prstGeom prst="rect">
            <a:avLst/>
          </a:prstGeom>
          <a:noFill/>
          <a:ln/>
        </p:spPr>
        <p:txBody>
          <a:bodyPr wrap="square" lIns="0" tIns="0" rIns="0" bIns="0" rtlCol="0" anchor="ctr"/>
          <a:lstStyle/>
          <a:p>
            <a:pPr indent="0" marL="0">
              <a:buNone/>
            </a:pPr>
            <a:r>
              <a:rPr lang="en-US" sz="1000" b="1" spc="140" kern="0" dirty="0">
                <a:solidFill>
                  <a:srgbClr val="BFDCC4"/>
                </a:solidFill>
                <a:latin typeface="Calibri" pitchFamily="34" charset="0"/>
                <a:ea typeface="Calibri" pitchFamily="34" charset="-122"/>
                <a:cs typeface="Calibri" pitchFamily="34" charset="-120"/>
              </a:rPr>
              <a:t>THG-FAKTOR STROM</a:t>
            </a:r>
            <a:endParaRPr lang="en-US" sz="1000" dirty="0"/>
          </a:p>
        </p:txBody>
      </p:sp>
      <p:sp>
        <p:nvSpPr>
          <p:cNvPr id="9" name="Text 6"/>
          <p:cNvSpPr/>
          <p:nvPr/>
        </p:nvSpPr>
        <p:spPr>
          <a:xfrm>
            <a:off x="7863840" y="2267712"/>
            <a:ext cx="3557016" cy="731520"/>
          </a:xfrm>
          <a:prstGeom prst="rect">
            <a:avLst/>
          </a:prstGeom>
          <a:noFill/>
          <a:ln/>
        </p:spPr>
        <p:txBody>
          <a:bodyPr wrap="square" lIns="0" tIns="0" rIns="0" bIns="0" rtlCol="0" anchor="ctr"/>
          <a:lstStyle/>
          <a:p>
            <a:pPr indent="0" marL="0">
              <a:buNone/>
            </a:pPr>
            <a:r>
              <a:rPr lang="en-US" sz="4000" b="1" dirty="0">
                <a:solidFill>
                  <a:srgbClr val="58B264"/>
                </a:solidFill>
                <a:latin typeface="Trebuchet MS" pitchFamily="34" charset="0"/>
                <a:ea typeface="Trebuchet MS" pitchFamily="34" charset="-122"/>
                <a:cs typeface="Trebuchet MS" pitchFamily="34" charset="-120"/>
              </a:rPr>
              <a:t>560 → 100</a:t>
            </a:r>
            <a:endParaRPr lang="en-US" sz="4000" dirty="0"/>
          </a:p>
        </p:txBody>
      </p:sp>
      <p:sp>
        <p:nvSpPr>
          <p:cNvPr id="10" name="Text 7"/>
          <p:cNvSpPr/>
          <p:nvPr/>
        </p:nvSpPr>
        <p:spPr>
          <a:xfrm>
            <a:off x="7863840" y="2999232"/>
            <a:ext cx="3557016" cy="457200"/>
          </a:xfrm>
          <a:prstGeom prst="rect">
            <a:avLst/>
          </a:prstGeom>
          <a:noFill/>
          <a:ln/>
        </p:spPr>
        <p:txBody>
          <a:bodyPr wrap="square" lIns="0" tIns="0" rIns="0" bIns="0" rtlCol="0" anchor="t"/>
          <a:lstStyle/>
          <a:p>
            <a:pPr indent="0" marL="0">
              <a:lnSpc>
                <a:spcPts val="1300"/>
              </a:lnSpc>
              <a:buNone/>
            </a:pPr>
            <a:r>
              <a:rPr lang="en-US" sz="1050" dirty="0">
                <a:solidFill>
                  <a:srgbClr val="C9D2CA"/>
                </a:solidFill>
                <a:latin typeface="Calibri" pitchFamily="34" charset="0"/>
                <a:ea typeface="Calibri" pitchFamily="34" charset="-122"/>
                <a:cs typeface="Calibri" pitchFamily="34" charset="-120"/>
              </a:rPr>
              <a:t>g CO₂-Äquivalent je kWh im Energieausweis. Wärmepumpen werden in der THG-Darstellung massiv bessergestellt.</a:t>
            </a:r>
            <a:endParaRPr lang="en-US" sz="1050" dirty="0"/>
          </a:p>
        </p:txBody>
      </p:sp>
      <p:sp>
        <p:nvSpPr>
          <p:cNvPr id="11" name="Shape 8"/>
          <p:cNvSpPr/>
          <p:nvPr/>
        </p:nvSpPr>
        <p:spPr>
          <a:xfrm>
            <a:off x="7653528" y="3657600"/>
            <a:ext cx="3968496" cy="960120"/>
          </a:xfrm>
          <a:prstGeom prst="roundRect">
            <a:avLst>
              <a:gd name="adj" fmla="val 8571"/>
            </a:avLst>
          </a:prstGeom>
          <a:solidFill>
            <a:srgbClr val="EDF5EE"/>
          </a:solidFill>
          <a:ln/>
        </p:spPr>
      </p:sp>
      <p:sp>
        <p:nvSpPr>
          <p:cNvPr id="12" name="Text 9"/>
          <p:cNvSpPr/>
          <p:nvPr/>
        </p:nvSpPr>
        <p:spPr>
          <a:xfrm>
            <a:off x="7863840" y="3785616"/>
            <a:ext cx="3557016" cy="256032"/>
          </a:xfrm>
          <a:prstGeom prst="rect">
            <a:avLst/>
          </a:prstGeom>
          <a:noFill/>
          <a:ln/>
        </p:spPr>
        <p:txBody>
          <a:bodyPr wrap="square" lIns="0" tIns="0" rIns="0" bIns="0" rtlCol="0" anchor="ctr"/>
          <a:lstStyle/>
          <a:p>
            <a:pPr indent="0" marL="0">
              <a:buNone/>
            </a:pPr>
            <a:r>
              <a:rPr lang="en-US" sz="1300" b="1" dirty="0">
                <a:solidFill>
                  <a:srgbClr val="2E7D3A"/>
                </a:solidFill>
                <a:latin typeface="Trebuchet MS" pitchFamily="34" charset="0"/>
                <a:ea typeface="Trebuchet MS" pitchFamily="34" charset="-122"/>
                <a:cs typeface="Trebuchet MS" pitchFamily="34" charset="-120"/>
              </a:rPr>
              <a:t>Neu mit fp = 0,0</a:t>
            </a:r>
            <a:endParaRPr lang="en-US" sz="1300" dirty="0"/>
          </a:p>
        </p:txBody>
      </p:sp>
      <p:sp>
        <p:nvSpPr>
          <p:cNvPr id="13" name="Text 10"/>
          <p:cNvSpPr/>
          <p:nvPr/>
        </p:nvSpPr>
        <p:spPr>
          <a:xfrm>
            <a:off x="7863840" y="4059936"/>
            <a:ext cx="3557016" cy="438912"/>
          </a:xfrm>
          <a:prstGeom prst="rect">
            <a:avLst/>
          </a:prstGeom>
          <a:noFill/>
          <a:ln/>
        </p:spPr>
        <p:txBody>
          <a:bodyPr wrap="square" lIns="0" tIns="0" rIns="0" bIns="0" rtlCol="0" anchor="t"/>
          <a:lstStyle/>
          <a:p>
            <a:pPr indent="0" marL="0">
              <a:lnSpc>
                <a:spcPts val="1300"/>
              </a:lnSpc>
              <a:buNone/>
            </a:pPr>
            <a:r>
              <a:rPr lang="en-US" sz="1050" dirty="0">
                <a:solidFill>
                  <a:srgbClr val="1A1819"/>
                </a:solidFill>
                <a:latin typeface="Calibri" pitchFamily="34" charset="0"/>
                <a:ea typeface="Calibri" pitchFamily="34" charset="-122"/>
                <a:cs typeface="Calibri" pitchFamily="34" charset="-120"/>
              </a:rPr>
              <a:t>PV-Strom vor Ort · Umweltwärme · Geothermie · Solarthermie. Abwärme: 0,0 bei 10 g THG.</a:t>
            </a:r>
            <a:endParaRPr lang="en-US" sz="1050" dirty="0"/>
          </a:p>
        </p:txBody>
      </p:sp>
      <p:sp>
        <p:nvSpPr>
          <p:cNvPr id="14" name="Shape 11"/>
          <p:cNvSpPr/>
          <p:nvPr/>
        </p:nvSpPr>
        <p:spPr>
          <a:xfrm>
            <a:off x="566928" y="5010912"/>
            <a:ext cx="11055096" cy="896112"/>
          </a:xfrm>
          <a:prstGeom prst="roundRect">
            <a:avLst>
              <a:gd name="adj" fmla="val 9184"/>
            </a:avLst>
          </a:prstGeom>
          <a:solidFill>
            <a:srgbClr val="F5F6F3"/>
          </a:solidFill>
          <a:ln/>
        </p:spPr>
      </p:sp>
      <p:sp>
        <p:nvSpPr>
          <p:cNvPr id="15" name="Text 12"/>
          <p:cNvSpPr/>
          <p:nvPr/>
        </p:nvSpPr>
        <p:spPr>
          <a:xfrm>
            <a:off x="841248" y="5102352"/>
            <a:ext cx="10506456" cy="237744"/>
          </a:xfrm>
          <a:prstGeom prst="rect">
            <a:avLst/>
          </a:prstGeom>
          <a:noFill/>
          <a:ln/>
        </p:spPr>
        <p:txBody>
          <a:bodyPr wrap="square" lIns="0" tIns="0" rIns="0" bIns="0" rtlCol="0" anchor="ctr"/>
          <a:lstStyle/>
          <a:p>
            <a:pPr indent="0" marL="0">
              <a:buNone/>
            </a:pPr>
            <a:r>
              <a:rPr lang="en-US" sz="1000" b="1" spc="120" kern="0" dirty="0">
                <a:solidFill>
                  <a:srgbClr val="5B685D"/>
                </a:solidFill>
                <a:latin typeface="Calibri" pitchFamily="34" charset="0"/>
                <a:ea typeface="Calibri" pitchFamily="34" charset="-122"/>
                <a:cs typeface="Calibri" pitchFamily="34" charset="-120"/>
              </a:rPr>
              <a:t>Weitere THG-Faktoren in g CO₂-Äq./kWh</a:t>
            </a:r>
            <a:endParaRPr lang="en-US" sz="1000" dirty="0"/>
          </a:p>
        </p:txBody>
      </p:sp>
      <p:sp>
        <p:nvSpPr>
          <p:cNvPr id="16" name="Text 13"/>
          <p:cNvSpPr/>
          <p:nvPr/>
        </p:nvSpPr>
        <p:spPr>
          <a:xfrm>
            <a:off x="841248" y="5358384"/>
            <a:ext cx="10506456" cy="402336"/>
          </a:xfrm>
          <a:prstGeom prst="rect">
            <a:avLst/>
          </a:prstGeom>
          <a:noFill/>
          <a:ln/>
        </p:spPr>
        <p:txBody>
          <a:bodyPr wrap="square" lIns="0" tIns="0" rIns="0" bIns="0" rtlCol="0" anchor="ctr"/>
          <a:lstStyle/>
          <a:p>
            <a:pPr indent="0" marL="0">
              <a:buNone/>
            </a:pPr>
            <a:r>
              <a:rPr lang="en-US" sz="1150" dirty="0">
                <a:solidFill>
                  <a:srgbClr val="1A1819"/>
                </a:solidFill>
                <a:latin typeface="Calibri" pitchFamily="34" charset="0"/>
                <a:ea typeface="Calibri" pitchFamily="34" charset="-122"/>
                <a:cs typeface="Calibri" pitchFamily="34" charset="-120"/>
              </a:rPr>
              <a:t>Heizöl 310  ·  Flüssiggas 270  ·  Erdgas 240  ·  Kohle 400-430  ·  Biomethan / Bioöl / Wasserstoff 80  ·  Fernwärme 40 bis 400 je nach Erzeugung  ·  Holz 20  ·  PV, Umweltwärme, Solarthermie 0</a:t>
            </a:r>
            <a:endParaRPr lang="en-US" sz="1150" dirty="0"/>
          </a:p>
        </p:txBody>
      </p:sp>
      <p:sp>
        <p:nvSpPr>
          <p:cNvPr id="18" name="Text 1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Anlage 4 (Primärenergie) und Anlage 9 (THG) GModG · Drs. S. 116-123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NEUBAU</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Nullemission in zwei Stufen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 10a ab 2028 für öffentliche Nichtwohngebäude, § 10 neu ab 2030 für alle Neubauten.</a:t>
            </a:r>
            <a:endParaRPr lang="en-US" sz="1400" dirty="0"/>
          </a:p>
        </p:txBody>
      </p:sp>
      <p:sp>
        <p:nvSpPr>
          <p:cNvPr id="5" name="Shape 3"/>
          <p:cNvSpPr/>
          <p:nvPr/>
        </p:nvSpPr>
        <p:spPr>
          <a:xfrm>
            <a:off x="566928" y="1847088"/>
            <a:ext cx="3246120" cy="1536192"/>
          </a:xfrm>
          <a:prstGeom prst="roundRect">
            <a:avLst>
              <a:gd name="adj" fmla="val 5357"/>
            </a:avLst>
          </a:prstGeom>
          <a:solidFill>
            <a:srgbClr val="EDF5EE"/>
          </a:solidFill>
          <a:ln/>
        </p:spPr>
      </p:sp>
      <p:sp>
        <p:nvSpPr>
          <p:cNvPr id="6" name="Text 4"/>
          <p:cNvSpPr/>
          <p:nvPr/>
        </p:nvSpPr>
        <p:spPr>
          <a:xfrm>
            <a:off x="841248" y="2011680"/>
            <a:ext cx="2743200" cy="402336"/>
          </a:xfrm>
          <a:prstGeom prst="rect">
            <a:avLst/>
          </a:prstGeom>
          <a:noFill/>
          <a:ln/>
        </p:spPr>
        <p:txBody>
          <a:bodyPr wrap="square" lIns="0" tIns="0" rIns="0" bIns="0" rtlCol="0" anchor="ctr"/>
          <a:lstStyle/>
          <a:p>
            <a:pPr indent="0" marL="0">
              <a:buNone/>
            </a:pPr>
            <a:r>
              <a:rPr lang="en-US" sz="2600" b="1" dirty="0">
                <a:solidFill>
                  <a:srgbClr val="2E7D3A"/>
                </a:solidFill>
                <a:latin typeface="Trebuchet MS" pitchFamily="34" charset="0"/>
                <a:ea typeface="Trebuchet MS" pitchFamily="34" charset="-122"/>
                <a:cs typeface="Trebuchet MS" pitchFamily="34" charset="-120"/>
              </a:rPr>
              <a:t>01.01.2028</a:t>
            </a:r>
            <a:endParaRPr lang="en-US" sz="2600" dirty="0"/>
          </a:p>
        </p:txBody>
      </p:sp>
      <p:sp>
        <p:nvSpPr>
          <p:cNvPr id="7" name="Text 5"/>
          <p:cNvSpPr/>
          <p:nvPr/>
        </p:nvSpPr>
        <p:spPr>
          <a:xfrm>
            <a:off x="841248" y="2468880"/>
            <a:ext cx="2724912" cy="786384"/>
          </a:xfrm>
          <a:prstGeom prst="rect">
            <a:avLst/>
          </a:prstGeom>
          <a:noFill/>
          <a:ln/>
        </p:spPr>
        <p:txBody>
          <a:bodyPr wrap="square" lIns="0" tIns="0" rIns="0" bIns="0" rtlCol="0" anchor="t"/>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Neue öffentliche Nichtwohngebäude im Eigentum der öffentlichen Hand mit Behördennutzung</a:t>
            </a:r>
            <a:endParaRPr lang="en-US" sz="1150" dirty="0"/>
          </a:p>
        </p:txBody>
      </p:sp>
      <p:sp>
        <p:nvSpPr>
          <p:cNvPr id="8" name="Shape 6"/>
          <p:cNvSpPr/>
          <p:nvPr/>
        </p:nvSpPr>
        <p:spPr>
          <a:xfrm>
            <a:off x="4087368" y="1847088"/>
            <a:ext cx="3246120" cy="1536192"/>
          </a:xfrm>
          <a:prstGeom prst="roundRect">
            <a:avLst>
              <a:gd name="adj" fmla="val 5357"/>
            </a:avLst>
          </a:prstGeom>
          <a:solidFill>
            <a:srgbClr val="2E7D3A"/>
          </a:solidFill>
          <a:ln/>
        </p:spPr>
      </p:sp>
      <p:sp>
        <p:nvSpPr>
          <p:cNvPr id="9" name="Text 7"/>
          <p:cNvSpPr/>
          <p:nvPr/>
        </p:nvSpPr>
        <p:spPr>
          <a:xfrm>
            <a:off x="4361688" y="2011680"/>
            <a:ext cx="2743200" cy="402336"/>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01.01.2030</a:t>
            </a:r>
            <a:endParaRPr lang="en-US" sz="2600" dirty="0"/>
          </a:p>
        </p:txBody>
      </p:sp>
      <p:sp>
        <p:nvSpPr>
          <p:cNvPr id="10" name="Text 8"/>
          <p:cNvSpPr/>
          <p:nvPr/>
        </p:nvSpPr>
        <p:spPr>
          <a:xfrm>
            <a:off x="4361688" y="2468880"/>
            <a:ext cx="2724912" cy="786384"/>
          </a:xfrm>
          <a:prstGeom prst="rect">
            <a:avLst/>
          </a:prstGeom>
          <a:noFill/>
          <a:ln/>
        </p:spPr>
        <p:txBody>
          <a:bodyPr wrap="square" lIns="0" tIns="0" rIns="0" bIns="0" rtlCol="0" anchor="t"/>
          <a:lstStyle/>
          <a:p>
            <a:pPr indent="0" marL="0">
              <a:lnSpc>
                <a:spcPts val="1500"/>
              </a:lnSpc>
              <a:buNone/>
            </a:pPr>
            <a:r>
              <a:rPr lang="en-US" sz="1150" dirty="0">
                <a:solidFill>
                  <a:srgbClr val="E4EDE5"/>
                </a:solidFill>
                <a:latin typeface="Calibri" pitchFamily="34" charset="0"/>
                <a:ea typeface="Calibri" pitchFamily="34" charset="-122"/>
                <a:cs typeface="Calibri" pitchFamily="34" charset="-120"/>
              </a:rPr>
              <a:t>Alle Neubauten - Wohn- und Nichtwohngebäude, ohne Ausnahme nach Bauherr</a:t>
            </a:r>
            <a:endParaRPr lang="en-US" sz="1150" dirty="0"/>
          </a:p>
        </p:txBody>
      </p:sp>
      <p:sp>
        <p:nvSpPr>
          <p:cNvPr id="11" name="Shape 9"/>
          <p:cNvSpPr/>
          <p:nvPr/>
        </p:nvSpPr>
        <p:spPr>
          <a:xfrm>
            <a:off x="7607808" y="1847088"/>
            <a:ext cx="4014216" cy="1536192"/>
          </a:xfrm>
          <a:prstGeom prst="roundRect">
            <a:avLst>
              <a:gd name="adj" fmla="val 5357"/>
            </a:avLst>
          </a:prstGeom>
          <a:solidFill>
            <a:srgbClr val="F5F6F3"/>
          </a:solidFill>
          <a:ln/>
        </p:spPr>
      </p:sp>
      <p:sp>
        <p:nvSpPr>
          <p:cNvPr id="12" name="Text 10"/>
          <p:cNvSpPr/>
          <p:nvPr/>
        </p:nvSpPr>
        <p:spPr>
          <a:xfrm>
            <a:off x="7845552" y="1993392"/>
            <a:ext cx="3538728" cy="274320"/>
          </a:xfrm>
          <a:prstGeom prst="rect">
            <a:avLst/>
          </a:prstGeom>
          <a:noFill/>
          <a:ln/>
        </p:spPr>
        <p:txBody>
          <a:bodyPr wrap="square" lIns="0" tIns="0" rIns="0" bIns="0" rtlCol="0" anchor="ctr"/>
          <a:lstStyle/>
          <a:p>
            <a:pPr indent="0" marL="0">
              <a:buNone/>
            </a:pPr>
            <a:r>
              <a:rPr lang="en-US" sz="1400" b="1" dirty="0">
                <a:solidFill>
                  <a:srgbClr val="1A1819"/>
                </a:solidFill>
                <a:latin typeface="Trebuchet MS" pitchFamily="34" charset="0"/>
                <a:ea typeface="Trebuchet MS" pitchFamily="34" charset="-122"/>
                <a:cs typeface="Trebuchet MS" pitchFamily="34" charset="-120"/>
              </a:rPr>
              <a:t>Bis dahin</a:t>
            </a:r>
            <a:endParaRPr lang="en-US" sz="1400" dirty="0"/>
          </a:p>
        </p:txBody>
      </p:sp>
      <p:sp>
        <p:nvSpPr>
          <p:cNvPr id="13" name="Text 11"/>
          <p:cNvSpPr/>
          <p:nvPr/>
        </p:nvSpPr>
        <p:spPr>
          <a:xfrm>
            <a:off x="7845552" y="2304288"/>
            <a:ext cx="3557016" cy="932688"/>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Im Neubau gilt der Optionenkatalog (§ 10 Abs. 2). Ein Gaskessel ist formal möglich - mit Bio-Treppe.</a:t>
            </a:r>
            <a:endParaRPr lang="en-US" sz="1150" dirty="0"/>
          </a:p>
        </p:txBody>
      </p:sp>
      <p:sp>
        <p:nvSpPr>
          <p:cNvPr id="14" name="Text 12"/>
          <p:cNvSpPr/>
          <p:nvPr/>
        </p:nvSpPr>
        <p:spPr>
          <a:xfrm>
            <a:off x="566928" y="3621024"/>
            <a:ext cx="5486400" cy="310896"/>
          </a:xfrm>
          <a:prstGeom prst="rect">
            <a:avLst/>
          </a:prstGeom>
          <a:noFill/>
          <a:ln/>
        </p:spPr>
        <p:txBody>
          <a:bodyPr wrap="square" lIns="0" tIns="0" rIns="0" bIns="0" rtlCol="0" anchor="ctr"/>
          <a:lstStyle/>
          <a:p>
            <a:pPr indent="0" marL="0">
              <a:buNone/>
            </a:pPr>
            <a:r>
              <a:rPr lang="en-US" sz="1700" b="1" dirty="0">
                <a:solidFill>
                  <a:srgbClr val="1A1819"/>
                </a:solidFill>
                <a:latin typeface="Trebuchet MS" pitchFamily="34" charset="0"/>
                <a:ea typeface="Trebuchet MS" pitchFamily="34" charset="-122"/>
                <a:cs typeface="Trebuchet MS" pitchFamily="34" charset="-120"/>
              </a:rPr>
              <a:t>Die drei Anforderungen</a:t>
            </a:r>
            <a:endParaRPr lang="en-US" sz="1700" dirty="0"/>
          </a:p>
        </p:txBody>
      </p:sp>
      <p:sp>
        <p:nvSpPr>
          <p:cNvPr id="15" name="Shape 13"/>
          <p:cNvSpPr/>
          <p:nvPr/>
        </p:nvSpPr>
        <p:spPr>
          <a:xfrm>
            <a:off x="566928" y="4041648"/>
            <a:ext cx="6854160" cy="475488"/>
          </a:xfrm>
          <a:prstGeom prst="roundRect">
            <a:avLst>
              <a:gd name="adj" fmla="val 11538"/>
            </a:avLst>
          </a:prstGeom>
          <a:solidFill>
            <a:srgbClr val="F5F6F3"/>
          </a:solidFill>
          <a:ln/>
        </p:spPr>
      </p:sp>
      <p:sp>
        <p:nvSpPr>
          <p:cNvPr id="16" name="Shape 14"/>
          <p:cNvSpPr/>
          <p:nvPr/>
        </p:nvSpPr>
        <p:spPr>
          <a:xfrm>
            <a:off x="749808" y="4142232"/>
            <a:ext cx="274320" cy="274320"/>
          </a:xfrm>
          <a:prstGeom prst="ellipse">
            <a:avLst/>
          </a:prstGeom>
          <a:solidFill>
            <a:srgbClr val="2E7D3A"/>
          </a:solidFill>
          <a:ln/>
        </p:spPr>
      </p:sp>
      <p:sp>
        <p:nvSpPr>
          <p:cNvPr id="17" name="Text 15"/>
          <p:cNvSpPr/>
          <p:nvPr/>
        </p:nvSpPr>
        <p:spPr>
          <a:xfrm>
            <a:off x="749808" y="41422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1152144" y="4041648"/>
            <a:ext cx="6067776" cy="475488"/>
          </a:xfrm>
          <a:prstGeom prst="rect">
            <a:avLst/>
          </a:prstGeom>
          <a:noFill/>
          <a:ln/>
        </p:spPr>
        <p:txBody>
          <a:bodyPr wrap="square" lIns="0" tIns="0" rIns="0" bIns="0" rtlCol="0" anchor="ctr"/>
          <a:lstStyle/>
          <a:p>
            <a:pPr indent="0" marL="0">
              <a:buNone/>
            </a:pPr>
            <a:r>
              <a:rPr lang="en-US" sz="1150" dirty="0">
                <a:solidFill>
                  <a:srgbClr val="1A1819"/>
                </a:solidFill>
                <a:latin typeface="Calibri" pitchFamily="34" charset="0"/>
                <a:ea typeface="Calibri" pitchFamily="34" charset="-122"/>
                <a:cs typeface="Calibri" pitchFamily="34" charset="-120"/>
              </a:rPr>
              <a:t>Gesamtenergiebedarf höchstens auf dem Niveau der §§ 15/18 - Referenzgebäude mit fp,tot dann 0,70</a:t>
            </a:r>
            <a:endParaRPr lang="en-US" sz="1150" dirty="0"/>
          </a:p>
        </p:txBody>
      </p:sp>
      <p:sp>
        <p:nvSpPr>
          <p:cNvPr id="19" name="Shape 17"/>
          <p:cNvSpPr/>
          <p:nvPr/>
        </p:nvSpPr>
        <p:spPr>
          <a:xfrm>
            <a:off x="566928" y="4590288"/>
            <a:ext cx="6854160" cy="475488"/>
          </a:xfrm>
          <a:prstGeom prst="roundRect">
            <a:avLst>
              <a:gd name="adj" fmla="val 11538"/>
            </a:avLst>
          </a:prstGeom>
          <a:solidFill>
            <a:srgbClr val="F5F6F3"/>
          </a:solidFill>
          <a:ln/>
        </p:spPr>
      </p:sp>
      <p:sp>
        <p:nvSpPr>
          <p:cNvPr id="20" name="Shape 18"/>
          <p:cNvSpPr/>
          <p:nvPr/>
        </p:nvSpPr>
        <p:spPr>
          <a:xfrm>
            <a:off x="749808" y="4690872"/>
            <a:ext cx="274320" cy="274320"/>
          </a:xfrm>
          <a:prstGeom prst="ellipse">
            <a:avLst/>
          </a:prstGeom>
          <a:solidFill>
            <a:srgbClr val="2E7D3A"/>
          </a:solidFill>
          <a:ln/>
        </p:spPr>
      </p:sp>
      <p:sp>
        <p:nvSpPr>
          <p:cNvPr id="21" name="Text 19"/>
          <p:cNvSpPr/>
          <p:nvPr/>
        </p:nvSpPr>
        <p:spPr>
          <a:xfrm>
            <a:off x="749808" y="4690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1152144" y="4590288"/>
            <a:ext cx="6067776" cy="475488"/>
          </a:xfrm>
          <a:prstGeom prst="rect">
            <a:avLst/>
          </a:prstGeom>
          <a:noFill/>
          <a:ln/>
        </p:spPr>
        <p:txBody>
          <a:bodyPr wrap="square" lIns="0" tIns="0" rIns="0" bIns="0" rtlCol="0" anchor="ctr"/>
          <a:lstStyle/>
          <a:p>
            <a:pPr indent="0" marL="0">
              <a:buNone/>
            </a:pPr>
            <a:r>
              <a:rPr lang="en-US" sz="1150" dirty="0">
                <a:solidFill>
                  <a:srgbClr val="1A1819"/>
                </a:solidFill>
                <a:latin typeface="Calibri" pitchFamily="34" charset="0"/>
                <a:ea typeface="Calibri" pitchFamily="34" charset="-122"/>
                <a:cs typeface="Calibri" pitchFamily="34" charset="-120"/>
              </a:rPr>
              <a:t>Baulicher Wärmeschutz nach §§ 16/19</a:t>
            </a:r>
            <a:endParaRPr lang="en-US" sz="1150" dirty="0"/>
          </a:p>
        </p:txBody>
      </p:sp>
      <p:sp>
        <p:nvSpPr>
          <p:cNvPr id="23" name="Shape 21"/>
          <p:cNvSpPr/>
          <p:nvPr/>
        </p:nvSpPr>
        <p:spPr>
          <a:xfrm>
            <a:off x="566928" y="5138928"/>
            <a:ext cx="6854160" cy="475488"/>
          </a:xfrm>
          <a:prstGeom prst="roundRect">
            <a:avLst>
              <a:gd name="adj" fmla="val 11538"/>
            </a:avLst>
          </a:prstGeom>
          <a:solidFill>
            <a:srgbClr val="EDF5EE"/>
          </a:solidFill>
          <a:ln/>
        </p:spPr>
      </p:sp>
      <p:sp>
        <p:nvSpPr>
          <p:cNvPr id="24" name="Shape 22"/>
          <p:cNvSpPr/>
          <p:nvPr/>
        </p:nvSpPr>
        <p:spPr>
          <a:xfrm>
            <a:off x="749808" y="5239512"/>
            <a:ext cx="274320" cy="274320"/>
          </a:xfrm>
          <a:prstGeom prst="ellipse">
            <a:avLst/>
          </a:prstGeom>
          <a:solidFill>
            <a:srgbClr val="2E7D3A"/>
          </a:solidFill>
          <a:ln/>
        </p:spPr>
      </p:sp>
      <p:sp>
        <p:nvSpPr>
          <p:cNvPr id="25" name="Text 23"/>
          <p:cNvSpPr/>
          <p:nvPr/>
        </p:nvSpPr>
        <p:spPr>
          <a:xfrm>
            <a:off x="749808" y="52395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6" name="Text 24"/>
          <p:cNvSpPr/>
          <p:nvPr/>
        </p:nvSpPr>
        <p:spPr>
          <a:xfrm>
            <a:off x="1152144" y="5138928"/>
            <a:ext cx="6067776" cy="475488"/>
          </a:xfrm>
          <a:prstGeom prst="rect">
            <a:avLst/>
          </a:prstGeom>
          <a:noFill/>
          <a:ln/>
        </p:spPr>
        <p:txBody>
          <a:bodyPr wrap="square" lIns="0" tIns="0" rIns="0" bIns="0" rtlCol="0" anchor="ctr"/>
          <a:lstStyle/>
          <a:p>
            <a:pPr indent="0" marL="0">
              <a:buNone/>
            </a:pPr>
            <a:r>
              <a:rPr lang="en-US" sz="1150" dirty="0">
                <a:solidFill>
                  <a:srgbClr val="1A1819"/>
                </a:solidFill>
                <a:latin typeface="Calibri" pitchFamily="34" charset="0"/>
                <a:ea typeface="Calibri" pitchFamily="34" charset="-122"/>
                <a:cs typeface="Calibri" pitchFamily="34" charset="-120"/>
              </a:rPr>
              <a:t>Am Standort keine CO₂-Emissionen aus fossilen Brennstoffen</a:t>
            </a:r>
            <a:endParaRPr lang="en-US" sz="1150" dirty="0"/>
          </a:p>
        </p:txBody>
      </p:sp>
      <p:sp>
        <p:nvSpPr>
          <p:cNvPr id="27" name="Shape 25"/>
          <p:cNvSpPr/>
          <p:nvPr/>
        </p:nvSpPr>
        <p:spPr>
          <a:xfrm>
            <a:off x="7752740" y="3621024"/>
            <a:ext cx="3869284" cy="2066544"/>
          </a:xfrm>
          <a:prstGeom prst="roundRect">
            <a:avLst>
              <a:gd name="adj" fmla="val 3982"/>
            </a:avLst>
          </a:prstGeom>
          <a:solidFill>
            <a:srgbClr val="F5F6F3"/>
          </a:solidFill>
          <a:ln/>
          <a:effectLst>
            <a:outerShdw sx="100000" sy="100000" kx="0" ky="0" algn="bl" rotWithShape="0" blurRad="127000" dist="25400" dir="5400000">
              <a:srgbClr val="000000">
                <a:alpha val="7000"/>
              </a:srgbClr>
            </a:outerShdw>
          </a:effectLst>
        </p:spPr>
      </p:sp>
      <p:sp>
        <p:nvSpPr>
          <p:cNvPr id="28" name="Text 26"/>
          <p:cNvSpPr/>
          <p:nvPr/>
        </p:nvSpPr>
        <p:spPr>
          <a:xfrm>
            <a:off x="8008772" y="3785616"/>
            <a:ext cx="3357220" cy="29260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Ökobilanz wird Pflicht</a:t>
            </a:r>
            <a:endParaRPr lang="en-US" sz="1500" dirty="0"/>
          </a:p>
        </p:txBody>
      </p:sp>
      <p:sp>
        <p:nvSpPr>
          <p:cNvPr id="29" name="Text 27"/>
          <p:cNvSpPr/>
          <p:nvPr/>
        </p:nvSpPr>
        <p:spPr>
          <a:xfrm>
            <a:off x="8045348" y="4133088"/>
            <a:ext cx="3284068" cy="1444752"/>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A1819"/>
                </a:solidFill>
                <a:latin typeface="Calibri" pitchFamily="34" charset="0"/>
                <a:ea typeface="Calibri" pitchFamily="34" charset="-122"/>
                <a:cs typeface="Calibri" pitchFamily="34" charset="-120"/>
              </a:rPr>
              <a:t>„Bericht zur THG-Bilanz im Lebenszyklus" (§ 88b): ab 2028 für Neubauten über 1.000 m², ab 2030 für alle</a:t>
            </a:r>
            <a:endParaRPr lang="en-US" sz="1050" dirty="0"/>
          </a:p>
          <a:p>
            <a:pPr marL="342900" indent="-342900">
              <a:spcAft>
                <a:spcPts val="600"/>
              </a:spcAft>
              <a:buSzPct val="100000"/>
              <a:buChar char="•"/>
            </a:pPr>
            <a:r>
              <a:rPr lang="en-US" sz="1050" dirty="0">
                <a:solidFill>
                  <a:srgbClr val="1A1819"/>
                </a:solidFill>
                <a:latin typeface="Calibri" pitchFamily="34" charset="0"/>
                <a:ea typeface="Calibri" pitchFamily="34" charset="-122"/>
                <a:cs typeface="Calibri" pitchFamily="34" charset="-120"/>
              </a:rPr>
              <a:t>Methodik DIN SPEC 91606:2026-07, kostenlos bei DIN Media</a:t>
            </a:r>
            <a:endParaRPr lang="en-US" sz="1050" dirty="0"/>
          </a:p>
          <a:p>
            <a:pPr marL="342900" indent="-342900">
              <a:spcAft>
                <a:spcPts val="600"/>
              </a:spcAft>
              <a:buSzPct val="100000"/>
              <a:buChar char="•"/>
            </a:pPr>
            <a:r>
              <a:rPr lang="en-US" sz="1050" dirty="0">
                <a:solidFill>
                  <a:srgbClr val="1A1819"/>
                </a:solidFill>
                <a:latin typeface="Calibri" pitchFamily="34" charset="0"/>
                <a:ea typeface="Calibri" pitchFamily="34" charset="-122"/>
                <a:cs typeface="Calibri" pitchFamily="34" charset="-120"/>
              </a:rPr>
              <a:t>Wert wandert als Pflichtangabe Nr. 17 in den Energieausweis</a:t>
            </a:r>
            <a:endParaRPr lang="en-US" sz="1050" dirty="0"/>
          </a:p>
          <a:p>
            <a:pPr marL="342900" indent="-342900">
              <a:spcAft>
                <a:spcPts val="600"/>
              </a:spcAft>
              <a:buSzPct val="100000"/>
              <a:buChar char="•"/>
            </a:pPr>
            <a:r>
              <a:rPr lang="en-US" sz="1050" dirty="0">
                <a:solidFill>
                  <a:srgbClr val="1A1819"/>
                </a:solidFill>
                <a:latin typeface="Calibri" pitchFamily="34" charset="0"/>
                <a:ea typeface="Calibri" pitchFamily="34" charset="-122"/>
                <a:cs typeface="Calibri" pitchFamily="34" charset="-120"/>
              </a:rPr>
              <a:t>Nur mit Fortbildung „angewandte Ökobilanz für Gebäude" (§ 88c)</a:t>
            </a:r>
            <a:endParaRPr lang="en-US" sz="1050" dirty="0"/>
          </a:p>
        </p:txBody>
      </p:sp>
      <p:sp>
        <p:nvSpPr>
          <p:cNvPr id="31" name="Text 2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10a (Artikel 3), § 10 neu (Artikel 4), §§ 88b/88c GModG</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40, 41</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Erstmals Sanierungspflicht im NWG-Bestand</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Setzt Artikel 9 der EU-Gebäuderichtlinie um. Die Pflicht trifft den Eigentümer, Nachweis über den Energieausweis.</a:t>
            </a:r>
            <a:endParaRPr lang="en-US" sz="1400" dirty="0"/>
          </a:p>
        </p:txBody>
      </p:sp>
      <p:sp>
        <p:nvSpPr>
          <p:cNvPr id="5" name="Shape 3"/>
          <p:cNvSpPr/>
          <p:nvPr/>
        </p:nvSpPr>
        <p:spPr>
          <a:xfrm>
            <a:off x="566928" y="1847088"/>
            <a:ext cx="3017520" cy="1225296"/>
          </a:xfrm>
          <a:prstGeom prst="roundRect">
            <a:avLst>
              <a:gd name="adj" fmla="val 6716"/>
            </a:avLst>
          </a:prstGeom>
          <a:solidFill>
            <a:srgbClr val="EDF5EE"/>
          </a:solidFill>
          <a:ln/>
        </p:spPr>
      </p:sp>
      <p:sp>
        <p:nvSpPr>
          <p:cNvPr id="6" name="Text 4"/>
          <p:cNvSpPr/>
          <p:nvPr/>
        </p:nvSpPr>
        <p:spPr>
          <a:xfrm>
            <a:off x="822960" y="1975104"/>
            <a:ext cx="2560320" cy="347472"/>
          </a:xfrm>
          <a:prstGeom prst="rect">
            <a:avLst/>
          </a:prstGeom>
          <a:noFill/>
          <a:ln/>
        </p:spPr>
        <p:txBody>
          <a:bodyPr wrap="square" lIns="0" tIns="0" rIns="0" bIns="0" rtlCol="0" anchor="ctr"/>
          <a:lstStyle/>
          <a:p>
            <a:pPr indent="0" marL="0">
              <a:buNone/>
            </a:pPr>
            <a:r>
              <a:rPr lang="en-US" sz="2200" b="1" dirty="0">
                <a:solidFill>
                  <a:srgbClr val="2E7D3A"/>
                </a:solidFill>
                <a:latin typeface="Trebuchet MS" pitchFamily="34" charset="0"/>
                <a:ea typeface="Trebuchet MS" pitchFamily="34" charset="-122"/>
                <a:cs typeface="Trebuchet MS" pitchFamily="34" charset="-120"/>
              </a:rPr>
              <a:t>ab 2030</a:t>
            </a:r>
            <a:endParaRPr lang="en-US" sz="2200" dirty="0"/>
          </a:p>
        </p:txBody>
      </p:sp>
      <p:sp>
        <p:nvSpPr>
          <p:cNvPr id="7" name="Text 5"/>
          <p:cNvSpPr/>
          <p:nvPr/>
        </p:nvSpPr>
        <p:spPr>
          <a:xfrm>
            <a:off x="822960" y="2359152"/>
            <a:ext cx="2523744" cy="566928"/>
          </a:xfrm>
          <a:prstGeom prst="rect">
            <a:avLst/>
          </a:prstGeom>
          <a:noFill/>
          <a:ln/>
        </p:spPr>
        <p:txBody>
          <a:bodyPr wrap="square" lIns="0" tIns="0" rIns="0" bIns="0" rtlCol="0" anchor="t"/>
          <a:lstStyle/>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Primärenergie ≤ 3,5 × Referenz</a:t>
            </a:r>
            <a:endParaRPr lang="en-US" sz="1150" dirty="0"/>
          </a:p>
          <a:p>
            <a:pPr indent="0" marL="0">
              <a:lnSpc>
                <a:spcPts val="1500"/>
              </a:lnSpc>
              <a:buNone/>
            </a:pPr>
            <a:r>
              <a:rPr lang="en-US" sz="1150" dirty="0">
                <a:solidFill>
                  <a:srgbClr val="1A1819"/>
                </a:solidFill>
                <a:latin typeface="Calibri" pitchFamily="34" charset="0"/>
                <a:ea typeface="Calibri" pitchFamily="34" charset="-122"/>
                <a:cs typeface="Calibri" pitchFamily="34" charset="-120"/>
              </a:rPr>
              <a:t>Entspricht: raus aus Klasse G</a:t>
            </a:r>
            <a:endParaRPr lang="en-US" sz="1150" dirty="0"/>
          </a:p>
        </p:txBody>
      </p:sp>
      <p:sp>
        <p:nvSpPr>
          <p:cNvPr id="8" name="Shape 6"/>
          <p:cNvSpPr/>
          <p:nvPr/>
        </p:nvSpPr>
        <p:spPr>
          <a:xfrm>
            <a:off x="3840480" y="1847088"/>
            <a:ext cx="3017520" cy="1225296"/>
          </a:xfrm>
          <a:prstGeom prst="roundRect">
            <a:avLst>
              <a:gd name="adj" fmla="val 6716"/>
            </a:avLst>
          </a:prstGeom>
          <a:solidFill>
            <a:srgbClr val="2E7D3A"/>
          </a:solidFill>
          <a:ln/>
        </p:spPr>
      </p:sp>
      <p:sp>
        <p:nvSpPr>
          <p:cNvPr id="9" name="Text 7"/>
          <p:cNvSpPr/>
          <p:nvPr/>
        </p:nvSpPr>
        <p:spPr>
          <a:xfrm>
            <a:off x="4096512" y="1975104"/>
            <a:ext cx="2560320" cy="347472"/>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ab 2033</a:t>
            </a:r>
            <a:endParaRPr lang="en-US" sz="2200" dirty="0"/>
          </a:p>
        </p:txBody>
      </p:sp>
      <p:sp>
        <p:nvSpPr>
          <p:cNvPr id="10" name="Text 8"/>
          <p:cNvSpPr/>
          <p:nvPr/>
        </p:nvSpPr>
        <p:spPr>
          <a:xfrm>
            <a:off x="4096512" y="2359152"/>
            <a:ext cx="2523744" cy="566928"/>
          </a:xfrm>
          <a:prstGeom prst="rect">
            <a:avLst/>
          </a:prstGeom>
          <a:noFill/>
          <a:ln/>
        </p:spPr>
        <p:txBody>
          <a:bodyPr wrap="square" lIns="0" tIns="0" rIns="0" bIns="0" rtlCol="0" anchor="t"/>
          <a:lstStyle/>
          <a:p>
            <a:pPr indent="0" marL="0">
              <a:lnSpc>
                <a:spcPts val="1500"/>
              </a:lnSpc>
              <a:buNone/>
            </a:pPr>
            <a:r>
              <a:rPr lang="en-US" sz="1150" dirty="0">
                <a:solidFill>
                  <a:srgbClr val="E4EDE5"/>
                </a:solidFill>
                <a:latin typeface="Calibri" pitchFamily="34" charset="0"/>
                <a:ea typeface="Calibri" pitchFamily="34" charset="-122"/>
                <a:cs typeface="Calibri" pitchFamily="34" charset="-120"/>
              </a:rPr>
              <a:t>Primärenergie ≤ 2,95 × Referenz</a:t>
            </a:r>
            <a:endParaRPr lang="en-US" sz="1150" dirty="0"/>
          </a:p>
          <a:p>
            <a:pPr indent="0" marL="0">
              <a:lnSpc>
                <a:spcPts val="1500"/>
              </a:lnSpc>
              <a:buNone/>
            </a:pPr>
            <a:r>
              <a:rPr lang="en-US" sz="1150" dirty="0">
                <a:solidFill>
                  <a:srgbClr val="E4EDE5"/>
                </a:solidFill>
                <a:latin typeface="Calibri" pitchFamily="34" charset="0"/>
                <a:ea typeface="Calibri" pitchFamily="34" charset="-122"/>
                <a:cs typeface="Calibri" pitchFamily="34" charset="-120"/>
              </a:rPr>
              <a:t>Entspricht: mindestens Klasse E</a:t>
            </a:r>
            <a:endParaRPr lang="en-US" sz="1150" dirty="0"/>
          </a:p>
        </p:txBody>
      </p:sp>
      <p:sp>
        <p:nvSpPr>
          <p:cNvPr id="11" name="Shape 9"/>
          <p:cNvSpPr/>
          <p:nvPr/>
        </p:nvSpPr>
        <p:spPr>
          <a:xfrm>
            <a:off x="7114032" y="1847088"/>
            <a:ext cx="4507992" cy="1225296"/>
          </a:xfrm>
          <a:prstGeom prst="roundRect">
            <a:avLst>
              <a:gd name="adj" fmla="val 6716"/>
            </a:avLst>
          </a:prstGeom>
          <a:solidFill>
            <a:srgbClr val="F5F6F3"/>
          </a:solidFill>
          <a:ln/>
        </p:spPr>
      </p:sp>
      <p:sp>
        <p:nvSpPr>
          <p:cNvPr id="12" name="Text 10"/>
          <p:cNvSpPr/>
          <p:nvPr/>
        </p:nvSpPr>
        <p:spPr>
          <a:xfrm>
            <a:off x="7351776" y="1956816"/>
            <a:ext cx="4032504" cy="256032"/>
          </a:xfrm>
          <a:prstGeom prst="rect">
            <a:avLst/>
          </a:prstGeom>
          <a:noFill/>
          <a:ln/>
        </p:spPr>
        <p:txBody>
          <a:bodyPr wrap="square" lIns="0" tIns="0" rIns="0" bIns="0" rtlCol="0" anchor="ctr"/>
          <a:lstStyle/>
          <a:p>
            <a:pPr indent="0" marL="0">
              <a:buNone/>
            </a:pPr>
            <a:r>
              <a:rPr lang="en-US" sz="1300" b="1" dirty="0">
                <a:solidFill>
                  <a:srgbClr val="1A1819"/>
                </a:solidFill>
                <a:latin typeface="Trebuchet MS" pitchFamily="34" charset="0"/>
                <a:ea typeface="Trebuchet MS" pitchFamily="34" charset="-122"/>
                <a:cs typeface="Trebuchet MS" pitchFamily="34" charset="-120"/>
              </a:rPr>
              <a:t>Gilt als erfüllt bei</a:t>
            </a:r>
            <a:endParaRPr lang="en-US" sz="1300" dirty="0"/>
          </a:p>
        </p:txBody>
      </p:sp>
      <p:sp>
        <p:nvSpPr>
          <p:cNvPr id="13" name="Text 11"/>
          <p:cNvSpPr/>
          <p:nvPr/>
        </p:nvSpPr>
        <p:spPr>
          <a:xfrm>
            <a:off x="7351776" y="2231136"/>
            <a:ext cx="4050792" cy="731520"/>
          </a:xfrm>
          <a:prstGeom prst="rect">
            <a:avLst/>
          </a:prstGeom>
          <a:noFill/>
          <a:ln/>
        </p:spPr>
        <p:txBody>
          <a:bodyPr wrap="square" lIns="0" tIns="0" rIns="0" bIns="0" rtlCol="0" anchor="t"/>
          <a:lstStyle/>
          <a:p>
            <a:pPr indent="0" marL="0">
              <a:lnSpc>
                <a:spcPts val="1500"/>
              </a:lnSpc>
              <a:buNone/>
            </a:pPr>
            <a:r>
              <a:rPr lang="en-US" sz="1100" dirty="0">
                <a:solidFill>
                  <a:srgbClr val="5B685D"/>
                </a:solidFill>
                <a:latin typeface="Calibri" pitchFamily="34" charset="0"/>
                <a:ea typeface="Calibri" pitchFamily="34" charset="-122"/>
                <a:cs typeface="Calibri" pitchFamily="34" charset="-120"/>
              </a:rPr>
              <a:t>Baujahr ab 1996  ·  WSchV-1995-Niveau  ·  Biomasse- oder WP-Heizung  ·  Fernwärmeanschluss</a:t>
            </a:r>
            <a:endParaRPr lang="en-US" sz="1100" dirty="0"/>
          </a:p>
        </p:txBody>
      </p:sp>
      <p:sp>
        <p:nvSpPr>
          <p:cNvPr id="14" name="Text 12"/>
          <p:cNvSpPr/>
          <p:nvPr/>
        </p:nvSpPr>
        <p:spPr>
          <a:xfrm>
            <a:off x="566928" y="3310128"/>
            <a:ext cx="11055096" cy="274320"/>
          </a:xfrm>
          <a:prstGeom prst="rect">
            <a:avLst/>
          </a:prstGeom>
          <a:noFill/>
          <a:ln/>
        </p:spPr>
        <p:txBody>
          <a:bodyPr wrap="square" lIns="0" tIns="0" rIns="0" bIns="0" rtlCol="0" anchor="ctr"/>
          <a:lstStyle/>
          <a:p>
            <a:pPr indent="0" marL="0">
              <a:buNone/>
            </a:pPr>
            <a:r>
              <a:rPr lang="en-US" sz="1100" b="1" dirty="0">
                <a:solidFill>
                  <a:srgbClr val="5B685D"/>
                </a:solidFill>
                <a:latin typeface="Calibri" pitchFamily="34" charset="0"/>
                <a:ea typeface="Calibri" pitchFamily="34" charset="-122"/>
                <a:cs typeface="Calibri" pitchFamily="34" charset="-120"/>
              </a:rPr>
              <a:t>Die neuen NWG-Klassen (Anlage 10a) - Verhältnis des Primärenergiebedarfs zum Referenzgebäude</a:t>
            </a:r>
            <a:endParaRPr lang="en-US" sz="1100" dirty="0"/>
          </a:p>
        </p:txBody>
      </p:sp>
      <p:sp>
        <p:nvSpPr>
          <p:cNvPr id="15" name="Shape 13"/>
          <p:cNvSpPr/>
          <p:nvPr/>
        </p:nvSpPr>
        <p:spPr>
          <a:xfrm>
            <a:off x="566928" y="3657600"/>
            <a:ext cx="1469571" cy="841248"/>
          </a:xfrm>
          <a:prstGeom prst="roundRect">
            <a:avLst>
              <a:gd name="adj" fmla="val 7609"/>
            </a:avLst>
          </a:prstGeom>
          <a:solidFill>
            <a:srgbClr val="2E7D3A"/>
          </a:solidFill>
          <a:ln/>
        </p:spPr>
      </p:sp>
      <p:sp>
        <p:nvSpPr>
          <p:cNvPr id="16" name="Text 14"/>
          <p:cNvSpPr/>
          <p:nvPr/>
        </p:nvSpPr>
        <p:spPr>
          <a:xfrm>
            <a:off x="566928" y="3712464"/>
            <a:ext cx="1469571"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a:t>
            </a:r>
            <a:endParaRPr lang="en-US" sz="2200" dirty="0"/>
          </a:p>
        </p:txBody>
      </p:sp>
      <p:sp>
        <p:nvSpPr>
          <p:cNvPr id="17" name="Text 15"/>
          <p:cNvSpPr/>
          <p:nvPr/>
        </p:nvSpPr>
        <p:spPr>
          <a:xfrm>
            <a:off x="566928" y="4096512"/>
            <a:ext cx="1469571" cy="274320"/>
          </a:xfrm>
          <a:prstGeom prst="rect">
            <a:avLst/>
          </a:prstGeom>
          <a:noFill/>
          <a:ln/>
        </p:spPr>
        <p:txBody>
          <a:bodyPr wrap="square" lIns="0" tIns="0" rIns="0" bIns="0" rtlCol="0" anchor="ctr"/>
          <a:lstStyle/>
          <a:p>
            <a:pPr algn="ctr" indent="0" marL="0">
              <a:buNone/>
            </a:pPr>
            <a:r>
              <a:rPr lang="en-US" sz="1100" b="1" dirty="0">
                <a:solidFill>
                  <a:srgbClr val="E4EDE5"/>
                </a:solidFill>
                <a:latin typeface="Calibri" pitchFamily="34" charset="0"/>
                <a:ea typeface="Calibri" pitchFamily="34" charset="-122"/>
                <a:cs typeface="Calibri" pitchFamily="34" charset="-120"/>
              </a:rPr>
              <a:t>≤ 1,0</a:t>
            </a:r>
            <a:endParaRPr lang="en-US" sz="1100" dirty="0"/>
          </a:p>
        </p:txBody>
      </p:sp>
      <p:sp>
        <p:nvSpPr>
          <p:cNvPr id="18" name="Shape 16"/>
          <p:cNvSpPr/>
          <p:nvPr/>
        </p:nvSpPr>
        <p:spPr>
          <a:xfrm>
            <a:off x="2164515" y="3657600"/>
            <a:ext cx="1469571" cy="841248"/>
          </a:xfrm>
          <a:prstGeom prst="roundRect">
            <a:avLst>
              <a:gd name="adj" fmla="val 7609"/>
            </a:avLst>
          </a:prstGeom>
          <a:solidFill>
            <a:srgbClr val="58B264"/>
          </a:solidFill>
          <a:ln/>
        </p:spPr>
      </p:sp>
      <p:sp>
        <p:nvSpPr>
          <p:cNvPr id="19" name="Text 17"/>
          <p:cNvSpPr/>
          <p:nvPr/>
        </p:nvSpPr>
        <p:spPr>
          <a:xfrm>
            <a:off x="2164515" y="3712464"/>
            <a:ext cx="1469571"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B</a:t>
            </a:r>
            <a:endParaRPr lang="en-US" sz="2200" dirty="0"/>
          </a:p>
        </p:txBody>
      </p:sp>
      <p:sp>
        <p:nvSpPr>
          <p:cNvPr id="20" name="Text 18"/>
          <p:cNvSpPr/>
          <p:nvPr/>
        </p:nvSpPr>
        <p:spPr>
          <a:xfrm>
            <a:off x="2164515" y="4096512"/>
            <a:ext cx="1469571" cy="274320"/>
          </a:xfrm>
          <a:prstGeom prst="rect">
            <a:avLst/>
          </a:prstGeom>
          <a:noFill/>
          <a:ln/>
        </p:spPr>
        <p:txBody>
          <a:bodyPr wrap="square" lIns="0" tIns="0" rIns="0" bIns="0" rtlCol="0" anchor="ctr"/>
          <a:lstStyle/>
          <a:p>
            <a:pPr algn="ctr" indent="0" marL="0">
              <a:buNone/>
            </a:pPr>
            <a:r>
              <a:rPr lang="en-US" sz="1100" b="1" dirty="0">
                <a:solidFill>
                  <a:srgbClr val="E4EDE5"/>
                </a:solidFill>
                <a:latin typeface="Calibri" pitchFamily="34" charset="0"/>
                <a:ea typeface="Calibri" pitchFamily="34" charset="-122"/>
                <a:cs typeface="Calibri" pitchFamily="34" charset="-120"/>
              </a:rPr>
              <a:t>&gt; 1,0</a:t>
            </a:r>
            <a:endParaRPr lang="en-US" sz="1100" dirty="0"/>
          </a:p>
        </p:txBody>
      </p:sp>
      <p:sp>
        <p:nvSpPr>
          <p:cNvPr id="21" name="Shape 19"/>
          <p:cNvSpPr/>
          <p:nvPr/>
        </p:nvSpPr>
        <p:spPr>
          <a:xfrm>
            <a:off x="3762103" y="3657600"/>
            <a:ext cx="1469571" cy="841248"/>
          </a:xfrm>
          <a:prstGeom prst="roundRect">
            <a:avLst>
              <a:gd name="adj" fmla="val 7609"/>
            </a:avLst>
          </a:prstGeom>
          <a:solidFill>
            <a:srgbClr val="7FC489"/>
          </a:solidFill>
          <a:ln/>
        </p:spPr>
      </p:sp>
      <p:sp>
        <p:nvSpPr>
          <p:cNvPr id="22" name="Text 20"/>
          <p:cNvSpPr/>
          <p:nvPr/>
        </p:nvSpPr>
        <p:spPr>
          <a:xfrm>
            <a:off x="3762103" y="3712464"/>
            <a:ext cx="1469571"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C</a:t>
            </a:r>
            <a:endParaRPr lang="en-US" sz="2200" dirty="0"/>
          </a:p>
        </p:txBody>
      </p:sp>
      <p:sp>
        <p:nvSpPr>
          <p:cNvPr id="23" name="Text 21"/>
          <p:cNvSpPr/>
          <p:nvPr/>
        </p:nvSpPr>
        <p:spPr>
          <a:xfrm>
            <a:off x="3762103" y="4096512"/>
            <a:ext cx="1469571" cy="274320"/>
          </a:xfrm>
          <a:prstGeom prst="rect">
            <a:avLst/>
          </a:prstGeom>
          <a:noFill/>
          <a:ln/>
        </p:spPr>
        <p:txBody>
          <a:bodyPr wrap="square" lIns="0" tIns="0" rIns="0" bIns="0" rtlCol="0" anchor="ctr"/>
          <a:lstStyle/>
          <a:p>
            <a:pPr algn="ctr" indent="0" marL="0">
              <a:buNone/>
            </a:pPr>
            <a:r>
              <a:rPr lang="en-US" sz="1100" b="1" dirty="0">
                <a:solidFill>
                  <a:srgbClr val="E4EDE5"/>
                </a:solidFill>
                <a:latin typeface="Calibri" pitchFamily="34" charset="0"/>
                <a:ea typeface="Calibri" pitchFamily="34" charset="-122"/>
                <a:cs typeface="Calibri" pitchFamily="34" charset="-120"/>
              </a:rPr>
              <a:t>&gt; 1,48</a:t>
            </a:r>
            <a:endParaRPr lang="en-US" sz="1100" dirty="0"/>
          </a:p>
        </p:txBody>
      </p:sp>
      <p:sp>
        <p:nvSpPr>
          <p:cNvPr id="24" name="Shape 22"/>
          <p:cNvSpPr/>
          <p:nvPr/>
        </p:nvSpPr>
        <p:spPr>
          <a:xfrm>
            <a:off x="5359690" y="3657600"/>
            <a:ext cx="1469571" cy="841248"/>
          </a:xfrm>
          <a:prstGeom prst="roundRect">
            <a:avLst>
              <a:gd name="adj" fmla="val 7609"/>
            </a:avLst>
          </a:prstGeom>
          <a:solidFill>
            <a:srgbClr val="BFDCC4"/>
          </a:solidFill>
          <a:ln/>
        </p:spPr>
      </p:sp>
      <p:sp>
        <p:nvSpPr>
          <p:cNvPr id="25" name="Text 23"/>
          <p:cNvSpPr/>
          <p:nvPr/>
        </p:nvSpPr>
        <p:spPr>
          <a:xfrm>
            <a:off x="5359690" y="3712464"/>
            <a:ext cx="1469571" cy="38404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D</a:t>
            </a:r>
            <a:endParaRPr lang="en-US" sz="2200" dirty="0"/>
          </a:p>
        </p:txBody>
      </p:sp>
      <p:sp>
        <p:nvSpPr>
          <p:cNvPr id="26" name="Text 24"/>
          <p:cNvSpPr/>
          <p:nvPr/>
        </p:nvSpPr>
        <p:spPr>
          <a:xfrm>
            <a:off x="5359690" y="4096512"/>
            <a:ext cx="1469571" cy="274320"/>
          </a:xfrm>
          <a:prstGeom prst="rect">
            <a:avLst/>
          </a:prstGeom>
          <a:noFill/>
          <a:ln/>
        </p:spPr>
        <p:txBody>
          <a:bodyPr wrap="square" lIns="0" tIns="0" rIns="0" bIns="0" rtlCol="0" anchor="ctr"/>
          <a:lstStyle/>
          <a:p>
            <a:pPr algn="ctr" indent="0" marL="0">
              <a:buNone/>
            </a:pPr>
            <a:r>
              <a:rPr lang="en-US" sz="1100" b="1" dirty="0">
                <a:solidFill>
                  <a:srgbClr val="E4EDE5"/>
                </a:solidFill>
                <a:latin typeface="Calibri" pitchFamily="34" charset="0"/>
                <a:ea typeface="Calibri" pitchFamily="34" charset="-122"/>
                <a:cs typeface="Calibri" pitchFamily="34" charset="-120"/>
              </a:rPr>
              <a:t>&gt; 1,97</a:t>
            </a:r>
            <a:endParaRPr lang="en-US" sz="1100" dirty="0"/>
          </a:p>
        </p:txBody>
      </p:sp>
      <p:sp>
        <p:nvSpPr>
          <p:cNvPr id="27" name="Shape 25"/>
          <p:cNvSpPr/>
          <p:nvPr/>
        </p:nvSpPr>
        <p:spPr>
          <a:xfrm>
            <a:off x="6957278" y="3657600"/>
            <a:ext cx="1469571" cy="841248"/>
          </a:xfrm>
          <a:prstGeom prst="roundRect">
            <a:avLst>
              <a:gd name="adj" fmla="val 7609"/>
            </a:avLst>
          </a:prstGeom>
          <a:solidFill>
            <a:srgbClr val="E8CC8A"/>
          </a:solidFill>
          <a:ln/>
        </p:spPr>
      </p:sp>
      <p:sp>
        <p:nvSpPr>
          <p:cNvPr id="28" name="Text 26"/>
          <p:cNvSpPr/>
          <p:nvPr/>
        </p:nvSpPr>
        <p:spPr>
          <a:xfrm>
            <a:off x="6957278" y="3712464"/>
            <a:ext cx="1469571" cy="384048"/>
          </a:xfrm>
          <a:prstGeom prst="rect">
            <a:avLst/>
          </a:prstGeom>
          <a:noFill/>
          <a:ln/>
        </p:spPr>
        <p:txBody>
          <a:bodyPr wrap="square" lIns="0" tIns="0" rIns="0" bIns="0" rtlCol="0" anchor="ctr"/>
          <a:lstStyle/>
          <a:p>
            <a:pPr algn="ctr" indent="0" marL="0">
              <a:buNone/>
            </a:pPr>
            <a:r>
              <a:rPr lang="en-US" sz="2200" b="1" dirty="0">
                <a:solidFill>
                  <a:srgbClr val="1A1819"/>
                </a:solidFill>
                <a:latin typeface="Trebuchet MS" pitchFamily="34" charset="0"/>
                <a:ea typeface="Trebuchet MS" pitchFamily="34" charset="-122"/>
                <a:cs typeface="Trebuchet MS" pitchFamily="34" charset="-120"/>
              </a:rPr>
              <a:t>E</a:t>
            </a:r>
            <a:endParaRPr lang="en-US" sz="2200" dirty="0"/>
          </a:p>
        </p:txBody>
      </p:sp>
      <p:sp>
        <p:nvSpPr>
          <p:cNvPr id="29" name="Text 27"/>
          <p:cNvSpPr/>
          <p:nvPr/>
        </p:nvSpPr>
        <p:spPr>
          <a:xfrm>
            <a:off x="6957278" y="4096512"/>
            <a:ext cx="1469571" cy="274320"/>
          </a:xfrm>
          <a:prstGeom prst="rect">
            <a:avLst/>
          </a:prstGeom>
          <a:noFill/>
          <a:ln/>
        </p:spPr>
        <p:txBody>
          <a:bodyPr wrap="square" lIns="0" tIns="0" rIns="0" bIns="0" rtlCol="0" anchor="ctr"/>
          <a:lstStyle/>
          <a:p>
            <a:pPr algn="ctr" indent="0" marL="0">
              <a:buNone/>
            </a:pPr>
            <a:r>
              <a:rPr lang="en-US" sz="1100" b="1" dirty="0">
                <a:solidFill>
                  <a:srgbClr val="1A1819"/>
                </a:solidFill>
                <a:latin typeface="Calibri" pitchFamily="34" charset="0"/>
                <a:ea typeface="Calibri" pitchFamily="34" charset="-122"/>
                <a:cs typeface="Calibri" pitchFamily="34" charset="-120"/>
              </a:rPr>
              <a:t>&gt; 2,46</a:t>
            </a:r>
            <a:endParaRPr lang="en-US" sz="1100" dirty="0"/>
          </a:p>
        </p:txBody>
      </p:sp>
      <p:sp>
        <p:nvSpPr>
          <p:cNvPr id="30" name="Shape 28"/>
          <p:cNvSpPr/>
          <p:nvPr/>
        </p:nvSpPr>
        <p:spPr>
          <a:xfrm>
            <a:off x="8554865" y="3657600"/>
            <a:ext cx="1469571" cy="841248"/>
          </a:xfrm>
          <a:prstGeom prst="roundRect">
            <a:avLst>
              <a:gd name="adj" fmla="val 7609"/>
            </a:avLst>
          </a:prstGeom>
          <a:solidFill>
            <a:srgbClr val="D99A6C"/>
          </a:solidFill>
          <a:ln/>
        </p:spPr>
      </p:sp>
      <p:sp>
        <p:nvSpPr>
          <p:cNvPr id="31" name="Text 29"/>
          <p:cNvSpPr/>
          <p:nvPr/>
        </p:nvSpPr>
        <p:spPr>
          <a:xfrm>
            <a:off x="8554865" y="3712464"/>
            <a:ext cx="1469571" cy="384048"/>
          </a:xfrm>
          <a:prstGeom prst="rect">
            <a:avLst/>
          </a:prstGeom>
          <a:noFill/>
          <a:ln/>
        </p:spPr>
        <p:txBody>
          <a:bodyPr wrap="square" lIns="0" tIns="0" rIns="0" bIns="0" rtlCol="0" anchor="ctr"/>
          <a:lstStyle/>
          <a:p>
            <a:pPr algn="ctr" indent="0" marL="0">
              <a:buNone/>
            </a:pPr>
            <a:r>
              <a:rPr lang="en-US" sz="2200" b="1" dirty="0">
                <a:solidFill>
                  <a:srgbClr val="1A1819"/>
                </a:solidFill>
                <a:latin typeface="Trebuchet MS" pitchFamily="34" charset="0"/>
                <a:ea typeface="Trebuchet MS" pitchFamily="34" charset="-122"/>
                <a:cs typeface="Trebuchet MS" pitchFamily="34" charset="-120"/>
              </a:rPr>
              <a:t>F</a:t>
            </a:r>
            <a:endParaRPr lang="en-US" sz="2200" dirty="0"/>
          </a:p>
        </p:txBody>
      </p:sp>
      <p:sp>
        <p:nvSpPr>
          <p:cNvPr id="32" name="Text 30"/>
          <p:cNvSpPr/>
          <p:nvPr/>
        </p:nvSpPr>
        <p:spPr>
          <a:xfrm>
            <a:off x="8554865" y="4096512"/>
            <a:ext cx="1469571" cy="274320"/>
          </a:xfrm>
          <a:prstGeom prst="rect">
            <a:avLst/>
          </a:prstGeom>
          <a:noFill/>
          <a:ln/>
        </p:spPr>
        <p:txBody>
          <a:bodyPr wrap="square" lIns="0" tIns="0" rIns="0" bIns="0" rtlCol="0" anchor="ctr"/>
          <a:lstStyle/>
          <a:p>
            <a:pPr algn="ctr" indent="0" marL="0">
              <a:buNone/>
            </a:pPr>
            <a:r>
              <a:rPr lang="en-US" sz="1100" b="1" dirty="0">
                <a:solidFill>
                  <a:srgbClr val="1A1819"/>
                </a:solidFill>
                <a:latin typeface="Calibri" pitchFamily="34" charset="0"/>
                <a:ea typeface="Calibri" pitchFamily="34" charset="-122"/>
                <a:cs typeface="Calibri" pitchFamily="34" charset="-120"/>
              </a:rPr>
              <a:t>&gt; 2,95</a:t>
            </a:r>
            <a:endParaRPr lang="en-US" sz="1100" dirty="0"/>
          </a:p>
        </p:txBody>
      </p:sp>
      <p:sp>
        <p:nvSpPr>
          <p:cNvPr id="33" name="Shape 31"/>
          <p:cNvSpPr/>
          <p:nvPr/>
        </p:nvSpPr>
        <p:spPr>
          <a:xfrm>
            <a:off x="10152453" y="3657600"/>
            <a:ext cx="1469571" cy="841248"/>
          </a:xfrm>
          <a:prstGeom prst="roundRect">
            <a:avLst>
              <a:gd name="adj" fmla="val 7609"/>
            </a:avLst>
          </a:prstGeom>
          <a:solidFill>
            <a:srgbClr val="B5544D"/>
          </a:solidFill>
          <a:ln/>
        </p:spPr>
      </p:sp>
      <p:sp>
        <p:nvSpPr>
          <p:cNvPr id="34" name="Text 32"/>
          <p:cNvSpPr/>
          <p:nvPr/>
        </p:nvSpPr>
        <p:spPr>
          <a:xfrm>
            <a:off x="10152453" y="3712464"/>
            <a:ext cx="1469571" cy="384048"/>
          </a:xfrm>
          <a:prstGeom prst="rect">
            <a:avLst/>
          </a:prstGeom>
          <a:noFill/>
          <a:ln/>
        </p:spPr>
        <p:txBody>
          <a:bodyPr wrap="square" lIns="0" tIns="0" rIns="0" bIns="0" rtlCol="0" anchor="ctr"/>
          <a:lstStyle/>
          <a:p>
            <a:pPr algn="ctr" indent="0" marL="0">
              <a:buNone/>
            </a:pPr>
            <a:r>
              <a:rPr lang="en-US" sz="2200" b="1" dirty="0">
                <a:solidFill>
                  <a:srgbClr val="1A1819"/>
                </a:solidFill>
                <a:latin typeface="Trebuchet MS" pitchFamily="34" charset="0"/>
                <a:ea typeface="Trebuchet MS" pitchFamily="34" charset="-122"/>
                <a:cs typeface="Trebuchet MS" pitchFamily="34" charset="-120"/>
              </a:rPr>
              <a:t>G</a:t>
            </a:r>
            <a:endParaRPr lang="en-US" sz="2200" dirty="0"/>
          </a:p>
        </p:txBody>
      </p:sp>
      <p:sp>
        <p:nvSpPr>
          <p:cNvPr id="35" name="Text 33"/>
          <p:cNvSpPr/>
          <p:nvPr/>
        </p:nvSpPr>
        <p:spPr>
          <a:xfrm>
            <a:off x="10152453" y="4096512"/>
            <a:ext cx="1469571" cy="274320"/>
          </a:xfrm>
          <a:prstGeom prst="rect">
            <a:avLst/>
          </a:prstGeom>
          <a:noFill/>
          <a:ln/>
        </p:spPr>
        <p:txBody>
          <a:bodyPr wrap="square" lIns="0" tIns="0" rIns="0" bIns="0" rtlCol="0" anchor="ctr"/>
          <a:lstStyle/>
          <a:p>
            <a:pPr algn="ctr" indent="0" marL="0">
              <a:buNone/>
            </a:pPr>
            <a:r>
              <a:rPr lang="en-US" sz="1100" b="1" dirty="0">
                <a:solidFill>
                  <a:srgbClr val="1A1819"/>
                </a:solidFill>
                <a:latin typeface="Calibri" pitchFamily="34" charset="0"/>
                <a:ea typeface="Calibri" pitchFamily="34" charset="-122"/>
                <a:cs typeface="Calibri" pitchFamily="34" charset="-120"/>
              </a:rPr>
              <a:t>&gt; 3,5</a:t>
            </a:r>
            <a:endParaRPr lang="en-US" sz="1100" dirty="0"/>
          </a:p>
        </p:txBody>
      </p:sp>
      <p:sp>
        <p:nvSpPr>
          <p:cNvPr id="36" name="Text 34"/>
          <p:cNvSpPr/>
          <p:nvPr/>
        </p:nvSpPr>
        <p:spPr>
          <a:xfrm>
            <a:off x="566928" y="4535424"/>
            <a:ext cx="11055096" cy="237744"/>
          </a:xfrm>
          <a:prstGeom prst="rect">
            <a:avLst/>
          </a:prstGeom>
          <a:noFill/>
          <a:ln/>
        </p:spPr>
        <p:txBody>
          <a:bodyPr wrap="square" lIns="0" tIns="0" rIns="0" bIns="0" rtlCol="0" anchor="ctr"/>
          <a:lstStyle/>
          <a:p>
            <a:pPr indent="0" marL="0">
              <a:buNone/>
            </a:pPr>
            <a:r>
              <a:rPr lang="en-US" sz="1050" i="1" dirty="0">
                <a:solidFill>
                  <a:srgbClr val="5B685D"/>
                </a:solidFill>
                <a:latin typeface="Calibri" pitchFamily="34" charset="0"/>
                <a:ea typeface="Calibri" pitchFamily="34" charset="-122"/>
                <a:cs typeface="Calibri" pitchFamily="34" charset="-120"/>
              </a:rPr>
              <a:t>Klasse A gibt es nur noch für Nullemissionsgebäude.</a:t>
            </a:r>
            <a:endParaRPr lang="en-US" sz="1050" dirty="0"/>
          </a:p>
        </p:txBody>
      </p:sp>
      <p:sp>
        <p:nvSpPr>
          <p:cNvPr id="37" name="Shape 35"/>
          <p:cNvSpPr/>
          <p:nvPr/>
        </p:nvSpPr>
        <p:spPr>
          <a:xfrm>
            <a:off x="566928" y="4937760"/>
            <a:ext cx="11055096" cy="932688"/>
          </a:xfrm>
          <a:prstGeom prst="roundRect">
            <a:avLst>
              <a:gd name="adj" fmla="val 8824"/>
            </a:avLst>
          </a:prstGeom>
          <a:solidFill>
            <a:srgbClr val="1A1819"/>
          </a:solidFill>
          <a:ln/>
        </p:spPr>
      </p:sp>
      <p:sp>
        <p:nvSpPr>
          <p:cNvPr id="38" name="Text 36"/>
          <p:cNvSpPr/>
          <p:nvPr/>
        </p:nvSpPr>
        <p:spPr>
          <a:xfrm>
            <a:off x="841248" y="5047488"/>
            <a:ext cx="10506456" cy="256032"/>
          </a:xfrm>
          <a:prstGeom prst="rect">
            <a:avLst/>
          </a:prstGeom>
          <a:noFill/>
          <a:ln/>
        </p:spPr>
        <p:txBody>
          <a:bodyPr wrap="square" lIns="0" tIns="0" rIns="0" bIns="0" rtlCol="0" anchor="ctr"/>
          <a:lstStyle/>
          <a:p>
            <a:pPr indent="0" marL="0">
              <a:buNone/>
            </a:pPr>
            <a:r>
              <a:rPr lang="en-US" sz="1400" b="1" dirty="0">
                <a:solidFill>
                  <a:srgbClr val="58B264"/>
                </a:solidFill>
                <a:latin typeface="Trebuchet MS" pitchFamily="34" charset="0"/>
                <a:ea typeface="Trebuchet MS" pitchFamily="34" charset="-122"/>
                <a:cs typeface="Trebuchet MS" pitchFamily="34" charset="-120"/>
              </a:rPr>
              <a:t>Was das für unsere Arbeit heißt</a:t>
            </a:r>
            <a:endParaRPr lang="en-US" sz="1400" dirty="0"/>
          </a:p>
        </p:txBody>
      </p:sp>
      <p:sp>
        <p:nvSpPr>
          <p:cNvPr id="39" name="Text 37"/>
          <p:cNvSpPr/>
          <p:nvPr/>
        </p:nvSpPr>
        <p:spPr>
          <a:xfrm>
            <a:off x="841248" y="5321808"/>
            <a:ext cx="10506456" cy="438912"/>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Nichtwohngebäude brauchen künftig nur noch Bedarfsausweise - bei Verkauf, Vermietung, Verpachtung und neu auch bei Vertragsverlängerung. Jeder Ausweis heißt damit vollständige energetische Bilanzierung statt Verbrauchsablesung. Datenaufnahme und Rechenaufwand steigen deutlich.</a:t>
            </a:r>
            <a:endParaRPr lang="en-US" sz="1150" dirty="0"/>
          </a:p>
        </p:txBody>
      </p:sp>
      <p:sp>
        <p:nvSpPr>
          <p:cNvPr id="41" name="Text 3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40, 41 GModG · §§ 79-82, § 86, Anlage 10a · Artikel 2, Stufe 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60A BIS 60C</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Prüfen, optimieren, abgleichen - mit Frist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Alle drei Pflichten sind bußgeldbewehrt bis 5.000 €. Wiederkehrende Nachweisleistungen für uns.</a:t>
            </a:r>
            <a:endParaRPr lang="en-US" sz="1400" dirty="0"/>
          </a:p>
        </p:txBody>
      </p:sp>
      <p:sp>
        <p:nvSpPr>
          <p:cNvPr id="5" name="Shape 3"/>
          <p:cNvSpPr/>
          <p:nvPr/>
        </p:nvSpPr>
        <p:spPr>
          <a:xfrm>
            <a:off x="566928" y="1847088"/>
            <a:ext cx="3514344" cy="3017520"/>
          </a:xfrm>
          <a:prstGeom prst="roundRect">
            <a:avLst>
              <a:gd name="adj" fmla="val 2727"/>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22960" y="2011680"/>
            <a:ext cx="3002280" cy="256032"/>
          </a:xfrm>
          <a:prstGeom prst="rect">
            <a:avLst/>
          </a:prstGeom>
          <a:noFill/>
          <a:ln/>
        </p:spPr>
        <p:txBody>
          <a:bodyPr wrap="square" lIns="0" tIns="0" rIns="0" bIns="0" rtlCol="0" anchor="ctr"/>
          <a:lstStyle/>
          <a:p>
            <a:pPr indent="0" marL="0">
              <a:buNone/>
            </a:pPr>
            <a:r>
              <a:rPr lang="en-US" sz="1100" b="1" spc="140" kern="0" dirty="0">
                <a:solidFill>
                  <a:srgbClr val="2E7D3A"/>
                </a:solidFill>
                <a:latin typeface="Calibri" pitchFamily="34" charset="0"/>
                <a:ea typeface="Calibri" pitchFamily="34" charset="-122"/>
                <a:cs typeface="Calibri" pitchFamily="34" charset="-120"/>
              </a:rPr>
              <a:t>§ 60a</a:t>
            </a:r>
            <a:endParaRPr lang="en-US" sz="1100" dirty="0"/>
          </a:p>
        </p:txBody>
      </p:sp>
      <p:sp>
        <p:nvSpPr>
          <p:cNvPr id="7" name="Text 5"/>
          <p:cNvSpPr/>
          <p:nvPr/>
        </p:nvSpPr>
        <p:spPr>
          <a:xfrm>
            <a:off x="822960" y="2286000"/>
            <a:ext cx="3002280" cy="365760"/>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Wärmepumpen-Prüfung</a:t>
            </a:r>
            <a:endParaRPr lang="en-US" sz="1600" dirty="0"/>
          </a:p>
        </p:txBody>
      </p:sp>
      <p:sp>
        <p:nvSpPr>
          <p:cNvPr id="8" name="Text 6"/>
          <p:cNvSpPr/>
          <p:nvPr/>
        </p:nvSpPr>
        <p:spPr>
          <a:xfrm>
            <a:off x="822960" y="2706624"/>
            <a:ext cx="3020568" cy="1325880"/>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Für Wärmepumpen ab Inbetriebnahme 2024 in Gebäuden ab 6 Einheiten, auch Luft-Luft. Prüfung nach der ersten vollen Heizperiode, spätestens nach 2 Jahren, danach alle 5 Jahre. Optimierung binnen 1 Jahr umsetzen, Ergebnis schriftlich.</a:t>
            </a:r>
            <a:endParaRPr lang="en-US" sz="1100" dirty="0"/>
          </a:p>
        </p:txBody>
      </p:sp>
      <p:sp>
        <p:nvSpPr>
          <p:cNvPr id="9" name="Shape 7"/>
          <p:cNvSpPr/>
          <p:nvPr/>
        </p:nvSpPr>
        <p:spPr>
          <a:xfrm>
            <a:off x="786384" y="4096512"/>
            <a:ext cx="3075432" cy="603504"/>
          </a:xfrm>
          <a:prstGeom prst="roundRect">
            <a:avLst>
              <a:gd name="adj" fmla="val 9091"/>
            </a:avLst>
          </a:prstGeom>
          <a:solidFill>
            <a:srgbClr val="EDF5EE"/>
          </a:solidFill>
          <a:ln/>
        </p:spPr>
      </p:sp>
      <p:sp>
        <p:nvSpPr>
          <p:cNvPr id="10" name="Text 8"/>
          <p:cNvSpPr/>
          <p:nvPr/>
        </p:nvSpPr>
        <p:spPr>
          <a:xfrm>
            <a:off x="932688" y="4096512"/>
            <a:ext cx="2782824" cy="603504"/>
          </a:xfrm>
          <a:prstGeom prst="rect">
            <a:avLst/>
          </a:prstGeom>
          <a:noFill/>
          <a:ln/>
        </p:spPr>
        <p:txBody>
          <a:bodyPr wrap="square" lIns="0" tIns="0" rIns="0" bIns="0" rtlCol="0" anchor="ctr"/>
          <a:lstStyle/>
          <a:p>
            <a:pPr indent="0" marL="0">
              <a:buNone/>
            </a:pPr>
            <a:r>
              <a:rPr lang="en-US" sz="1050" b="1" dirty="0">
                <a:solidFill>
                  <a:srgbClr val="2E7D3A"/>
                </a:solidFill>
                <a:latin typeface="Calibri" pitchFamily="34" charset="0"/>
                <a:ea typeface="Calibri" pitchFamily="34" charset="-122"/>
                <a:cs typeface="Calibri" pitchFamily="34" charset="-120"/>
              </a:rPr>
              <a:t>Wartungsvertrag oder Fernüberwachung ersetzt die Prüfung komplett.</a:t>
            </a:r>
            <a:endParaRPr lang="en-US" sz="1050" dirty="0"/>
          </a:p>
        </p:txBody>
      </p:sp>
      <p:sp>
        <p:nvSpPr>
          <p:cNvPr id="11" name="Shape 9"/>
          <p:cNvSpPr/>
          <p:nvPr/>
        </p:nvSpPr>
        <p:spPr>
          <a:xfrm>
            <a:off x="4337304" y="1847088"/>
            <a:ext cx="3514344" cy="3017520"/>
          </a:xfrm>
          <a:prstGeom prst="roundRect">
            <a:avLst>
              <a:gd name="adj" fmla="val 2727"/>
            </a:avLst>
          </a:prstGeom>
          <a:solidFill>
            <a:srgbClr val="F5F6F3"/>
          </a:solidFill>
          <a:ln/>
          <a:effectLst>
            <a:outerShdw sx="100000" sy="100000" kx="0" ky="0" algn="bl" rotWithShape="0" blurRad="127000" dist="25400" dir="5400000">
              <a:srgbClr val="000000">
                <a:alpha val="7000"/>
              </a:srgbClr>
            </a:outerShdw>
          </a:effectLst>
        </p:spPr>
      </p:sp>
      <p:sp>
        <p:nvSpPr>
          <p:cNvPr id="12" name="Text 10"/>
          <p:cNvSpPr/>
          <p:nvPr/>
        </p:nvSpPr>
        <p:spPr>
          <a:xfrm>
            <a:off x="4593336" y="2011680"/>
            <a:ext cx="3002280" cy="256032"/>
          </a:xfrm>
          <a:prstGeom prst="rect">
            <a:avLst/>
          </a:prstGeom>
          <a:noFill/>
          <a:ln/>
        </p:spPr>
        <p:txBody>
          <a:bodyPr wrap="square" lIns="0" tIns="0" rIns="0" bIns="0" rtlCol="0" anchor="ctr"/>
          <a:lstStyle/>
          <a:p>
            <a:pPr indent="0" marL="0">
              <a:buNone/>
            </a:pPr>
            <a:r>
              <a:rPr lang="en-US" sz="1100" b="1" spc="140" kern="0" dirty="0">
                <a:solidFill>
                  <a:srgbClr val="2E7D3A"/>
                </a:solidFill>
                <a:latin typeface="Calibri" pitchFamily="34" charset="0"/>
                <a:ea typeface="Calibri" pitchFamily="34" charset="-122"/>
                <a:cs typeface="Calibri" pitchFamily="34" charset="-120"/>
              </a:rPr>
              <a:t>§ 60b</a:t>
            </a:r>
            <a:endParaRPr lang="en-US" sz="1100" dirty="0"/>
          </a:p>
        </p:txBody>
      </p:sp>
      <p:sp>
        <p:nvSpPr>
          <p:cNvPr id="13" name="Text 11"/>
          <p:cNvSpPr/>
          <p:nvPr/>
        </p:nvSpPr>
        <p:spPr>
          <a:xfrm>
            <a:off x="4593336" y="2286000"/>
            <a:ext cx="3002280" cy="365760"/>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Alt-Heizungscheck</a:t>
            </a:r>
            <a:endParaRPr lang="en-US" sz="1600" dirty="0"/>
          </a:p>
        </p:txBody>
      </p:sp>
      <p:sp>
        <p:nvSpPr>
          <p:cNvPr id="14" name="Text 12"/>
          <p:cNvSpPr/>
          <p:nvPr/>
        </p:nvSpPr>
        <p:spPr>
          <a:xfrm>
            <a:off x="4593336" y="2706624"/>
            <a:ext cx="3020568" cy="1325880"/>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Wasserbasierte Heizungen, eingebaut vor dem 01.10.2009, Gebäude ab 6 Einheiten, keine Wärmepumpe. Prüfkatalog gestrafft: Regelung, Temperaturführung, Pumpen, Zirkulation.</a:t>
            </a:r>
            <a:endParaRPr lang="en-US" sz="1100" dirty="0"/>
          </a:p>
        </p:txBody>
      </p:sp>
      <p:sp>
        <p:nvSpPr>
          <p:cNvPr id="15" name="Shape 13"/>
          <p:cNvSpPr/>
          <p:nvPr/>
        </p:nvSpPr>
        <p:spPr>
          <a:xfrm>
            <a:off x="4556760" y="4096512"/>
            <a:ext cx="3075432" cy="603504"/>
          </a:xfrm>
          <a:prstGeom prst="roundRect">
            <a:avLst>
              <a:gd name="adj" fmla="val 9091"/>
            </a:avLst>
          </a:prstGeom>
          <a:solidFill>
            <a:srgbClr val="FFF6E0"/>
          </a:solidFill>
          <a:ln w="12700">
            <a:solidFill>
              <a:srgbClr val="E8CC8A"/>
            </a:solidFill>
            <a:prstDash val="solid"/>
          </a:ln>
        </p:spPr>
      </p:sp>
      <p:sp>
        <p:nvSpPr>
          <p:cNvPr id="16" name="Text 14"/>
          <p:cNvSpPr/>
          <p:nvPr/>
        </p:nvSpPr>
        <p:spPr>
          <a:xfrm>
            <a:off x="4703064" y="4096512"/>
            <a:ext cx="2782824" cy="603504"/>
          </a:xfrm>
          <a:prstGeom prst="rect">
            <a:avLst/>
          </a:prstGeom>
          <a:noFill/>
          <a:ln/>
        </p:spPr>
        <p:txBody>
          <a:bodyPr wrap="square" lIns="0" tIns="0" rIns="0" bIns="0" rtlCol="0" anchor="ctr"/>
          <a:lstStyle/>
          <a:p>
            <a:pPr indent="0" marL="0">
              <a:buNone/>
            </a:pPr>
            <a:r>
              <a:rPr lang="en-US" sz="1050" b="1" dirty="0">
                <a:solidFill>
                  <a:srgbClr val="8A6100"/>
                </a:solidFill>
                <a:latin typeface="Calibri" pitchFamily="34" charset="0"/>
                <a:ea typeface="Calibri" pitchFamily="34" charset="-122"/>
                <a:cs typeface="Calibri" pitchFamily="34" charset="-120"/>
              </a:rPr>
              <a:t>Frist: bis 30.09.2027 abgeschlossen. Die läuft bereits.</a:t>
            </a:r>
            <a:endParaRPr lang="en-US" sz="1050" dirty="0"/>
          </a:p>
        </p:txBody>
      </p:sp>
      <p:sp>
        <p:nvSpPr>
          <p:cNvPr id="17" name="Shape 15"/>
          <p:cNvSpPr/>
          <p:nvPr/>
        </p:nvSpPr>
        <p:spPr>
          <a:xfrm>
            <a:off x="8107680" y="1847088"/>
            <a:ext cx="3514344" cy="3017520"/>
          </a:xfrm>
          <a:prstGeom prst="roundRect">
            <a:avLst>
              <a:gd name="adj" fmla="val 2727"/>
            </a:avLst>
          </a:prstGeom>
          <a:solidFill>
            <a:srgbClr val="F5F6F3"/>
          </a:solidFill>
          <a:ln/>
          <a:effectLst>
            <a:outerShdw sx="100000" sy="100000" kx="0" ky="0" algn="bl" rotWithShape="0" blurRad="127000" dist="25400" dir="5400000">
              <a:srgbClr val="000000">
                <a:alpha val="7000"/>
              </a:srgbClr>
            </a:outerShdw>
          </a:effectLst>
        </p:spPr>
      </p:sp>
      <p:sp>
        <p:nvSpPr>
          <p:cNvPr id="18" name="Text 16"/>
          <p:cNvSpPr/>
          <p:nvPr/>
        </p:nvSpPr>
        <p:spPr>
          <a:xfrm>
            <a:off x="8363712" y="2011680"/>
            <a:ext cx="3002280" cy="256032"/>
          </a:xfrm>
          <a:prstGeom prst="rect">
            <a:avLst/>
          </a:prstGeom>
          <a:noFill/>
          <a:ln/>
        </p:spPr>
        <p:txBody>
          <a:bodyPr wrap="square" lIns="0" tIns="0" rIns="0" bIns="0" rtlCol="0" anchor="ctr"/>
          <a:lstStyle/>
          <a:p>
            <a:pPr indent="0" marL="0">
              <a:buNone/>
            </a:pPr>
            <a:r>
              <a:rPr lang="en-US" sz="1100" b="1" spc="140" kern="0" dirty="0">
                <a:solidFill>
                  <a:srgbClr val="2E7D3A"/>
                </a:solidFill>
                <a:latin typeface="Calibri" pitchFamily="34" charset="0"/>
                <a:ea typeface="Calibri" pitchFamily="34" charset="-122"/>
                <a:cs typeface="Calibri" pitchFamily="34" charset="-120"/>
              </a:rPr>
              <a:t>§ 60c</a:t>
            </a:r>
            <a:endParaRPr lang="en-US" sz="1100" dirty="0"/>
          </a:p>
        </p:txBody>
      </p:sp>
      <p:sp>
        <p:nvSpPr>
          <p:cNvPr id="19" name="Text 17"/>
          <p:cNvSpPr/>
          <p:nvPr/>
        </p:nvSpPr>
        <p:spPr>
          <a:xfrm>
            <a:off x="8363712" y="2286000"/>
            <a:ext cx="3002280" cy="365760"/>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Hydraulischer Abgleich</a:t>
            </a:r>
            <a:endParaRPr lang="en-US" sz="1600" dirty="0"/>
          </a:p>
        </p:txBody>
      </p:sp>
      <p:sp>
        <p:nvSpPr>
          <p:cNvPr id="20" name="Text 18"/>
          <p:cNvSpPr/>
          <p:nvPr/>
        </p:nvSpPr>
        <p:spPr>
          <a:xfrm>
            <a:off x="8363712" y="2706624"/>
            <a:ext cx="3020568" cy="1325880"/>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Erstmals gesetzlich definiert: Planungs- und Umsetzungsleistungen inklusive raumweiser Heizlastberechnung nach DIN EN 12831-1 sowie Anpassung von Heizflächen und Regelung.</a:t>
            </a:r>
            <a:endParaRPr lang="en-US" sz="1100" dirty="0"/>
          </a:p>
        </p:txBody>
      </p:sp>
      <p:sp>
        <p:nvSpPr>
          <p:cNvPr id="21" name="Shape 19"/>
          <p:cNvSpPr/>
          <p:nvPr/>
        </p:nvSpPr>
        <p:spPr>
          <a:xfrm>
            <a:off x="8327136" y="4096512"/>
            <a:ext cx="3075432" cy="603504"/>
          </a:xfrm>
          <a:prstGeom prst="roundRect">
            <a:avLst>
              <a:gd name="adj" fmla="val 9091"/>
            </a:avLst>
          </a:prstGeom>
          <a:solidFill>
            <a:srgbClr val="EDF5EE"/>
          </a:solidFill>
          <a:ln/>
        </p:spPr>
      </p:sp>
      <p:sp>
        <p:nvSpPr>
          <p:cNvPr id="22" name="Text 20"/>
          <p:cNvSpPr/>
          <p:nvPr/>
        </p:nvSpPr>
        <p:spPr>
          <a:xfrm>
            <a:off x="8473440" y="4096512"/>
            <a:ext cx="2782824" cy="603504"/>
          </a:xfrm>
          <a:prstGeom prst="rect">
            <a:avLst/>
          </a:prstGeom>
          <a:noFill/>
          <a:ln/>
        </p:spPr>
        <p:txBody>
          <a:bodyPr wrap="square" lIns="0" tIns="0" rIns="0" bIns="0" rtlCol="0" anchor="ctr"/>
          <a:lstStyle/>
          <a:p>
            <a:pPr indent="0" marL="0">
              <a:buNone/>
            </a:pPr>
            <a:r>
              <a:rPr lang="en-US" sz="1050" b="1" dirty="0">
                <a:solidFill>
                  <a:srgbClr val="2E7D3A"/>
                </a:solidFill>
                <a:latin typeface="Calibri" pitchFamily="34" charset="0"/>
                <a:ea typeface="Calibri" pitchFamily="34" charset="-122"/>
                <a:cs typeface="Calibri" pitchFamily="34" charset="-120"/>
              </a:rPr>
              <a:t>Die raumweise Heizlast wird damit Pflichtbestandteil.</a:t>
            </a:r>
            <a:endParaRPr lang="en-US" sz="1050" dirty="0"/>
          </a:p>
        </p:txBody>
      </p:sp>
      <p:sp>
        <p:nvSpPr>
          <p:cNvPr id="23" name="Shape 21"/>
          <p:cNvSpPr/>
          <p:nvPr/>
        </p:nvSpPr>
        <p:spPr>
          <a:xfrm>
            <a:off x="566928" y="5084064"/>
            <a:ext cx="11055096" cy="822960"/>
          </a:xfrm>
          <a:prstGeom prst="roundRect">
            <a:avLst>
              <a:gd name="adj" fmla="val 10000"/>
            </a:avLst>
          </a:prstGeom>
          <a:solidFill>
            <a:srgbClr val="1A1819"/>
          </a:solidFill>
          <a:ln/>
        </p:spPr>
      </p:sp>
      <p:sp>
        <p:nvSpPr>
          <p:cNvPr id="24" name="Text 22"/>
          <p:cNvSpPr/>
          <p:nvPr/>
        </p:nvSpPr>
        <p:spPr>
          <a:xfrm>
            <a:off x="859536" y="5084064"/>
            <a:ext cx="2194560" cy="822960"/>
          </a:xfrm>
          <a:prstGeom prst="rect">
            <a:avLst/>
          </a:prstGeom>
          <a:noFill/>
          <a:ln/>
        </p:spPr>
        <p:txBody>
          <a:bodyPr wrap="square" lIns="0" tIns="0" rIns="0" bIns="0" rtlCol="0" anchor="ctr"/>
          <a:lstStyle/>
          <a:p>
            <a:pPr indent="0" marL="0">
              <a:buNone/>
            </a:pPr>
            <a:r>
              <a:rPr lang="en-US" sz="3000" b="1" dirty="0">
                <a:solidFill>
                  <a:srgbClr val="58B264"/>
                </a:solidFill>
                <a:latin typeface="Trebuchet MS" pitchFamily="34" charset="0"/>
                <a:ea typeface="Trebuchet MS" pitchFamily="34" charset="-122"/>
                <a:cs typeface="Trebuchet MS" pitchFamily="34" charset="-120"/>
              </a:rPr>
              <a:t>30.09.2027</a:t>
            </a:r>
            <a:endParaRPr lang="en-US" sz="3000" dirty="0"/>
          </a:p>
        </p:txBody>
      </p:sp>
      <p:sp>
        <p:nvSpPr>
          <p:cNvPr id="25" name="Text 23"/>
          <p:cNvSpPr/>
          <p:nvPr/>
        </p:nvSpPr>
        <p:spPr>
          <a:xfrm>
            <a:off x="3218688" y="5084064"/>
            <a:ext cx="8110728" cy="822960"/>
          </a:xfrm>
          <a:prstGeom prst="rect">
            <a:avLst/>
          </a:prstGeom>
          <a:noFill/>
          <a:ln/>
        </p:spPr>
        <p:txBody>
          <a:bodyPr wrap="square" lIns="0" tIns="0" rIns="0" bIns="0" rtlCol="0" anchor="ctr"/>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Der Heizungscheck nach § 60b muss bis dahin durch sein - gut 14 Monate. Wer Bestandskunden mit Anlagen von vor Oktober 2009 hat: Das ist ein konkreter Auftrag, den wir jetzt aktiv ansprechen können.</a:t>
            </a:r>
            <a:endParaRPr lang="en-US" sz="1250" dirty="0"/>
          </a:p>
        </p:txBody>
      </p:sp>
      <p:sp>
        <p:nvSpPr>
          <p:cNvPr id="27" name="Text 2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60a, 60b, 60c GModG · Drs. 21/7009, S. 76-79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 106 UND GEIG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Solarpflicht und Ladeinfrastruktur</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Bei Neubau-Planungen und Dachsanierungen früh mitdenken: Statik, Dachbelegung, Zählerplatz, Anschlussräume.</a:t>
            </a:r>
            <a:endParaRPr lang="en-US" sz="1400" dirty="0"/>
          </a:p>
        </p:txBody>
      </p:sp>
      <p:sp>
        <p:nvSpPr>
          <p:cNvPr id="5" name="Text 3"/>
          <p:cNvSpPr/>
          <p:nvPr/>
        </p:nvSpPr>
        <p:spPr>
          <a:xfrm>
            <a:off x="566928" y="1810512"/>
            <a:ext cx="53721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 106 · Bundesweite Solarpflicht in fünf Stufen</a:t>
            </a:r>
            <a:endParaRPr lang="en-US" sz="1600" dirty="0"/>
          </a:p>
        </p:txBody>
      </p:sp>
      <p:sp>
        <p:nvSpPr>
          <p:cNvPr id="6" name="Shape 4"/>
          <p:cNvSpPr/>
          <p:nvPr/>
        </p:nvSpPr>
        <p:spPr>
          <a:xfrm>
            <a:off x="566928" y="2194560"/>
            <a:ext cx="5372100" cy="566928"/>
          </a:xfrm>
          <a:prstGeom prst="roundRect">
            <a:avLst>
              <a:gd name="adj" fmla="val 9677"/>
            </a:avLst>
          </a:prstGeom>
          <a:solidFill>
            <a:srgbClr val="F5F6F3"/>
          </a:solidFill>
          <a:ln/>
        </p:spPr>
      </p:sp>
      <p:sp>
        <p:nvSpPr>
          <p:cNvPr id="7" name="Text 5"/>
          <p:cNvSpPr/>
          <p:nvPr/>
        </p:nvSpPr>
        <p:spPr>
          <a:xfrm>
            <a:off x="786384" y="2194560"/>
            <a:ext cx="713232" cy="56692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2027</a:t>
            </a:r>
            <a:endParaRPr lang="en-US" sz="1500" dirty="0"/>
          </a:p>
        </p:txBody>
      </p:sp>
      <p:sp>
        <p:nvSpPr>
          <p:cNvPr id="8" name="Text 6"/>
          <p:cNvSpPr/>
          <p:nvPr/>
        </p:nvSpPr>
        <p:spPr>
          <a:xfrm>
            <a:off x="1554480" y="2194560"/>
            <a:ext cx="4165092" cy="566928"/>
          </a:xfrm>
          <a:prstGeom prst="rect">
            <a:avLst/>
          </a:prstGeom>
          <a:noFill/>
          <a:ln/>
        </p:spPr>
        <p:txBody>
          <a:bodyPr wrap="square" lIns="0" tIns="0" rIns="0" bIns="0" rtlCol="0" anchor="ctr"/>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Neue NWG über 250 m² Nutzfläche und alle neuen öffentlichen NWG</a:t>
            </a:r>
            <a:endParaRPr lang="en-US" sz="1100" dirty="0"/>
          </a:p>
        </p:txBody>
      </p:sp>
      <p:sp>
        <p:nvSpPr>
          <p:cNvPr id="9" name="Shape 7"/>
          <p:cNvSpPr/>
          <p:nvPr/>
        </p:nvSpPr>
        <p:spPr>
          <a:xfrm>
            <a:off x="566928" y="2834640"/>
            <a:ext cx="5372100" cy="566928"/>
          </a:xfrm>
          <a:prstGeom prst="roundRect">
            <a:avLst>
              <a:gd name="adj" fmla="val 9677"/>
            </a:avLst>
          </a:prstGeom>
          <a:solidFill>
            <a:srgbClr val="FFFFFF"/>
          </a:solidFill>
          <a:ln w="12700">
            <a:solidFill>
              <a:srgbClr val="D5DDD6"/>
            </a:solidFill>
            <a:prstDash val="solid"/>
          </a:ln>
        </p:spPr>
      </p:sp>
      <p:sp>
        <p:nvSpPr>
          <p:cNvPr id="10" name="Text 8"/>
          <p:cNvSpPr/>
          <p:nvPr/>
        </p:nvSpPr>
        <p:spPr>
          <a:xfrm>
            <a:off x="786384" y="2834640"/>
            <a:ext cx="713232" cy="56692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2028</a:t>
            </a:r>
            <a:endParaRPr lang="en-US" sz="1500" dirty="0"/>
          </a:p>
        </p:txBody>
      </p:sp>
      <p:sp>
        <p:nvSpPr>
          <p:cNvPr id="11" name="Text 9"/>
          <p:cNvSpPr/>
          <p:nvPr/>
        </p:nvSpPr>
        <p:spPr>
          <a:xfrm>
            <a:off x="1554480" y="2834640"/>
            <a:ext cx="4165092" cy="566928"/>
          </a:xfrm>
          <a:prstGeom prst="rect">
            <a:avLst/>
          </a:prstGeom>
          <a:noFill/>
          <a:ln/>
        </p:spPr>
        <p:txBody>
          <a:bodyPr wrap="square" lIns="0" tIns="0" rIns="0" bIns="0" rtlCol="0" anchor="ctr"/>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Bestand: öffentliche NWG über 2.000 m²; NWG über 500 m² bei Dachsanierung</a:t>
            </a:r>
            <a:endParaRPr lang="en-US" sz="1100" dirty="0"/>
          </a:p>
        </p:txBody>
      </p:sp>
      <p:sp>
        <p:nvSpPr>
          <p:cNvPr id="12" name="Shape 10"/>
          <p:cNvSpPr/>
          <p:nvPr/>
        </p:nvSpPr>
        <p:spPr>
          <a:xfrm>
            <a:off x="566928" y="3474720"/>
            <a:ext cx="5372100" cy="566928"/>
          </a:xfrm>
          <a:prstGeom prst="roundRect">
            <a:avLst>
              <a:gd name="adj" fmla="val 9677"/>
            </a:avLst>
          </a:prstGeom>
          <a:solidFill>
            <a:srgbClr val="F5F6F3"/>
          </a:solidFill>
          <a:ln/>
        </p:spPr>
      </p:sp>
      <p:sp>
        <p:nvSpPr>
          <p:cNvPr id="13" name="Text 11"/>
          <p:cNvSpPr/>
          <p:nvPr/>
        </p:nvSpPr>
        <p:spPr>
          <a:xfrm>
            <a:off x="786384" y="3474720"/>
            <a:ext cx="713232" cy="56692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2029</a:t>
            </a:r>
            <a:endParaRPr lang="en-US" sz="1500" dirty="0"/>
          </a:p>
        </p:txBody>
      </p:sp>
      <p:sp>
        <p:nvSpPr>
          <p:cNvPr id="14" name="Text 12"/>
          <p:cNvSpPr/>
          <p:nvPr/>
        </p:nvSpPr>
        <p:spPr>
          <a:xfrm>
            <a:off x="1554480" y="3474720"/>
            <a:ext cx="4165092" cy="566928"/>
          </a:xfrm>
          <a:prstGeom prst="rect">
            <a:avLst/>
          </a:prstGeom>
          <a:noFill/>
          <a:ln/>
        </p:spPr>
        <p:txBody>
          <a:bodyPr wrap="square" lIns="0" tIns="0" rIns="0" bIns="0" rtlCol="0" anchor="ctr"/>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Bestand: öffentliche NWG über 750 m²</a:t>
            </a:r>
            <a:endParaRPr lang="en-US" sz="1100" dirty="0"/>
          </a:p>
        </p:txBody>
      </p:sp>
      <p:sp>
        <p:nvSpPr>
          <p:cNvPr id="15" name="Shape 13"/>
          <p:cNvSpPr/>
          <p:nvPr/>
        </p:nvSpPr>
        <p:spPr>
          <a:xfrm>
            <a:off x="566928" y="4114800"/>
            <a:ext cx="5372100" cy="566928"/>
          </a:xfrm>
          <a:prstGeom prst="roundRect">
            <a:avLst>
              <a:gd name="adj" fmla="val 9677"/>
            </a:avLst>
          </a:prstGeom>
          <a:solidFill>
            <a:srgbClr val="FFFFFF"/>
          </a:solidFill>
          <a:ln w="12700">
            <a:solidFill>
              <a:srgbClr val="D5DDD6"/>
            </a:solidFill>
            <a:prstDash val="solid"/>
          </a:ln>
        </p:spPr>
      </p:sp>
      <p:sp>
        <p:nvSpPr>
          <p:cNvPr id="16" name="Text 14"/>
          <p:cNvSpPr/>
          <p:nvPr/>
        </p:nvSpPr>
        <p:spPr>
          <a:xfrm>
            <a:off x="786384" y="4114800"/>
            <a:ext cx="713232" cy="56692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2030</a:t>
            </a:r>
            <a:endParaRPr lang="en-US" sz="1500" dirty="0"/>
          </a:p>
        </p:txBody>
      </p:sp>
      <p:sp>
        <p:nvSpPr>
          <p:cNvPr id="17" name="Text 15"/>
          <p:cNvSpPr/>
          <p:nvPr/>
        </p:nvSpPr>
        <p:spPr>
          <a:xfrm>
            <a:off x="1554480" y="4114800"/>
            <a:ext cx="4165092" cy="566928"/>
          </a:xfrm>
          <a:prstGeom prst="rect">
            <a:avLst/>
          </a:prstGeom>
          <a:noFill/>
          <a:ln/>
        </p:spPr>
        <p:txBody>
          <a:bodyPr wrap="square" lIns="0" tIns="0" rIns="0" bIns="0" rtlCol="0" anchor="ctr"/>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Neue Wohngebäude und überdachte Parkplätze am Gebäude</a:t>
            </a:r>
            <a:endParaRPr lang="en-US" sz="1100" dirty="0"/>
          </a:p>
        </p:txBody>
      </p:sp>
      <p:sp>
        <p:nvSpPr>
          <p:cNvPr id="18" name="Shape 16"/>
          <p:cNvSpPr/>
          <p:nvPr/>
        </p:nvSpPr>
        <p:spPr>
          <a:xfrm>
            <a:off x="566928" y="4754880"/>
            <a:ext cx="5372100" cy="566928"/>
          </a:xfrm>
          <a:prstGeom prst="roundRect">
            <a:avLst>
              <a:gd name="adj" fmla="val 9677"/>
            </a:avLst>
          </a:prstGeom>
          <a:solidFill>
            <a:srgbClr val="F5F6F3"/>
          </a:solidFill>
          <a:ln/>
        </p:spPr>
      </p:sp>
      <p:sp>
        <p:nvSpPr>
          <p:cNvPr id="19" name="Text 17"/>
          <p:cNvSpPr/>
          <p:nvPr/>
        </p:nvSpPr>
        <p:spPr>
          <a:xfrm>
            <a:off x="786384" y="4754880"/>
            <a:ext cx="713232" cy="56692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2031</a:t>
            </a:r>
            <a:endParaRPr lang="en-US" sz="1500" dirty="0"/>
          </a:p>
        </p:txBody>
      </p:sp>
      <p:sp>
        <p:nvSpPr>
          <p:cNvPr id="20" name="Text 18"/>
          <p:cNvSpPr/>
          <p:nvPr/>
        </p:nvSpPr>
        <p:spPr>
          <a:xfrm>
            <a:off x="1554480" y="4754880"/>
            <a:ext cx="4165092" cy="566928"/>
          </a:xfrm>
          <a:prstGeom prst="rect">
            <a:avLst/>
          </a:prstGeom>
          <a:noFill/>
          <a:ln/>
        </p:spPr>
        <p:txBody>
          <a:bodyPr wrap="square" lIns="0" tIns="0" rIns="0" bIns="0" rtlCol="0" anchor="ctr"/>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Bestand: öffentliche NWG über 250 m²</a:t>
            </a:r>
            <a:endParaRPr lang="en-US" sz="1100" dirty="0"/>
          </a:p>
        </p:txBody>
      </p:sp>
      <p:sp>
        <p:nvSpPr>
          <p:cNvPr id="21" name="Text 19"/>
          <p:cNvSpPr/>
          <p:nvPr/>
        </p:nvSpPr>
        <p:spPr>
          <a:xfrm>
            <a:off x="6249924" y="1810512"/>
            <a:ext cx="53721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GEIG · Wer muss Stellplätze verkabeln?</a:t>
            </a:r>
            <a:endParaRPr lang="en-US" sz="1600" dirty="0"/>
          </a:p>
        </p:txBody>
      </p:sp>
      <p:sp>
        <p:nvSpPr>
          <p:cNvPr id="22" name="Shape 20"/>
          <p:cNvSpPr/>
          <p:nvPr/>
        </p:nvSpPr>
        <p:spPr>
          <a:xfrm>
            <a:off x="6249924" y="2194560"/>
            <a:ext cx="5372100" cy="731520"/>
          </a:xfrm>
          <a:prstGeom prst="roundRect">
            <a:avLst>
              <a:gd name="adj" fmla="val 7500"/>
            </a:avLst>
          </a:prstGeom>
          <a:solidFill>
            <a:srgbClr val="F5F6F3"/>
          </a:solidFill>
          <a:ln/>
        </p:spPr>
      </p:sp>
      <p:sp>
        <p:nvSpPr>
          <p:cNvPr id="23" name="Text 21"/>
          <p:cNvSpPr/>
          <p:nvPr/>
        </p:nvSpPr>
        <p:spPr>
          <a:xfrm>
            <a:off x="6469380" y="2267712"/>
            <a:ext cx="2103120" cy="2743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Neubau WG</a:t>
            </a:r>
            <a:endParaRPr lang="en-US" sz="1150" dirty="0"/>
          </a:p>
        </p:txBody>
      </p:sp>
      <p:sp>
        <p:nvSpPr>
          <p:cNvPr id="24" name="Text 22"/>
          <p:cNvSpPr/>
          <p:nvPr/>
        </p:nvSpPr>
        <p:spPr>
          <a:xfrm>
            <a:off x="8609076" y="2267712"/>
            <a:ext cx="1737360" cy="274320"/>
          </a:xfrm>
          <a:prstGeom prst="rect">
            <a:avLst/>
          </a:prstGeom>
          <a:noFill/>
          <a:ln/>
        </p:spPr>
        <p:txBody>
          <a:bodyPr wrap="square" lIns="0" tIns="0" rIns="0" bIns="0" rtlCol="0" anchor="ctr"/>
          <a:lstStyle/>
          <a:p>
            <a:pPr indent="0" marL="0">
              <a:buNone/>
            </a:pPr>
            <a:r>
              <a:rPr lang="en-US" sz="1100" b="1" dirty="0">
                <a:solidFill>
                  <a:srgbClr val="2E7D3A"/>
                </a:solidFill>
                <a:latin typeface="Calibri" pitchFamily="34" charset="0"/>
                <a:ea typeface="Calibri" pitchFamily="34" charset="-122"/>
                <a:cs typeface="Calibri" pitchFamily="34" charset="-120"/>
              </a:rPr>
              <a:t>&gt; 3 Stellplätze</a:t>
            </a:r>
            <a:endParaRPr lang="en-US" sz="1100" dirty="0"/>
          </a:p>
        </p:txBody>
      </p:sp>
      <p:sp>
        <p:nvSpPr>
          <p:cNvPr id="25" name="Text 23"/>
          <p:cNvSpPr/>
          <p:nvPr/>
        </p:nvSpPr>
        <p:spPr>
          <a:xfrm>
            <a:off x="6469380" y="2560320"/>
            <a:ext cx="4933188" cy="29260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50 % vorverkabeln, mind. 1 Ladepunkt</a:t>
            </a:r>
            <a:endParaRPr lang="en-US" sz="1050" dirty="0"/>
          </a:p>
        </p:txBody>
      </p:sp>
      <p:sp>
        <p:nvSpPr>
          <p:cNvPr id="26" name="Shape 24"/>
          <p:cNvSpPr/>
          <p:nvPr/>
        </p:nvSpPr>
        <p:spPr>
          <a:xfrm>
            <a:off x="6249924" y="2999232"/>
            <a:ext cx="5372100" cy="731520"/>
          </a:xfrm>
          <a:prstGeom prst="roundRect">
            <a:avLst>
              <a:gd name="adj" fmla="val 7500"/>
            </a:avLst>
          </a:prstGeom>
          <a:solidFill>
            <a:srgbClr val="F5F6F3"/>
          </a:solidFill>
          <a:ln/>
        </p:spPr>
      </p:sp>
      <p:sp>
        <p:nvSpPr>
          <p:cNvPr id="27" name="Text 25"/>
          <p:cNvSpPr/>
          <p:nvPr/>
        </p:nvSpPr>
        <p:spPr>
          <a:xfrm>
            <a:off x="6469380" y="3072384"/>
            <a:ext cx="2103120" cy="2743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Neubau NWG</a:t>
            </a:r>
            <a:endParaRPr lang="en-US" sz="1150" dirty="0"/>
          </a:p>
        </p:txBody>
      </p:sp>
      <p:sp>
        <p:nvSpPr>
          <p:cNvPr id="28" name="Text 26"/>
          <p:cNvSpPr/>
          <p:nvPr/>
        </p:nvSpPr>
        <p:spPr>
          <a:xfrm>
            <a:off x="8609076" y="3072384"/>
            <a:ext cx="1737360" cy="274320"/>
          </a:xfrm>
          <a:prstGeom prst="rect">
            <a:avLst/>
          </a:prstGeom>
          <a:noFill/>
          <a:ln/>
        </p:spPr>
        <p:txBody>
          <a:bodyPr wrap="square" lIns="0" tIns="0" rIns="0" bIns="0" rtlCol="0" anchor="ctr"/>
          <a:lstStyle/>
          <a:p>
            <a:pPr indent="0" marL="0">
              <a:buNone/>
            </a:pPr>
            <a:r>
              <a:rPr lang="en-US" sz="1100" b="1" dirty="0">
                <a:solidFill>
                  <a:srgbClr val="2E7D3A"/>
                </a:solidFill>
                <a:latin typeface="Calibri" pitchFamily="34" charset="0"/>
                <a:ea typeface="Calibri" pitchFamily="34" charset="-122"/>
                <a:cs typeface="Calibri" pitchFamily="34" charset="-120"/>
              </a:rPr>
              <a:t>&gt; 5 Stellplätze</a:t>
            </a:r>
            <a:endParaRPr lang="en-US" sz="1100" dirty="0"/>
          </a:p>
        </p:txBody>
      </p:sp>
      <p:sp>
        <p:nvSpPr>
          <p:cNvPr id="29" name="Text 27"/>
          <p:cNvSpPr/>
          <p:nvPr/>
        </p:nvSpPr>
        <p:spPr>
          <a:xfrm>
            <a:off x="6469380" y="3364992"/>
            <a:ext cx="4933188" cy="29260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50 % vorverkabeln, 1 Ladepunkt je 5.</a:t>
            </a:r>
            <a:endParaRPr lang="en-US" sz="1050" dirty="0"/>
          </a:p>
        </p:txBody>
      </p:sp>
      <p:sp>
        <p:nvSpPr>
          <p:cNvPr id="30" name="Shape 28"/>
          <p:cNvSpPr/>
          <p:nvPr/>
        </p:nvSpPr>
        <p:spPr>
          <a:xfrm>
            <a:off x="6249924" y="3803904"/>
            <a:ext cx="5372100" cy="731520"/>
          </a:xfrm>
          <a:prstGeom prst="roundRect">
            <a:avLst>
              <a:gd name="adj" fmla="val 7500"/>
            </a:avLst>
          </a:prstGeom>
          <a:solidFill>
            <a:srgbClr val="F5F6F3"/>
          </a:solidFill>
          <a:ln/>
        </p:spPr>
      </p:sp>
      <p:sp>
        <p:nvSpPr>
          <p:cNvPr id="31" name="Text 29"/>
          <p:cNvSpPr/>
          <p:nvPr/>
        </p:nvSpPr>
        <p:spPr>
          <a:xfrm>
            <a:off x="6469380" y="3877056"/>
            <a:ext cx="2103120" cy="2743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Große Renovierung</a:t>
            </a:r>
            <a:endParaRPr lang="en-US" sz="1150" dirty="0"/>
          </a:p>
        </p:txBody>
      </p:sp>
      <p:sp>
        <p:nvSpPr>
          <p:cNvPr id="32" name="Text 30"/>
          <p:cNvSpPr/>
          <p:nvPr/>
        </p:nvSpPr>
        <p:spPr>
          <a:xfrm>
            <a:off x="8609076" y="3877056"/>
            <a:ext cx="1737360" cy="274320"/>
          </a:xfrm>
          <a:prstGeom prst="rect">
            <a:avLst/>
          </a:prstGeom>
          <a:noFill/>
          <a:ln/>
        </p:spPr>
        <p:txBody>
          <a:bodyPr wrap="square" lIns="0" tIns="0" rIns="0" bIns="0" rtlCol="0" anchor="ctr"/>
          <a:lstStyle/>
          <a:p>
            <a:pPr indent="0" marL="0">
              <a:buNone/>
            </a:pPr>
            <a:r>
              <a:rPr lang="en-US" sz="1100" b="1" dirty="0">
                <a:solidFill>
                  <a:srgbClr val="2E7D3A"/>
                </a:solidFill>
                <a:latin typeface="Calibri" pitchFamily="34" charset="0"/>
                <a:ea typeface="Calibri" pitchFamily="34" charset="-122"/>
                <a:cs typeface="Calibri" pitchFamily="34" charset="-120"/>
              </a:rPr>
              <a:t>WG &gt; 3 / NWG &gt; 5</a:t>
            </a:r>
            <a:endParaRPr lang="en-US" sz="1100" dirty="0"/>
          </a:p>
        </p:txBody>
      </p:sp>
      <p:sp>
        <p:nvSpPr>
          <p:cNvPr id="33" name="Text 31"/>
          <p:cNvSpPr/>
          <p:nvPr/>
        </p:nvSpPr>
        <p:spPr>
          <a:xfrm>
            <a:off x="6469380" y="4169664"/>
            <a:ext cx="4933188" cy="29260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wie Neubau, wenn Parkplatz oder Elektrik betroffen</a:t>
            </a:r>
            <a:endParaRPr lang="en-US" sz="1050" dirty="0"/>
          </a:p>
        </p:txBody>
      </p:sp>
      <p:sp>
        <p:nvSpPr>
          <p:cNvPr id="34" name="Shape 32"/>
          <p:cNvSpPr/>
          <p:nvPr/>
        </p:nvSpPr>
        <p:spPr>
          <a:xfrm>
            <a:off x="6249924" y="4608576"/>
            <a:ext cx="5372100" cy="731520"/>
          </a:xfrm>
          <a:prstGeom prst="roundRect">
            <a:avLst>
              <a:gd name="adj" fmla="val 7500"/>
            </a:avLst>
          </a:prstGeom>
          <a:solidFill>
            <a:srgbClr val="EDF5EE"/>
          </a:solidFill>
          <a:ln/>
        </p:spPr>
      </p:sp>
      <p:sp>
        <p:nvSpPr>
          <p:cNvPr id="35" name="Text 33"/>
          <p:cNvSpPr/>
          <p:nvPr/>
        </p:nvSpPr>
        <p:spPr>
          <a:xfrm>
            <a:off x="6469380" y="4681728"/>
            <a:ext cx="2103120" cy="2743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Bestand NWG</a:t>
            </a:r>
            <a:endParaRPr lang="en-US" sz="1150" dirty="0"/>
          </a:p>
        </p:txBody>
      </p:sp>
      <p:sp>
        <p:nvSpPr>
          <p:cNvPr id="36" name="Text 34"/>
          <p:cNvSpPr/>
          <p:nvPr/>
        </p:nvSpPr>
        <p:spPr>
          <a:xfrm>
            <a:off x="8609076" y="4681728"/>
            <a:ext cx="1737360" cy="274320"/>
          </a:xfrm>
          <a:prstGeom prst="rect">
            <a:avLst/>
          </a:prstGeom>
          <a:noFill/>
          <a:ln/>
        </p:spPr>
        <p:txBody>
          <a:bodyPr wrap="square" lIns="0" tIns="0" rIns="0" bIns="0" rtlCol="0" anchor="ctr"/>
          <a:lstStyle/>
          <a:p>
            <a:pPr indent="0" marL="0">
              <a:buNone/>
            </a:pPr>
            <a:r>
              <a:rPr lang="en-US" sz="1100" b="1" dirty="0">
                <a:solidFill>
                  <a:srgbClr val="2E7D3A"/>
                </a:solidFill>
                <a:latin typeface="Calibri" pitchFamily="34" charset="0"/>
                <a:ea typeface="Calibri" pitchFamily="34" charset="-122"/>
                <a:cs typeface="Calibri" pitchFamily="34" charset="-120"/>
              </a:rPr>
              <a:t>&gt; 20 Stellplätze</a:t>
            </a:r>
            <a:endParaRPr lang="en-US" sz="1100" dirty="0"/>
          </a:p>
        </p:txBody>
      </p:sp>
      <p:sp>
        <p:nvSpPr>
          <p:cNvPr id="37" name="Text 35"/>
          <p:cNvSpPr/>
          <p:nvPr/>
        </p:nvSpPr>
        <p:spPr>
          <a:xfrm>
            <a:off x="6469380" y="4974336"/>
            <a:ext cx="4933188" cy="292608"/>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ab 01.01.2027: 1 Ladepunkt je 10 ODER 50 % Leitung</a:t>
            </a:r>
            <a:endParaRPr lang="en-US" sz="1050" dirty="0"/>
          </a:p>
        </p:txBody>
      </p:sp>
      <p:sp>
        <p:nvSpPr>
          <p:cNvPr id="38" name="Shape 36"/>
          <p:cNvSpPr/>
          <p:nvPr/>
        </p:nvSpPr>
        <p:spPr>
          <a:xfrm>
            <a:off x="566928" y="5504688"/>
            <a:ext cx="11055096" cy="621792"/>
          </a:xfrm>
          <a:prstGeom prst="roundRect">
            <a:avLst>
              <a:gd name="adj" fmla="val 13235"/>
            </a:avLst>
          </a:prstGeom>
          <a:solidFill>
            <a:srgbClr val="FFF6E0"/>
          </a:solidFill>
          <a:ln w="12700">
            <a:solidFill>
              <a:srgbClr val="E8CC8A"/>
            </a:solidFill>
            <a:prstDash val="solid"/>
          </a:ln>
        </p:spPr>
      </p:sp>
      <p:sp>
        <p:nvSpPr>
          <p:cNvPr id="39" name="Text 37"/>
          <p:cNvSpPr/>
          <p:nvPr/>
        </p:nvSpPr>
        <p:spPr>
          <a:xfrm>
            <a:off x="768096" y="5559552"/>
            <a:ext cx="10652760" cy="512064"/>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Wichtig:  </a:t>
            </a:r>
            <a:pPr indent="0" marL="0">
              <a:buNone/>
            </a:pPr>
            <a:r>
              <a:rPr lang="en-US" sz="1200" dirty="0">
                <a:solidFill>
                  <a:srgbClr val="1A1819"/>
                </a:solidFill>
                <a:latin typeface="Calibri" pitchFamily="34" charset="0"/>
                <a:ea typeface="Calibri" pitchFamily="34" charset="-122"/>
                <a:cs typeface="Calibri" pitchFamily="34" charset="-120"/>
              </a:rPr>
              <a:t>„Vorverkabeln" heißt anschlussfertig bis zum Endpunkt - reine Leerrohre oder Kabelkanäle genügen ausdrücklich nicht. Neue Ladepunkte müssen intelligentes Laden beherrschen.</a:t>
            </a:r>
            <a:endParaRPr lang="en-US" sz="1200" dirty="0"/>
          </a:p>
        </p:txBody>
      </p:sp>
      <p:sp>
        <p:nvSpPr>
          <p:cNvPr id="41" name="Text 3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 106 GModG (Artikel 2, Stufe 2) · GEIG in der Fassung von Artikel 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ÜBERBLICK</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Der Fristenkalender bis 2045</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Zum Fotografieren. Vor der Verkündung galt das GEG 2024 - das Stufe-2-Datum hängt am Verkündungsmonat.</a:t>
            </a:r>
            <a:endParaRPr lang="en-US" sz="1400" dirty="0"/>
          </a:p>
        </p:txBody>
      </p:sp>
      <p:sp>
        <p:nvSpPr>
          <p:cNvPr id="5" name="Shape 3"/>
          <p:cNvSpPr/>
          <p:nvPr/>
        </p:nvSpPr>
        <p:spPr>
          <a:xfrm>
            <a:off x="566928" y="1810512"/>
            <a:ext cx="5372100" cy="502920"/>
          </a:xfrm>
          <a:prstGeom prst="roundRect">
            <a:avLst>
              <a:gd name="adj" fmla="val 9091"/>
            </a:avLst>
          </a:prstGeom>
          <a:solidFill>
            <a:srgbClr val="EDF5EE"/>
          </a:solidFill>
          <a:ln/>
        </p:spPr>
      </p:sp>
      <p:sp>
        <p:nvSpPr>
          <p:cNvPr id="6" name="Text 4"/>
          <p:cNvSpPr/>
          <p:nvPr/>
        </p:nvSpPr>
        <p:spPr>
          <a:xfrm>
            <a:off x="749808" y="1810512"/>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Jetzt</a:t>
            </a:r>
            <a:endParaRPr lang="en-US" sz="1150" dirty="0"/>
          </a:p>
        </p:txBody>
      </p:sp>
      <p:sp>
        <p:nvSpPr>
          <p:cNvPr id="7" name="Text 5"/>
          <p:cNvSpPr/>
          <p:nvPr/>
        </p:nvSpPr>
        <p:spPr>
          <a:xfrm>
            <a:off x="1975104" y="1810512"/>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Neues Heizungsrecht in Kraft, 65-%-Pflicht und Betriebsverbote gestrichen</a:t>
            </a:r>
            <a:endParaRPr lang="en-US" sz="1050" dirty="0"/>
          </a:p>
        </p:txBody>
      </p:sp>
      <p:sp>
        <p:nvSpPr>
          <p:cNvPr id="8" name="Shape 6"/>
          <p:cNvSpPr/>
          <p:nvPr/>
        </p:nvSpPr>
        <p:spPr>
          <a:xfrm>
            <a:off x="566928" y="2372868"/>
            <a:ext cx="5372100" cy="502920"/>
          </a:xfrm>
          <a:prstGeom prst="roundRect">
            <a:avLst>
              <a:gd name="adj" fmla="val 9091"/>
            </a:avLst>
          </a:prstGeom>
          <a:solidFill>
            <a:srgbClr val="EDF5EE"/>
          </a:solidFill>
          <a:ln/>
        </p:spPr>
      </p:sp>
      <p:sp>
        <p:nvSpPr>
          <p:cNvPr id="9" name="Text 7"/>
          <p:cNvSpPr/>
          <p:nvPr/>
        </p:nvSpPr>
        <p:spPr>
          <a:xfrm>
            <a:off x="749808" y="2372868"/>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 01.01.27</a:t>
            </a:r>
            <a:endParaRPr lang="en-US" sz="1150" dirty="0"/>
          </a:p>
        </p:txBody>
      </p:sp>
      <p:sp>
        <p:nvSpPr>
          <p:cNvPr id="10" name="Text 8"/>
          <p:cNvSpPr/>
          <p:nvPr/>
        </p:nvSpPr>
        <p:spPr>
          <a:xfrm>
            <a:off x="1975104" y="2372868"/>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Stufe 2: neue Rechenregeln, Ausweisrecht, NWG-Pflicht, Solarpflicht, GEIG</a:t>
            </a:r>
            <a:endParaRPr lang="en-US" sz="1050" dirty="0"/>
          </a:p>
        </p:txBody>
      </p:sp>
      <p:sp>
        <p:nvSpPr>
          <p:cNvPr id="11" name="Shape 9"/>
          <p:cNvSpPr/>
          <p:nvPr/>
        </p:nvSpPr>
        <p:spPr>
          <a:xfrm>
            <a:off x="566928" y="2935224"/>
            <a:ext cx="5372100" cy="502920"/>
          </a:xfrm>
          <a:prstGeom prst="roundRect">
            <a:avLst>
              <a:gd name="adj" fmla="val 9091"/>
            </a:avLst>
          </a:prstGeom>
          <a:solidFill>
            <a:srgbClr val="F5F6F3"/>
          </a:solidFill>
          <a:ln/>
        </p:spPr>
      </p:sp>
      <p:sp>
        <p:nvSpPr>
          <p:cNvPr id="12" name="Text 10"/>
          <p:cNvSpPr/>
          <p:nvPr/>
        </p:nvSpPr>
        <p:spPr>
          <a:xfrm>
            <a:off x="749808" y="2935224"/>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01.01.2027</a:t>
            </a:r>
            <a:endParaRPr lang="en-US" sz="1150" dirty="0"/>
          </a:p>
        </p:txBody>
      </p:sp>
      <p:sp>
        <p:nvSpPr>
          <p:cNvPr id="13" name="Text 11"/>
          <p:cNvSpPr/>
          <p:nvPr/>
        </p:nvSpPr>
        <p:spPr>
          <a:xfrm>
            <a:off x="1975104" y="2935224"/>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GEIG Bestands-NWG &gt; 20 Stellplätze · Solarpflicht neue NWG &gt; 250 m²</a:t>
            </a:r>
            <a:endParaRPr lang="en-US" sz="1050" dirty="0"/>
          </a:p>
        </p:txBody>
      </p:sp>
      <p:sp>
        <p:nvSpPr>
          <p:cNvPr id="14" name="Shape 12"/>
          <p:cNvSpPr/>
          <p:nvPr/>
        </p:nvSpPr>
        <p:spPr>
          <a:xfrm>
            <a:off x="566928" y="3497580"/>
            <a:ext cx="5372100" cy="502920"/>
          </a:xfrm>
          <a:prstGeom prst="roundRect">
            <a:avLst>
              <a:gd name="adj" fmla="val 9091"/>
            </a:avLst>
          </a:prstGeom>
          <a:solidFill>
            <a:srgbClr val="EDF5EE"/>
          </a:solidFill>
          <a:ln/>
        </p:spPr>
      </p:sp>
      <p:sp>
        <p:nvSpPr>
          <p:cNvPr id="15" name="Text 13"/>
          <p:cNvSpPr/>
          <p:nvPr/>
        </p:nvSpPr>
        <p:spPr>
          <a:xfrm>
            <a:off x="749808" y="3497580"/>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30.09.2027</a:t>
            </a:r>
            <a:endParaRPr lang="en-US" sz="1150" dirty="0"/>
          </a:p>
        </p:txBody>
      </p:sp>
      <p:sp>
        <p:nvSpPr>
          <p:cNvPr id="16" name="Text 14"/>
          <p:cNvSpPr/>
          <p:nvPr/>
        </p:nvSpPr>
        <p:spPr>
          <a:xfrm>
            <a:off x="1975104" y="3497580"/>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Heizungscheck § 60b für Anlagen von vor 10/2009 abgeschlossen</a:t>
            </a:r>
            <a:endParaRPr lang="en-US" sz="1050" dirty="0"/>
          </a:p>
        </p:txBody>
      </p:sp>
      <p:sp>
        <p:nvSpPr>
          <p:cNvPr id="17" name="Shape 15"/>
          <p:cNvSpPr/>
          <p:nvPr/>
        </p:nvSpPr>
        <p:spPr>
          <a:xfrm>
            <a:off x="566928" y="4059936"/>
            <a:ext cx="5372100" cy="502920"/>
          </a:xfrm>
          <a:prstGeom prst="roundRect">
            <a:avLst>
              <a:gd name="adj" fmla="val 9091"/>
            </a:avLst>
          </a:prstGeom>
          <a:solidFill>
            <a:srgbClr val="F5F6F3"/>
          </a:solidFill>
          <a:ln/>
        </p:spPr>
      </p:sp>
      <p:sp>
        <p:nvSpPr>
          <p:cNvPr id="18" name="Text 16"/>
          <p:cNvSpPr/>
          <p:nvPr/>
        </p:nvSpPr>
        <p:spPr>
          <a:xfrm>
            <a:off x="749808" y="4059936"/>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01.01.2028</a:t>
            </a:r>
            <a:endParaRPr lang="en-US" sz="1150" dirty="0"/>
          </a:p>
        </p:txBody>
      </p:sp>
      <p:sp>
        <p:nvSpPr>
          <p:cNvPr id="19" name="Text 17"/>
          <p:cNvSpPr/>
          <p:nvPr/>
        </p:nvSpPr>
        <p:spPr>
          <a:xfrm>
            <a:off x="1975104" y="4059936"/>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Nullemission neue öffentliche NWG · CO₂ + Netzentgelte hälftig · THG-Bericht &gt; 1.000 m²</a:t>
            </a:r>
            <a:endParaRPr lang="en-US" sz="1050" dirty="0"/>
          </a:p>
        </p:txBody>
      </p:sp>
      <p:sp>
        <p:nvSpPr>
          <p:cNvPr id="20" name="Shape 18"/>
          <p:cNvSpPr/>
          <p:nvPr/>
        </p:nvSpPr>
        <p:spPr>
          <a:xfrm>
            <a:off x="566928" y="4622292"/>
            <a:ext cx="5372100" cy="502920"/>
          </a:xfrm>
          <a:prstGeom prst="roundRect">
            <a:avLst>
              <a:gd name="adj" fmla="val 9091"/>
            </a:avLst>
          </a:prstGeom>
          <a:solidFill>
            <a:srgbClr val="F5F6F3"/>
          </a:solidFill>
          <a:ln/>
        </p:spPr>
      </p:sp>
      <p:sp>
        <p:nvSpPr>
          <p:cNvPr id="21" name="Text 19"/>
          <p:cNvSpPr/>
          <p:nvPr/>
        </p:nvSpPr>
        <p:spPr>
          <a:xfrm>
            <a:off x="749808" y="4622292"/>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01.01.2029</a:t>
            </a:r>
            <a:endParaRPr lang="en-US" sz="1150" dirty="0"/>
          </a:p>
        </p:txBody>
      </p:sp>
      <p:sp>
        <p:nvSpPr>
          <p:cNvPr id="22" name="Text 20"/>
          <p:cNvSpPr/>
          <p:nvPr/>
        </p:nvSpPr>
        <p:spPr>
          <a:xfrm>
            <a:off x="1975104" y="4622292"/>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Bio-Treppe 10 % · Brennstoffkosten-Teilung · Solar öffentliche NWG &gt; 750 m²</a:t>
            </a:r>
            <a:endParaRPr lang="en-US" sz="1050" dirty="0"/>
          </a:p>
        </p:txBody>
      </p:sp>
      <p:sp>
        <p:nvSpPr>
          <p:cNvPr id="23" name="Shape 21"/>
          <p:cNvSpPr/>
          <p:nvPr/>
        </p:nvSpPr>
        <p:spPr>
          <a:xfrm>
            <a:off x="566928" y="5184648"/>
            <a:ext cx="5372100" cy="502920"/>
          </a:xfrm>
          <a:prstGeom prst="roundRect">
            <a:avLst>
              <a:gd name="adj" fmla="val 9091"/>
            </a:avLst>
          </a:prstGeom>
          <a:solidFill>
            <a:srgbClr val="F5F6F3"/>
          </a:solidFill>
          <a:ln/>
        </p:spPr>
      </p:sp>
      <p:sp>
        <p:nvSpPr>
          <p:cNvPr id="24" name="Text 22"/>
          <p:cNvSpPr/>
          <p:nvPr/>
        </p:nvSpPr>
        <p:spPr>
          <a:xfrm>
            <a:off x="749808" y="5184648"/>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31.12.2029</a:t>
            </a:r>
            <a:endParaRPr lang="en-US" sz="1150" dirty="0"/>
          </a:p>
        </p:txBody>
      </p:sp>
      <p:sp>
        <p:nvSpPr>
          <p:cNvPr id="25" name="Text 23"/>
          <p:cNvSpPr/>
          <p:nvPr/>
        </p:nvSpPr>
        <p:spPr>
          <a:xfrm>
            <a:off x="1975104" y="5184648"/>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Gebäudeautomation + Beleuchtungssteuerung NWG &gt; 70 kW nachgerüstet</a:t>
            </a:r>
            <a:endParaRPr lang="en-US" sz="1050" dirty="0"/>
          </a:p>
        </p:txBody>
      </p:sp>
      <p:sp>
        <p:nvSpPr>
          <p:cNvPr id="26" name="Shape 24"/>
          <p:cNvSpPr/>
          <p:nvPr/>
        </p:nvSpPr>
        <p:spPr>
          <a:xfrm>
            <a:off x="6249924" y="1810512"/>
            <a:ext cx="5372100" cy="502920"/>
          </a:xfrm>
          <a:prstGeom prst="roundRect">
            <a:avLst>
              <a:gd name="adj" fmla="val 9091"/>
            </a:avLst>
          </a:prstGeom>
          <a:solidFill>
            <a:srgbClr val="EDF5EE"/>
          </a:solidFill>
          <a:ln/>
        </p:spPr>
      </p:sp>
      <p:sp>
        <p:nvSpPr>
          <p:cNvPr id="27" name="Text 25"/>
          <p:cNvSpPr/>
          <p:nvPr/>
        </p:nvSpPr>
        <p:spPr>
          <a:xfrm>
            <a:off x="6432804" y="1810512"/>
            <a:ext cx="1170432" cy="502920"/>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01.01.2030</a:t>
            </a:r>
            <a:endParaRPr lang="en-US" sz="1150" dirty="0"/>
          </a:p>
        </p:txBody>
      </p:sp>
      <p:sp>
        <p:nvSpPr>
          <p:cNvPr id="28" name="Text 26"/>
          <p:cNvSpPr/>
          <p:nvPr/>
        </p:nvSpPr>
        <p:spPr>
          <a:xfrm>
            <a:off x="7658100" y="1810512"/>
            <a:ext cx="3762756" cy="502920"/>
          </a:xfrm>
          <a:prstGeom prst="rect">
            <a:avLst/>
          </a:prstGeom>
          <a:noFill/>
          <a:ln/>
        </p:spPr>
        <p:txBody>
          <a:bodyPr wrap="square" lIns="0" tIns="0" rIns="0" bIns="0" rtlCol="0" anchor="ctr"/>
          <a:lstStyle/>
          <a:p>
            <a:pPr indent="0" marL="0">
              <a:buNone/>
            </a:pPr>
            <a:r>
              <a:rPr lang="en-US" sz="1050" dirty="0">
                <a:solidFill>
                  <a:srgbClr val="1A1819"/>
                </a:solidFill>
                <a:latin typeface="Calibri" pitchFamily="34" charset="0"/>
                <a:ea typeface="Calibri" pitchFamily="34" charset="-122"/>
                <a:cs typeface="Calibri" pitchFamily="34" charset="-120"/>
              </a:rPr>
              <a:t>Nullemission alle Neubauten · fp 0,70 · NWG ≤ 3,5 × · Solar WG · Bio 15 %</a:t>
            </a:r>
            <a:endParaRPr lang="en-US" sz="1050" dirty="0"/>
          </a:p>
        </p:txBody>
      </p:sp>
      <p:sp>
        <p:nvSpPr>
          <p:cNvPr id="29" name="Shape 27"/>
          <p:cNvSpPr/>
          <p:nvPr/>
        </p:nvSpPr>
        <p:spPr>
          <a:xfrm>
            <a:off x="6249924" y="2372868"/>
            <a:ext cx="5372100" cy="502920"/>
          </a:xfrm>
          <a:prstGeom prst="roundRect">
            <a:avLst>
              <a:gd name="adj" fmla="val 9091"/>
            </a:avLst>
          </a:prstGeom>
          <a:solidFill>
            <a:srgbClr val="F5F6F3"/>
          </a:solidFill>
          <a:ln/>
        </p:spPr>
      </p:sp>
      <p:sp>
        <p:nvSpPr>
          <p:cNvPr id="30" name="Text 28"/>
          <p:cNvSpPr/>
          <p:nvPr/>
        </p:nvSpPr>
        <p:spPr>
          <a:xfrm>
            <a:off x="6432804" y="2372868"/>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01.01.2031</a:t>
            </a:r>
            <a:endParaRPr lang="en-US" sz="1150" dirty="0"/>
          </a:p>
        </p:txBody>
      </p:sp>
      <p:sp>
        <p:nvSpPr>
          <p:cNvPr id="31" name="Text 29"/>
          <p:cNvSpPr/>
          <p:nvPr/>
        </p:nvSpPr>
        <p:spPr>
          <a:xfrm>
            <a:off x="7658100" y="2372868"/>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Solarpflicht Bestand: öffentliche NWG &gt; 250 m²</a:t>
            </a:r>
            <a:endParaRPr lang="en-US" sz="1050" dirty="0"/>
          </a:p>
        </p:txBody>
      </p:sp>
      <p:sp>
        <p:nvSpPr>
          <p:cNvPr id="32" name="Shape 30"/>
          <p:cNvSpPr/>
          <p:nvPr/>
        </p:nvSpPr>
        <p:spPr>
          <a:xfrm>
            <a:off x="6249924" y="2935224"/>
            <a:ext cx="5372100" cy="502920"/>
          </a:xfrm>
          <a:prstGeom prst="roundRect">
            <a:avLst>
              <a:gd name="adj" fmla="val 9091"/>
            </a:avLst>
          </a:prstGeom>
          <a:solidFill>
            <a:srgbClr val="F5F6F3"/>
          </a:solidFill>
          <a:ln/>
        </p:spPr>
      </p:sp>
      <p:sp>
        <p:nvSpPr>
          <p:cNvPr id="33" name="Text 31"/>
          <p:cNvSpPr/>
          <p:nvPr/>
        </p:nvSpPr>
        <p:spPr>
          <a:xfrm>
            <a:off x="6432804" y="2935224"/>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01.01.2033</a:t>
            </a:r>
            <a:endParaRPr lang="en-US" sz="1150" dirty="0"/>
          </a:p>
        </p:txBody>
      </p:sp>
      <p:sp>
        <p:nvSpPr>
          <p:cNvPr id="34" name="Text 32"/>
          <p:cNvSpPr/>
          <p:nvPr/>
        </p:nvSpPr>
        <p:spPr>
          <a:xfrm>
            <a:off x="7658100" y="2935224"/>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NWG-Bestand ≤ 2,95 × Referenz - mindestens Klasse E</a:t>
            </a:r>
            <a:endParaRPr lang="en-US" sz="1050" dirty="0"/>
          </a:p>
        </p:txBody>
      </p:sp>
      <p:sp>
        <p:nvSpPr>
          <p:cNvPr id="35" name="Shape 33"/>
          <p:cNvSpPr/>
          <p:nvPr/>
        </p:nvSpPr>
        <p:spPr>
          <a:xfrm>
            <a:off x="6249924" y="3497580"/>
            <a:ext cx="5372100" cy="502920"/>
          </a:xfrm>
          <a:prstGeom prst="roundRect">
            <a:avLst>
              <a:gd name="adj" fmla="val 9091"/>
            </a:avLst>
          </a:prstGeom>
          <a:solidFill>
            <a:srgbClr val="F5F6F3"/>
          </a:solidFill>
          <a:ln/>
        </p:spPr>
      </p:sp>
      <p:sp>
        <p:nvSpPr>
          <p:cNvPr id="36" name="Text 34"/>
          <p:cNvSpPr/>
          <p:nvPr/>
        </p:nvSpPr>
        <p:spPr>
          <a:xfrm>
            <a:off x="6432804" y="3497580"/>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31.12.2034</a:t>
            </a:r>
            <a:endParaRPr lang="en-US" sz="1150" dirty="0"/>
          </a:p>
        </p:txBody>
      </p:sp>
      <p:sp>
        <p:nvSpPr>
          <p:cNvPr id="37" name="Text 35"/>
          <p:cNvSpPr/>
          <p:nvPr/>
        </p:nvSpPr>
        <p:spPr>
          <a:xfrm>
            <a:off x="7658100" y="3497580"/>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Ende der Ersatzerfüllung über Solarthermie und Lüftungs-WRG</a:t>
            </a:r>
            <a:endParaRPr lang="en-US" sz="1050" dirty="0"/>
          </a:p>
        </p:txBody>
      </p:sp>
      <p:sp>
        <p:nvSpPr>
          <p:cNvPr id="38" name="Shape 36"/>
          <p:cNvSpPr/>
          <p:nvPr/>
        </p:nvSpPr>
        <p:spPr>
          <a:xfrm>
            <a:off x="6249924" y="4059936"/>
            <a:ext cx="5372100" cy="502920"/>
          </a:xfrm>
          <a:prstGeom prst="roundRect">
            <a:avLst>
              <a:gd name="adj" fmla="val 9091"/>
            </a:avLst>
          </a:prstGeom>
          <a:solidFill>
            <a:srgbClr val="F5F6F3"/>
          </a:solidFill>
          <a:ln/>
        </p:spPr>
      </p:sp>
      <p:sp>
        <p:nvSpPr>
          <p:cNvPr id="39" name="Text 37"/>
          <p:cNvSpPr/>
          <p:nvPr/>
        </p:nvSpPr>
        <p:spPr>
          <a:xfrm>
            <a:off x="6432804" y="4059936"/>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2035 / 2040</a:t>
            </a:r>
            <a:endParaRPr lang="en-US" sz="1150" dirty="0"/>
          </a:p>
        </p:txBody>
      </p:sp>
      <p:sp>
        <p:nvSpPr>
          <p:cNvPr id="40" name="Text 38"/>
          <p:cNvSpPr/>
          <p:nvPr/>
        </p:nvSpPr>
        <p:spPr>
          <a:xfrm>
            <a:off x="7658100" y="4059936"/>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Bio-Treppe 30 % · Bio-Treppe 60 %, Nachweis für Hybride ab 6 Einheiten</a:t>
            </a:r>
            <a:endParaRPr lang="en-US" sz="1050" dirty="0"/>
          </a:p>
        </p:txBody>
      </p:sp>
      <p:sp>
        <p:nvSpPr>
          <p:cNvPr id="41" name="Shape 39"/>
          <p:cNvSpPr/>
          <p:nvPr/>
        </p:nvSpPr>
        <p:spPr>
          <a:xfrm>
            <a:off x="6249924" y="4622292"/>
            <a:ext cx="5372100" cy="502920"/>
          </a:xfrm>
          <a:prstGeom prst="roundRect">
            <a:avLst>
              <a:gd name="adj" fmla="val 9091"/>
            </a:avLst>
          </a:prstGeom>
          <a:solidFill>
            <a:srgbClr val="F5F6F3"/>
          </a:solidFill>
          <a:ln/>
        </p:spPr>
      </p:sp>
      <p:sp>
        <p:nvSpPr>
          <p:cNvPr id="42" name="Text 40"/>
          <p:cNvSpPr/>
          <p:nvPr/>
        </p:nvSpPr>
        <p:spPr>
          <a:xfrm>
            <a:off x="6432804" y="4622292"/>
            <a:ext cx="1170432" cy="502920"/>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2045</a:t>
            </a:r>
            <a:endParaRPr lang="en-US" sz="1150" dirty="0"/>
          </a:p>
        </p:txBody>
      </p:sp>
      <p:sp>
        <p:nvSpPr>
          <p:cNvPr id="43" name="Text 41"/>
          <p:cNvSpPr/>
          <p:nvPr/>
        </p:nvSpPr>
        <p:spPr>
          <a:xfrm>
            <a:off x="7658100" y="4622292"/>
            <a:ext cx="3762756" cy="502920"/>
          </a:xfrm>
          <a:prstGeom prst="rect">
            <a:avLst/>
          </a:prstGeom>
          <a:noFill/>
          <a:ln/>
        </p:spPr>
        <p:txBody>
          <a:bodyPr wrap="square" lIns="0" tIns="0" rIns="0" bIns="0" rtlCol="0" anchor="ctr"/>
          <a:lstStyle/>
          <a:p>
            <a:pPr indent="0" marL="0">
              <a:buNone/>
            </a:pPr>
            <a:r>
              <a:rPr lang="en-US" sz="1050" dirty="0">
                <a:solidFill>
                  <a:srgbClr val="5B685D"/>
                </a:solidFill>
                <a:latin typeface="Calibri" pitchFamily="34" charset="0"/>
                <a:ea typeface="Calibri" pitchFamily="34" charset="-122"/>
                <a:cs typeface="Calibri" pitchFamily="34" charset="-120"/>
              </a:rPr>
              <a:t>Brennstoffe klimaneutral über die Lieferantenquote (§ 42a)</a:t>
            </a:r>
            <a:endParaRPr lang="en-US" sz="1050" dirty="0"/>
          </a:p>
        </p:txBody>
      </p:sp>
      <p:sp>
        <p:nvSpPr>
          <p:cNvPr id="45" name="Text 4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Zusammengestellt aus Artikel 9 und den Einzelvorschriften · Drs. 21/7009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CHANCEN</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Sechs neue Aufgabenfelder für WERK.E</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Jede neue Pflicht im Gesetz ist eine Leistung, die jemand erbringen muss. Das sind wir.</a:t>
            </a:r>
            <a:endParaRPr lang="en-US" sz="1400" dirty="0"/>
          </a:p>
        </p:txBody>
      </p:sp>
      <p:sp>
        <p:nvSpPr>
          <p:cNvPr id="5" name="Shape 3"/>
          <p:cNvSpPr/>
          <p:nvPr/>
        </p:nvSpPr>
        <p:spPr>
          <a:xfrm>
            <a:off x="566928" y="1847088"/>
            <a:ext cx="3514344" cy="1737360"/>
          </a:xfrm>
          <a:prstGeom prst="roundRect">
            <a:avLst>
              <a:gd name="adj" fmla="val 4737"/>
            </a:avLst>
          </a:prstGeom>
          <a:solidFill>
            <a:srgbClr val="EDF5EE"/>
          </a:solidFill>
          <a:ln/>
          <a:effectLst>
            <a:outerShdw sx="100000" sy="100000" kx="0" ky="0" algn="bl" rotWithShape="0" blurRad="127000" dist="25400" dir="5400000">
              <a:srgbClr val="000000">
                <a:alpha val="7000"/>
              </a:srgbClr>
            </a:outerShdw>
          </a:effectLst>
        </p:spPr>
      </p:sp>
      <p:sp>
        <p:nvSpPr>
          <p:cNvPr id="6" name="Shape 4"/>
          <p:cNvSpPr/>
          <p:nvPr/>
        </p:nvSpPr>
        <p:spPr>
          <a:xfrm>
            <a:off x="822960" y="2084832"/>
            <a:ext cx="384048" cy="384048"/>
          </a:xfrm>
          <a:prstGeom prst="ellipse">
            <a:avLst/>
          </a:prstGeom>
          <a:solidFill>
            <a:srgbClr val="2E7D3A"/>
          </a:solidFill>
          <a:ln/>
        </p:spPr>
      </p:sp>
      <p:sp>
        <p:nvSpPr>
          <p:cNvPr id="7" name="Text 5"/>
          <p:cNvSpPr/>
          <p:nvPr/>
        </p:nvSpPr>
        <p:spPr>
          <a:xfrm>
            <a:off x="822960" y="2084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22960" y="2578608"/>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NWG-Bestand einordnen</a:t>
            </a:r>
            <a:endParaRPr lang="en-US" sz="1450" dirty="0"/>
          </a:p>
        </p:txBody>
      </p:sp>
      <p:sp>
        <p:nvSpPr>
          <p:cNvPr id="9" name="Text 7"/>
          <p:cNvSpPr/>
          <p:nvPr/>
        </p:nvSpPr>
        <p:spPr>
          <a:xfrm>
            <a:off x="822960" y="2907792"/>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Für Bestandshalter und Kommunen klären: Welche Gebäude fallen 2030/2033 unter §§ 40/41 - und welche sind über die Fiktionen schon raus?</a:t>
            </a:r>
            <a:endParaRPr lang="en-US" sz="1050" dirty="0"/>
          </a:p>
        </p:txBody>
      </p:sp>
      <p:sp>
        <p:nvSpPr>
          <p:cNvPr id="10" name="Shape 8"/>
          <p:cNvSpPr/>
          <p:nvPr/>
        </p:nvSpPr>
        <p:spPr>
          <a:xfrm>
            <a:off x="4337304" y="1847088"/>
            <a:ext cx="3514344" cy="1737360"/>
          </a:xfrm>
          <a:prstGeom prst="roundRect">
            <a:avLst>
              <a:gd name="adj" fmla="val 4737"/>
            </a:avLst>
          </a:prstGeom>
          <a:solidFill>
            <a:srgbClr val="EDF5EE"/>
          </a:solidFill>
          <a:ln/>
          <a:effectLst>
            <a:outerShdw sx="100000" sy="100000" kx="0" ky="0" algn="bl" rotWithShape="0" blurRad="127000" dist="25400" dir="5400000">
              <a:srgbClr val="000000">
                <a:alpha val="7000"/>
              </a:srgbClr>
            </a:outerShdw>
          </a:effectLst>
        </p:spPr>
      </p:sp>
      <p:sp>
        <p:nvSpPr>
          <p:cNvPr id="11" name="Shape 9"/>
          <p:cNvSpPr/>
          <p:nvPr/>
        </p:nvSpPr>
        <p:spPr>
          <a:xfrm>
            <a:off x="4593336" y="2084832"/>
            <a:ext cx="384048" cy="384048"/>
          </a:xfrm>
          <a:prstGeom prst="ellipse">
            <a:avLst/>
          </a:prstGeom>
          <a:solidFill>
            <a:srgbClr val="2E7D3A"/>
          </a:solidFill>
          <a:ln/>
        </p:spPr>
      </p:sp>
      <p:sp>
        <p:nvSpPr>
          <p:cNvPr id="12" name="Text 10"/>
          <p:cNvSpPr/>
          <p:nvPr/>
        </p:nvSpPr>
        <p:spPr>
          <a:xfrm>
            <a:off x="4593336" y="2084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93336" y="2578608"/>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Ökobilanz-Berichte § 88b</a:t>
            </a:r>
            <a:endParaRPr lang="en-US" sz="1450" dirty="0"/>
          </a:p>
        </p:txBody>
      </p:sp>
      <p:sp>
        <p:nvSpPr>
          <p:cNvPr id="14" name="Text 12"/>
          <p:cNvSpPr/>
          <p:nvPr/>
        </p:nvSpPr>
        <p:spPr>
          <a:xfrm>
            <a:off x="4593336" y="2907792"/>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Ab 2028 Pflicht im großen Neubau. Voraussetzung: Fortbildung nach § 88c, Software und Datengrundlagen des BMWSB.</a:t>
            </a:r>
            <a:endParaRPr lang="en-US" sz="1050" dirty="0"/>
          </a:p>
        </p:txBody>
      </p:sp>
      <p:sp>
        <p:nvSpPr>
          <p:cNvPr id="15" name="Shape 13"/>
          <p:cNvSpPr/>
          <p:nvPr/>
        </p:nvSpPr>
        <p:spPr>
          <a:xfrm>
            <a:off x="8107680" y="1847088"/>
            <a:ext cx="3514344" cy="1737360"/>
          </a:xfrm>
          <a:prstGeom prst="roundRect">
            <a:avLst>
              <a:gd name="adj" fmla="val 4737"/>
            </a:avLst>
          </a:prstGeom>
          <a:solidFill>
            <a:srgbClr val="EDF5EE"/>
          </a:solidFill>
          <a:ln/>
          <a:effectLst>
            <a:outerShdw sx="100000" sy="100000" kx="0" ky="0" algn="bl" rotWithShape="0" blurRad="127000" dist="25400" dir="5400000">
              <a:srgbClr val="000000">
                <a:alpha val="7000"/>
              </a:srgbClr>
            </a:outerShdw>
          </a:effectLst>
        </p:spPr>
      </p:sp>
      <p:sp>
        <p:nvSpPr>
          <p:cNvPr id="16" name="Shape 14"/>
          <p:cNvSpPr/>
          <p:nvPr/>
        </p:nvSpPr>
        <p:spPr>
          <a:xfrm>
            <a:off x="8363712" y="2084832"/>
            <a:ext cx="384048" cy="384048"/>
          </a:xfrm>
          <a:prstGeom prst="ellipse">
            <a:avLst/>
          </a:prstGeom>
          <a:solidFill>
            <a:srgbClr val="2E7D3A"/>
          </a:solidFill>
          <a:ln/>
        </p:spPr>
      </p:sp>
      <p:sp>
        <p:nvSpPr>
          <p:cNvPr id="17" name="Text 15"/>
          <p:cNvSpPr/>
          <p:nvPr/>
        </p:nvSpPr>
        <p:spPr>
          <a:xfrm>
            <a:off x="8363712" y="2084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363712" y="2578608"/>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NWG-Bedarfsausweise</a:t>
            </a:r>
            <a:endParaRPr lang="en-US" sz="1450" dirty="0"/>
          </a:p>
        </p:txBody>
      </p:sp>
      <p:sp>
        <p:nvSpPr>
          <p:cNvPr id="19" name="Text 17"/>
          <p:cNvSpPr/>
          <p:nvPr/>
        </p:nvSpPr>
        <p:spPr>
          <a:xfrm>
            <a:off x="8363712" y="2907792"/>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Jeder Verkauf und Neuvertrag braucht künftig eine vollständige Bilanzierung samt Begehung oder Fotodokumentation.</a:t>
            </a:r>
            <a:endParaRPr lang="en-US" sz="1050" dirty="0"/>
          </a:p>
        </p:txBody>
      </p:sp>
      <p:sp>
        <p:nvSpPr>
          <p:cNvPr id="20" name="Shape 18"/>
          <p:cNvSpPr/>
          <p:nvPr/>
        </p:nvSpPr>
        <p:spPr>
          <a:xfrm>
            <a:off x="566928" y="3840480"/>
            <a:ext cx="3514344" cy="1737360"/>
          </a:xfrm>
          <a:prstGeom prst="roundRect">
            <a:avLst>
              <a:gd name="adj" fmla="val 4737"/>
            </a:avLst>
          </a:prstGeom>
          <a:solidFill>
            <a:srgbClr val="F5F6F3"/>
          </a:solidFill>
          <a:ln/>
          <a:effectLst>
            <a:outerShdw sx="100000" sy="100000" kx="0" ky="0" algn="bl" rotWithShape="0" blurRad="127000" dist="25400" dir="5400000">
              <a:srgbClr val="000000">
                <a:alpha val="7000"/>
              </a:srgbClr>
            </a:outerShdw>
          </a:effectLst>
        </p:spPr>
      </p:sp>
      <p:sp>
        <p:nvSpPr>
          <p:cNvPr id="21" name="Shape 19"/>
          <p:cNvSpPr/>
          <p:nvPr/>
        </p:nvSpPr>
        <p:spPr>
          <a:xfrm>
            <a:off x="822960" y="4078224"/>
            <a:ext cx="384048" cy="384048"/>
          </a:xfrm>
          <a:prstGeom prst="ellipse">
            <a:avLst/>
          </a:prstGeom>
          <a:solidFill>
            <a:srgbClr val="58B264"/>
          </a:solidFill>
          <a:ln/>
        </p:spPr>
      </p:sp>
      <p:sp>
        <p:nvSpPr>
          <p:cNvPr id="22" name="Text 20"/>
          <p:cNvSpPr/>
          <p:nvPr/>
        </p:nvSpPr>
        <p:spPr>
          <a:xfrm>
            <a:off x="822960"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22960" y="4572000"/>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WP-Prüfung + Abgleich</a:t>
            </a:r>
            <a:endParaRPr lang="en-US" sz="1450" dirty="0"/>
          </a:p>
        </p:txBody>
      </p:sp>
      <p:sp>
        <p:nvSpPr>
          <p:cNvPr id="24" name="Text 22"/>
          <p:cNvSpPr/>
          <p:nvPr/>
        </p:nvSpPr>
        <p:spPr>
          <a:xfrm>
            <a:off x="822960" y="4901184"/>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 60a-Prüfungen, Heizungscheck bis 09/2027, hydraulischer Abgleich inklusive raumweiser Heizlast - wiederkehrende Leistungen.</a:t>
            </a:r>
            <a:endParaRPr lang="en-US" sz="1050" dirty="0"/>
          </a:p>
        </p:txBody>
      </p:sp>
      <p:sp>
        <p:nvSpPr>
          <p:cNvPr id="25" name="Shape 23"/>
          <p:cNvSpPr/>
          <p:nvPr/>
        </p:nvSpPr>
        <p:spPr>
          <a:xfrm>
            <a:off x="4337304" y="3840480"/>
            <a:ext cx="3514344" cy="1737360"/>
          </a:xfrm>
          <a:prstGeom prst="roundRect">
            <a:avLst>
              <a:gd name="adj" fmla="val 4737"/>
            </a:avLst>
          </a:prstGeom>
          <a:solidFill>
            <a:srgbClr val="F5F6F3"/>
          </a:solidFill>
          <a:ln/>
          <a:effectLst>
            <a:outerShdw sx="100000" sy="100000" kx="0" ky="0" algn="bl" rotWithShape="0" blurRad="127000" dist="25400" dir="5400000">
              <a:srgbClr val="000000">
                <a:alpha val="7000"/>
              </a:srgbClr>
            </a:outerShdw>
          </a:effectLst>
        </p:spPr>
      </p:sp>
      <p:sp>
        <p:nvSpPr>
          <p:cNvPr id="26" name="Shape 24"/>
          <p:cNvSpPr/>
          <p:nvPr/>
        </p:nvSpPr>
        <p:spPr>
          <a:xfrm>
            <a:off x="4593336" y="4078224"/>
            <a:ext cx="384048" cy="384048"/>
          </a:xfrm>
          <a:prstGeom prst="ellipse">
            <a:avLst/>
          </a:prstGeom>
          <a:solidFill>
            <a:srgbClr val="58B264"/>
          </a:solidFill>
          <a:ln/>
        </p:spPr>
      </p:sp>
      <p:sp>
        <p:nvSpPr>
          <p:cNvPr id="27" name="Text 25"/>
          <p:cNvSpPr/>
          <p:nvPr/>
        </p:nvSpPr>
        <p:spPr>
          <a:xfrm>
            <a:off x="4593336"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593336" y="4572000"/>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Gebäudeautomation § 56</a:t>
            </a:r>
            <a:endParaRPr lang="en-US" sz="1450" dirty="0"/>
          </a:p>
        </p:txBody>
      </p:sp>
      <p:sp>
        <p:nvSpPr>
          <p:cNvPr id="29" name="Text 27"/>
          <p:cNvSpPr/>
          <p:nvPr/>
        </p:nvSpPr>
        <p:spPr>
          <a:xfrm>
            <a:off x="4593336" y="4901184"/>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NWG über 70 kW bis Ende 2029: Konzept, Planung und Begleitung der Nachrüstung inklusive Beleuchtungssteuerung.</a:t>
            </a:r>
            <a:endParaRPr lang="en-US" sz="1050" dirty="0"/>
          </a:p>
        </p:txBody>
      </p:sp>
      <p:sp>
        <p:nvSpPr>
          <p:cNvPr id="30" name="Shape 28"/>
          <p:cNvSpPr/>
          <p:nvPr/>
        </p:nvSpPr>
        <p:spPr>
          <a:xfrm>
            <a:off x="8107680" y="3840480"/>
            <a:ext cx="3514344" cy="1737360"/>
          </a:xfrm>
          <a:prstGeom prst="roundRect">
            <a:avLst>
              <a:gd name="adj" fmla="val 4737"/>
            </a:avLst>
          </a:prstGeom>
          <a:solidFill>
            <a:srgbClr val="F5F6F3"/>
          </a:solidFill>
          <a:ln/>
          <a:effectLst>
            <a:outerShdw sx="100000" sy="100000" kx="0" ky="0" algn="bl" rotWithShape="0" blurRad="127000" dist="25400" dir="5400000">
              <a:srgbClr val="000000">
                <a:alpha val="7000"/>
              </a:srgbClr>
            </a:outerShdw>
          </a:effectLst>
        </p:spPr>
      </p:sp>
      <p:sp>
        <p:nvSpPr>
          <p:cNvPr id="31" name="Shape 29"/>
          <p:cNvSpPr/>
          <p:nvPr/>
        </p:nvSpPr>
        <p:spPr>
          <a:xfrm>
            <a:off x="8363712" y="4078224"/>
            <a:ext cx="384048" cy="384048"/>
          </a:xfrm>
          <a:prstGeom prst="ellipse">
            <a:avLst/>
          </a:prstGeom>
          <a:solidFill>
            <a:srgbClr val="58B264"/>
          </a:solidFill>
          <a:ln/>
        </p:spPr>
      </p:sp>
      <p:sp>
        <p:nvSpPr>
          <p:cNvPr id="32" name="Text 30"/>
          <p:cNvSpPr/>
          <p:nvPr/>
        </p:nvSpPr>
        <p:spPr>
          <a:xfrm>
            <a:off x="8363712"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363712" y="4572000"/>
            <a:ext cx="3002280" cy="329184"/>
          </a:xfrm>
          <a:prstGeom prst="rect">
            <a:avLst/>
          </a:prstGeom>
          <a:noFill/>
          <a:ln/>
        </p:spPr>
        <p:txBody>
          <a:bodyPr wrap="square" lIns="0" tIns="0" rIns="0" bIns="0" rtlCol="0" anchor="ctr"/>
          <a:lstStyle/>
          <a:p>
            <a:pPr indent="0" marL="0">
              <a:buNone/>
            </a:pPr>
            <a:r>
              <a:rPr lang="en-US" sz="1450" b="1" dirty="0">
                <a:solidFill>
                  <a:srgbClr val="1A1819"/>
                </a:solidFill>
                <a:latin typeface="Trebuchet MS" pitchFamily="34" charset="0"/>
                <a:ea typeface="Trebuchet MS" pitchFamily="34" charset="-122"/>
                <a:cs typeface="Trebuchet MS" pitchFamily="34" charset="-120"/>
              </a:rPr>
              <a:t>Solar- und GEIG-Prüfungen</a:t>
            </a:r>
            <a:endParaRPr lang="en-US" sz="1450" dirty="0"/>
          </a:p>
        </p:txBody>
      </p:sp>
      <p:sp>
        <p:nvSpPr>
          <p:cNvPr id="34" name="Text 32"/>
          <p:cNvSpPr/>
          <p:nvPr/>
        </p:nvSpPr>
        <p:spPr>
          <a:xfrm>
            <a:off x="8363712" y="4901184"/>
            <a:ext cx="3020568" cy="566928"/>
          </a:xfrm>
          <a:prstGeom prst="rect">
            <a:avLst/>
          </a:prstGeom>
          <a:noFill/>
          <a:ln/>
        </p:spPr>
        <p:txBody>
          <a:bodyPr wrap="square" lIns="0" tIns="0" rIns="0" bIns="0" rtlCol="0" anchor="t"/>
          <a:lstStyle/>
          <a:p>
            <a:pPr indent="0" marL="0">
              <a:lnSpc>
                <a:spcPts val="1300"/>
              </a:lnSpc>
              <a:buNone/>
            </a:pPr>
            <a:r>
              <a:rPr lang="en-US" sz="1050" dirty="0">
                <a:solidFill>
                  <a:srgbClr val="5B685D"/>
                </a:solidFill>
                <a:latin typeface="Calibri" pitchFamily="34" charset="0"/>
                <a:ea typeface="Calibri" pitchFamily="34" charset="-122"/>
                <a:cs typeface="Calibri" pitchFamily="34" charset="-120"/>
              </a:rPr>
              <a:t>Bei Neubau, Dachsanierung und großen Parkplätzen: Solarpflicht und Ladeinfrastruktur mit Fristen ab 2027 prüfen.</a:t>
            </a:r>
            <a:endParaRPr lang="en-US" sz="1050" dirty="0"/>
          </a:p>
        </p:txBody>
      </p:sp>
      <p:sp>
        <p:nvSpPr>
          <p:cNvPr id="35" name="Shape 33"/>
          <p:cNvSpPr/>
          <p:nvPr/>
        </p:nvSpPr>
        <p:spPr>
          <a:xfrm>
            <a:off x="566928" y="5614416"/>
            <a:ext cx="11055096" cy="566928"/>
          </a:xfrm>
          <a:prstGeom prst="roundRect">
            <a:avLst>
              <a:gd name="adj" fmla="val 14516"/>
            </a:avLst>
          </a:prstGeom>
          <a:solidFill>
            <a:srgbClr val="1A1819"/>
          </a:solidFill>
          <a:ln/>
        </p:spPr>
      </p:sp>
      <p:sp>
        <p:nvSpPr>
          <p:cNvPr id="36" name="Text 34"/>
          <p:cNvSpPr/>
          <p:nvPr/>
        </p:nvSpPr>
        <p:spPr>
          <a:xfrm>
            <a:off x="841248" y="5614416"/>
            <a:ext cx="10506456" cy="566928"/>
          </a:xfrm>
          <a:prstGeom prst="rect">
            <a:avLst/>
          </a:prstGeom>
          <a:noFill/>
          <a:ln/>
        </p:spPr>
        <p:txBody>
          <a:bodyPr wrap="square" lIns="0" tIns="0" rIns="0" bIns="0" rtlCol="0" anchor="ctr"/>
          <a:lstStyle/>
          <a:p>
            <a:pPr indent="0" marL="0">
              <a:buNone/>
            </a:pPr>
            <a:r>
              <a:rPr lang="en-US" sz="1250" b="1" dirty="0">
                <a:solidFill>
                  <a:srgbClr val="58B264"/>
                </a:solidFill>
                <a:latin typeface="Calibri" pitchFamily="34" charset="0"/>
                <a:ea typeface="Calibri" pitchFamily="34" charset="-122"/>
                <a:cs typeface="Calibri" pitchFamily="34" charset="-120"/>
              </a:rPr>
              <a:t>Fragen an euch:  </a:t>
            </a:r>
            <a:pPr indent="0" marL="0">
              <a:buNone/>
            </a:pPr>
            <a:r>
              <a:rPr lang="en-US" sz="1250" dirty="0">
                <a:solidFill>
                  <a:srgbClr val="FFFFFF"/>
                </a:solidFill>
                <a:latin typeface="Calibri" pitchFamily="34" charset="0"/>
                <a:ea typeface="Calibri" pitchFamily="34" charset="-122"/>
                <a:cs typeface="Calibri" pitchFamily="34" charset="-120"/>
              </a:rPr>
              <a:t>Wer möchte sich in eines dieser Felder einarbeiten? Für die Ökobilanz brauchen wir 2027 mindestens eine Person mit § 88c-Fortbildung.</a:t>
            </a:r>
            <a:endParaRPr lang="en-US" sz="1250" dirty="0"/>
          </a:p>
        </p:txBody>
      </p:sp>
      <p:sp>
        <p:nvSpPr>
          <p:cNvPr id="38" name="Text 3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Querschnitt aus den Kapiteln 3 und 4 der Teamschulung</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1 · PRAXIS</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Was ab heute in der Beratung gilt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Die Übergangsregeln für unsere laufenden Projekte.</a:t>
            </a:r>
            <a:endParaRPr lang="en-US" sz="1400" dirty="0"/>
          </a:p>
        </p:txBody>
      </p:sp>
      <p:sp>
        <p:nvSpPr>
          <p:cNvPr id="5" name="Shape 3"/>
          <p:cNvSpPr/>
          <p:nvPr/>
        </p:nvSpPr>
        <p:spPr>
          <a:xfrm>
            <a:off x="566928" y="1847088"/>
            <a:ext cx="11055096" cy="877824"/>
          </a:xfrm>
          <a:prstGeom prst="roundRect">
            <a:avLst>
              <a:gd name="adj" fmla="val 9375"/>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59536" y="2167128"/>
            <a:ext cx="237744" cy="237744"/>
          </a:xfrm>
          <a:prstGeom prst="ellipse">
            <a:avLst/>
          </a:prstGeom>
          <a:solidFill>
            <a:srgbClr val="2E7D3A"/>
          </a:solidFill>
          <a:ln/>
        </p:spPr>
      </p:sp>
      <p:sp>
        <p:nvSpPr>
          <p:cNvPr id="7" name="Text 5"/>
          <p:cNvSpPr/>
          <p:nvPr/>
        </p:nvSpPr>
        <p:spPr>
          <a:xfrm>
            <a:off x="1298448" y="1956816"/>
            <a:ext cx="3017520" cy="310896"/>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Sofort</a:t>
            </a:r>
            <a:endParaRPr lang="en-US" sz="1550" dirty="0"/>
          </a:p>
        </p:txBody>
      </p:sp>
      <p:sp>
        <p:nvSpPr>
          <p:cNvPr id="8" name="Text 6"/>
          <p:cNvSpPr/>
          <p:nvPr/>
        </p:nvSpPr>
        <p:spPr>
          <a:xfrm>
            <a:off x="1298448" y="2267712"/>
            <a:ext cx="10030968" cy="384048"/>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Heizungsberatung umstellen: Optionenkatalog und Bio-Treppe statt 65 %. Keine 65-%-Konzepte mehr neu aufsetzen. Wirtschaftlichkeit fossiler Kessel neu rechnen - Bioanteil, CO₂-Preis, Quote, Kostenteilung.</a:t>
            </a:r>
            <a:endParaRPr lang="en-US" sz="1150" dirty="0"/>
          </a:p>
        </p:txBody>
      </p:sp>
      <p:sp>
        <p:nvSpPr>
          <p:cNvPr id="9" name="Shape 7"/>
          <p:cNvSpPr/>
          <p:nvPr/>
        </p:nvSpPr>
        <p:spPr>
          <a:xfrm>
            <a:off x="566928" y="2788920"/>
            <a:ext cx="11055096" cy="877824"/>
          </a:xfrm>
          <a:prstGeom prst="roundRect">
            <a:avLst>
              <a:gd name="adj" fmla="val 9375"/>
            </a:avLst>
          </a:prstGeom>
          <a:solidFill>
            <a:srgbClr val="F5F6F3"/>
          </a:solidFill>
          <a:ln/>
          <a:effectLst>
            <a:outerShdw sx="100000" sy="100000" kx="0" ky="0" algn="bl" rotWithShape="0" blurRad="127000" dist="25400" dir="5400000">
              <a:srgbClr val="000000">
                <a:alpha val="7000"/>
              </a:srgbClr>
            </a:outerShdw>
          </a:effectLst>
        </p:spPr>
      </p:sp>
      <p:sp>
        <p:nvSpPr>
          <p:cNvPr id="10" name="Shape 8"/>
          <p:cNvSpPr/>
          <p:nvPr/>
        </p:nvSpPr>
        <p:spPr>
          <a:xfrm>
            <a:off x="859536" y="3108960"/>
            <a:ext cx="237744" cy="237744"/>
          </a:xfrm>
          <a:prstGeom prst="ellipse">
            <a:avLst/>
          </a:prstGeom>
          <a:solidFill>
            <a:srgbClr val="58B264"/>
          </a:solidFill>
          <a:ln/>
        </p:spPr>
      </p:sp>
      <p:sp>
        <p:nvSpPr>
          <p:cNvPr id="11" name="Text 9"/>
          <p:cNvSpPr/>
          <p:nvPr/>
        </p:nvSpPr>
        <p:spPr>
          <a:xfrm>
            <a:off x="1298448" y="2898648"/>
            <a:ext cx="3017520" cy="310896"/>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Bis Stufe 2 (≈ 01.01.2027)</a:t>
            </a:r>
            <a:endParaRPr lang="en-US" sz="1550" dirty="0"/>
          </a:p>
        </p:txBody>
      </p:sp>
      <p:sp>
        <p:nvSpPr>
          <p:cNvPr id="12" name="Text 10"/>
          <p:cNvSpPr/>
          <p:nvPr/>
        </p:nvSpPr>
        <p:spPr>
          <a:xfrm>
            <a:off x="1298448" y="3209544"/>
            <a:ext cx="10030968" cy="384048"/>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Bilanzen, Nachweise und Ausweise weiter nach DIN V 18599:2018. Projekte mit Fertigstellung ab 2027 aber vorausschauend kalkulieren - neue Normen, neue Bezugsfläche.</a:t>
            </a:r>
            <a:endParaRPr lang="en-US" sz="1150" dirty="0"/>
          </a:p>
        </p:txBody>
      </p:sp>
      <p:sp>
        <p:nvSpPr>
          <p:cNvPr id="13" name="Shape 11"/>
          <p:cNvSpPr/>
          <p:nvPr/>
        </p:nvSpPr>
        <p:spPr>
          <a:xfrm>
            <a:off x="566928" y="3730752"/>
            <a:ext cx="11055096" cy="877824"/>
          </a:xfrm>
          <a:prstGeom prst="roundRect">
            <a:avLst>
              <a:gd name="adj" fmla="val 9375"/>
            </a:avLst>
          </a:prstGeom>
          <a:solidFill>
            <a:srgbClr val="F5F6F3"/>
          </a:solidFill>
          <a:ln/>
          <a:effectLst>
            <a:outerShdw sx="100000" sy="100000" kx="0" ky="0" algn="bl" rotWithShape="0" blurRad="127000" dist="25400" dir="5400000">
              <a:srgbClr val="000000">
                <a:alpha val="7000"/>
              </a:srgbClr>
            </a:outerShdw>
          </a:effectLst>
        </p:spPr>
      </p:sp>
      <p:sp>
        <p:nvSpPr>
          <p:cNvPr id="14" name="Shape 12"/>
          <p:cNvSpPr/>
          <p:nvPr/>
        </p:nvSpPr>
        <p:spPr>
          <a:xfrm>
            <a:off x="859536" y="4050792"/>
            <a:ext cx="237744" cy="237744"/>
          </a:xfrm>
          <a:prstGeom prst="ellipse">
            <a:avLst/>
          </a:prstGeom>
          <a:solidFill>
            <a:srgbClr val="BFDCC4"/>
          </a:solidFill>
          <a:ln/>
        </p:spPr>
      </p:sp>
      <p:sp>
        <p:nvSpPr>
          <p:cNvPr id="15" name="Text 13"/>
          <p:cNvSpPr/>
          <p:nvPr/>
        </p:nvSpPr>
        <p:spPr>
          <a:xfrm>
            <a:off x="1298448" y="3840480"/>
            <a:ext cx="3017520" cy="310896"/>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Ab Stufe 2</a:t>
            </a:r>
            <a:endParaRPr lang="en-US" sz="1550" dirty="0"/>
          </a:p>
        </p:txBody>
      </p:sp>
      <p:sp>
        <p:nvSpPr>
          <p:cNvPr id="16" name="Text 14"/>
          <p:cNvSpPr/>
          <p:nvPr/>
        </p:nvSpPr>
        <p:spPr>
          <a:xfrm>
            <a:off x="1298448" y="4151376"/>
            <a:ext cx="10030968" cy="384048"/>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Software-Updates einspielen (Hottgenroth), neue Referenzgebäude und Faktoren nutzen, NWG-Ausweise nur noch als Bedarfsausweis erstellen.</a:t>
            </a:r>
            <a:endParaRPr lang="en-US" sz="1150" dirty="0"/>
          </a:p>
        </p:txBody>
      </p:sp>
      <p:sp>
        <p:nvSpPr>
          <p:cNvPr id="17" name="Shape 15"/>
          <p:cNvSpPr/>
          <p:nvPr/>
        </p:nvSpPr>
        <p:spPr>
          <a:xfrm>
            <a:off x="566928" y="4672584"/>
            <a:ext cx="11055096" cy="877824"/>
          </a:xfrm>
          <a:prstGeom prst="roundRect">
            <a:avLst>
              <a:gd name="adj" fmla="val 9375"/>
            </a:avLst>
          </a:prstGeom>
          <a:solidFill>
            <a:srgbClr val="F5F6F3"/>
          </a:solidFill>
          <a:ln/>
          <a:effectLst>
            <a:outerShdw sx="100000" sy="100000" kx="0" ky="0" algn="bl" rotWithShape="0" blurRad="127000" dist="25400" dir="5400000">
              <a:srgbClr val="000000">
                <a:alpha val="7000"/>
              </a:srgbClr>
            </a:outerShdw>
          </a:effectLst>
        </p:spPr>
      </p:sp>
      <p:sp>
        <p:nvSpPr>
          <p:cNvPr id="18" name="Shape 16"/>
          <p:cNvSpPr/>
          <p:nvPr/>
        </p:nvSpPr>
        <p:spPr>
          <a:xfrm>
            <a:off x="859536" y="4992624"/>
            <a:ext cx="237744" cy="237744"/>
          </a:xfrm>
          <a:prstGeom prst="ellipse">
            <a:avLst/>
          </a:prstGeom>
          <a:solidFill>
            <a:srgbClr val="5B685D"/>
          </a:solidFill>
          <a:ln/>
        </p:spPr>
      </p:sp>
      <p:sp>
        <p:nvSpPr>
          <p:cNvPr id="19" name="Text 17"/>
          <p:cNvSpPr/>
          <p:nvPr/>
        </p:nvSpPr>
        <p:spPr>
          <a:xfrm>
            <a:off x="1298448" y="4782312"/>
            <a:ext cx="3017520" cy="310896"/>
          </a:xfrm>
          <a:prstGeom prst="rect">
            <a:avLst/>
          </a:prstGeom>
          <a:noFill/>
          <a:ln/>
        </p:spPr>
        <p:txBody>
          <a:bodyPr wrap="square" lIns="0" tIns="0" rIns="0" bIns="0" rtlCol="0" anchor="ctr"/>
          <a:lstStyle/>
          <a:p>
            <a:pPr indent="0" marL="0">
              <a:buNone/>
            </a:pPr>
            <a:r>
              <a:rPr lang="en-US" sz="1550" b="1" dirty="0">
                <a:solidFill>
                  <a:srgbClr val="1A1819"/>
                </a:solidFill>
                <a:latin typeface="Trebuchet MS" pitchFamily="34" charset="0"/>
                <a:ea typeface="Trebuchet MS" pitchFamily="34" charset="-122"/>
                <a:cs typeface="Trebuchet MS" pitchFamily="34" charset="-120"/>
              </a:rPr>
              <a:t>Förderung</a:t>
            </a:r>
            <a:endParaRPr lang="en-US" sz="1550" dirty="0"/>
          </a:p>
        </p:txBody>
      </p:sp>
      <p:sp>
        <p:nvSpPr>
          <p:cNvPr id="20" name="Text 18"/>
          <p:cNvSpPr/>
          <p:nvPr/>
        </p:nvSpPr>
        <p:spPr>
          <a:xfrm>
            <a:off x="1298448" y="5093208"/>
            <a:ext cx="10030968" cy="384048"/>
          </a:xfrm>
          <a:prstGeom prst="rect">
            <a:avLst/>
          </a:prstGeom>
          <a:noFill/>
          <a:ln/>
        </p:spPr>
        <p:txBody>
          <a:bodyPr wrap="square" lIns="0" tIns="0" rIns="0" bIns="0" rtlCol="0" anchor="t"/>
          <a:lstStyle/>
          <a:p>
            <a:pPr indent="0" marL="0">
              <a:lnSpc>
                <a:spcPts val="1400"/>
              </a:lnSpc>
              <a:buNone/>
            </a:pPr>
            <a:r>
              <a:rPr lang="en-US" sz="1150" dirty="0">
                <a:solidFill>
                  <a:srgbClr val="5B685D"/>
                </a:solidFill>
                <a:latin typeface="Calibri" pitchFamily="34" charset="0"/>
                <a:ea typeface="Calibri" pitchFamily="34" charset="-122"/>
                <a:cs typeface="Calibri" pitchFamily="34" charset="-120"/>
              </a:rPr>
              <a:t>Die BEG läuft eigenständig weiter - Reform zum 21.07.2026, unsere Schulung dazu ist bereits durch. Entschließung des Bundestags: BEG bis mindestens 2029 fortführen.</a:t>
            </a:r>
            <a:endParaRPr lang="en-US" sz="1150" dirty="0"/>
          </a:p>
        </p:txBody>
      </p:sp>
      <p:sp>
        <p:nvSpPr>
          <p:cNvPr id="21" name="Shape 19"/>
          <p:cNvSpPr/>
          <p:nvPr/>
        </p:nvSpPr>
        <p:spPr>
          <a:xfrm>
            <a:off x="566928" y="5715000"/>
            <a:ext cx="11055096" cy="566928"/>
          </a:xfrm>
          <a:prstGeom prst="roundRect">
            <a:avLst>
              <a:gd name="adj" fmla="val 14516"/>
            </a:avLst>
          </a:prstGeom>
          <a:solidFill>
            <a:srgbClr val="FFF6E0"/>
          </a:solidFill>
          <a:ln w="12700">
            <a:solidFill>
              <a:srgbClr val="E8CC8A"/>
            </a:solidFill>
            <a:prstDash val="solid"/>
          </a:ln>
        </p:spPr>
      </p:sp>
      <p:sp>
        <p:nvSpPr>
          <p:cNvPr id="22" name="Text 20"/>
          <p:cNvSpPr/>
          <p:nvPr/>
        </p:nvSpPr>
        <p:spPr>
          <a:xfrm>
            <a:off x="768096" y="5769864"/>
            <a:ext cx="10652760" cy="457200"/>
          </a:xfrm>
          <a:prstGeom prst="rect">
            <a:avLst/>
          </a:prstGeom>
          <a:noFill/>
          <a:ln/>
        </p:spPr>
        <p:txBody>
          <a:bodyPr wrap="square" lIns="0" tIns="0" rIns="0" bIns="0" rtlCol="0" anchor="ctr"/>
          <a:lstStyle/>
          <a:p>
            <a:pPr indent="0" marL="0">
              <a:buNone/>
            </a:pPr>
            <a:r>
              <a:rPr lang="en-US" sz="1200" b="1" dirty="0">
                <a:solidFill>
                  <a:srgbClr val="8A6100"/>
                </a:solidFill>
                <a:latin typeface="Calibri" pitchFamily="34" charset="0"/>
                <a:ea typeface="Calibri" pitchFamily="34" charset="-122"/>
                <a:cs typeface="Calibri" pitchFamily="34" charset="-120"/>
              </a:rPr>
              <a:t>Bitte merken:  </a:t>
            </a:r>
            <a:pPr indent="0" marL="0">
              <a:buNone/>
            </a:pPr>
            <a:r>
              <a:rPr lang="en-US" sz="1200" dirty="0">
                <a:solidFill>
                  <a:srgbClr val="1A1819"/>
                </a:solidFill>
                <a:latin typeface="Calibri" pitchFamily="34" charset="0"/>
                <a:ea typeface="Calibri" pitchFamily="34" charset="-122"/>
                <a:cs typeface="Calibri" pitchFamily="34" charset="-120"/>
              </a:rPr>
              <a:t>Auch wenn die Beratungspflicht vor fossilem Einbau entfallen ist - wir dokumentieren unsere Empfehlung weiterhin schriftlich im Projekt.</a:t>
            </a:r>
            <a:endParaRPr lang="en-US" sz="1200" dirty="0"/>
          </a:p>
        </p:txBody>
      </p:sp>
      <p:sp>
        <p:nvSpPr>
          <p:cNvPr id="24" name="Text 21"/>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Artikel 9, §§ 110 ff. GModG · BEG-Reform 21.07.2026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9354312" y="-1371600"/>
            <a:ext cx="4572000" cy="4572000"/>
          </a:xfrm>
          <a:prstGeom prst="ellipse">
            <a:avLst/>
          </a:prstGeom>
          <a:solidFill>
            <a:srgbClr val="256A30"/>
          </a:solidFill>
          <a:ln/>
        </p:spPr>
      </p:sp>
      <p:sp>
        <p:nvSpPr>
          <p:cNvPr id="3" name="Shape 1"/>
          <p:cNvSpPr/>
          <p:nvPr/>
        </p:nvSpPr>
        <p:spPr>
          <a:xfrm>
            <a:off x="10725912" y="3566160"/>
            <a:ext cx="2377440" cy="2377440"/>
          </a:xfrm>
          <a:prstGeom prst="ellipse">
            <a:avLst/>
          </a:prstGeom>
          <a:solidFill>
            <a:srgbClr val="2E7D3A"/>
          </a:solidFill>
          <a:ln/>
        </p:spPr>
      </p:sp>
      <p:sp>
        <p:nvSpPr>
          <p:cNvPr id="4" name="Text 2"/>
          <p:cNvSpPr/>
          <p:nvPr/>
        </p:nvSpPr>
        <p:spPr>
          <a:xfrm>
            <a:off x="566928" y="1417320"/>
            <a:ext cx="2011680" cy="1371600"/>
          </a:xfrm>
          <a:prstGeom prst="rect">
            <a:avLst/>
          </a:prstGeom>
          <a:noFill/>
          <a:ln/>
        </p:spPr>
        <p:txBody>
          <a:bodyPr wrap="square" lIns="0" tIns="0" rIns="0" bIns="0" rtlCol="0" anchor="ctr"/>
          <a:lstStyle/>
          <a:p>
            <a:pPr indent="0" marL="0">
              <a:buNone/>
            </a:pPr>
            <a:r>
              <a:rPr lang="en-US" sz="8400" b="1" dirty="0">
                <a:solidFill>
                  <a:srgbClr val="58B264"/>
                </a:solidFill>
                <a:latin typeface="Trebuchet MS" pitchFamily="34" charset="0"/>
                <a:ea typeface="Trebuchet MS" pitchFamily="34" charset="-122"/>
                <a:cs typeface="Trebuchet MS" pitchFamily="34" charset="-120"/>
              </a:rPr>
              <a:t>02</a:t>
            </a:r>
            <a:endParaRPr lang="en-US" sz="8400" dirty="0"/>
          </a:p>
        </p:txBody>
      </p:sp>
      <p:sp>
        <p:nvSpPr>
          <p:cNvPr id="5" name="Text 3"/>
          <p:cNvSpPr/>
          <p:nvPr/>
        </p:nvSpPr>
        <p:spPr>
          <a:xfrm>
            <a:off x="566928" y="2788920"/>
            <a:ext cx="7498080" cy="274320"/>
          </a:xfrm>
          <a:prstGeom prst="rect">
            <a:avLst/>
          </a:prstGeom>
          <a:noFill/>
          <a:ln/>
        </p:spPr>
        <p:txBody>
          <a:bodyPr wrap="square" lIns="0" tIns="0" rIns="0" bIns="0" rtlCol="0" anchor="ctr"/>
          <a:lstStyle/>
          <a:p>
            <a:pPr indent="0" marL="0">
              <a:buNone/>
            </a:pPr>
            <a:r>
              <a:rPr lang="en-US" sz="1100" b="1" spc="180" kern="0" dirty="0">
                <a:solidFill>
                  <a:srgbClr val="BFDCC4"/>
                </a:solidFill>
                <a:latin typeface="Calibri" pitchFamily="34" charset="0"/>
                <a:ea typeface="Calibri" pitchFamily="34" charset="-122"/>
                <a:cs typeface="Calibri" pitchFamily="34" charset="-120"/>
              </a:rPr>
              <a:t>KAPITEL 2 · PRAXIS, AUSSENWIRKUNG, WERKZEUGE</a:t>
            </a:r>
            <a:endParaRPr lang="en-US" sz="1100" dirty="0"/>
          </a:p>
        </p:txBody>
      </p:sp>
      <p:sp>
        <p:nvSpPr>
          <p:cNvPr id="6" name="Text 4"/>
          <p:cNvSpPr/>
          <p:nvPr/>
        </p:nvSpPr>
        <p:spPr>
          <a:xfrm>
            <a:off x="566928" y="3072384"/>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Was wir daraus gemacht haben.</a:t>
            </a:r>
            <a:endParaRPr lang="en-US" sz="3800" dirty="0"/>
          </a:p>
        </p:txBody>
      </p:sp>
      <p:sp>
        <p:nvSpPr>
          <p:cNvPr id="7" name="Text 5"/>
          <p:cNvSpPr/>
          <p:nvPr/>
        </p:nvSpPr>
        <p:spPr>
          <a:xfrm>
            <a:off x="612648" y="4114800"/>
            <a:ext cx="731520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Förderpraxis: ein Merksatz, der uns Geld spart</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Drei Schulungen, zwei Webinare, ein WDR-Beitrag</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KI-Werkzeuge und eine neue Marke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FÖRDERPRAXIS</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Der Merksatz aus dem Sanierungs-Chat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Von David, 06.08. - und er hat recht.</a:t>
            </a:r>
            <a:endParaRPr lang="en-US" sz="1400" dirty="0"/>
          </a:p>
        </p:txBody>
      </p:sp>
      <p:sp>
        <p:nvSpPr>
          <p:cNvPr id="5" name="Shape 3"/>
          <p:cNvSpPr/>
          <p:nvPr/>
        </p:nvSpPr>
        <p:spPr>
          <a:xfrm>
            <a:off x="566928" y="1828800"/>
            <a:ext cx="11055096" cy="1417320"/>
          </a:xfrm>
          <a:prstGeom prst="roundRect">
            <a:avLst>
              <a:gd name="adj" fmla="val 5806"/>
            </a:avLst>
          </a:prstGeom>
          <a:solidFill>
            <a:srgbClr val="1A1819"/>
          </a:solidFill>
          <a:ln/>
        </p:spPr>
      </p:sp>
      <p:sp>
        <p:nvSpPr>
          <p:cNvPr id="6" name="Text 4"/>
          <p:cNvSpPr/>
          <p:nvPr/>
        </p:nvSpPr>
        <p:spPr>
          <a:xfrm>
            <a:off x="950976" y="1828800"/>
            <a:ext cx="10287000" cy="1417320"/>
          </a:xfrm>
          <a:prstGeom prst="rect">
            <a:avLst/>
          </a:prstGeom>
          <a:noFill/>
          <a:ln/>
        </p:spPr>
        <p:txBody>
          <a:bodyPr wrap="square" lIns="0" tIns="0" rIns="0" bIns="0" rtlCol="0" anchor="ctr"/>
          <a:lstStyle/>
          <a:p>
            <a:pPr indent="0" marL="0">
              <a:lnSpc>
                <a:spcPts val="3200"/>
              </a:lnSpc>
              <a:buNone/>
            </a:pPr>
            <a:r>
              <a:rPr lang="en-US" sz="2100" i="1" dirty="0">
                <a:solidFill>
                  <a:srgbClr val="FFFFFF"/>
                </a:solidFill>
                <a:latin typeface="Trebuchet MS" pitchFamily="34" charset="0"/>
                <a:ea typeface="Trebuchet MS" pitchFamily="34" charset="-122"/>
                <a:cs typeface="Trebuchet MS" pitchFamily="34" charset="-120"/>
              </a:rPr>
              <a:t>„Plant ausreichend Puffer in den Anträgen und BzAs ein.</a:t>
            </a:r>
            <a:endParaRPr lang="en-US" sz="2100" dirty="0"/>
          </a:p>
          <a:p>
            <a:pPr indent="0" marL="0">
              <a:lnSpc>
                <a:spcPts val="3200"/>
              </a:lnSpc>
              <a:buNone/>
            </a:pPr>
            <a:r>
              <a:rPr lang="en-US" sz="2100" i="1" dirty="0">
                <a:solidFill>
                  <a:srgbClr val="FFFFFF"/>
                </a:solidFill>
                <a:latin typeface="Trebuchet MS" pitchFamily="34" charset="0"/>
                <a:ea typeface="Trebuchet MS" pitchFamily="34" charset="-122"/>
                <a:cs typeface="Trebuchet MS" pitchFamily="34" charset="-120"/>
              </a:rPr>
              <a:t>Wir haben ja keinen Nachteil, wenn da mehr drinsteht."</a:t>
            </a:r>
            <a:endParaRPr lang="en-US" sz="2100" dirty="0"/>
          </a:p>
        </p:txBody>
      </p:sp>
      <p:sp>
        <p:nvSpPr>
          <p:cNvPr id="7" name="Text 5"/>
          <p:cNvSpPr/>
          <p:nvPr/>
        </p:nvSpPr>
        <p:spPr>
          <a:xfrm>
            <a:off x="566928" y="3493008"/>
            <a:ext cx="5486400" cy="310896"/>
          </a:xfrm>
          <a:prstGeom prst="rect">
            <a:avLst/>
          </a:prstGeom>
          <a:noFill/>
          <a:ln/>
        </p:spPr>
        <p:txBody>
          <a:bodyPr wrap="square" lIns="0" tIns="0" rIns="0" bIns="0" rtlCol="0" anchor="ctr"/>
          <a:lstStyle/>
          <a:p>
            <a:pPr indent="0" marL="0">
              <a:buNone/>
            </a:pPr>
            <a:r>
              <a:rPr lang="en-US" sz="1700" b="1" dirty="0">
                <a:solidFill>
                  <a:srgbClr val="1A1819"/>
                </a:solidFill>
                <a:latin typeface="Trebuchet MS" pitchFamily="34" charset="0"/>
                <a:ea typeface="Trebuchet MS" pitchFamily="34" charset="-122"/>
                <a:cs typeface="Trebuchet MS" pitchFamily="34" charset="-120"/>
              </a:rPr>
              <a:t>Das Rechenbeispiel</a:t>
            </a:r>
            <a:endParaRPr lang="en-US" sz="1700" dirty="0"/>
          </a:p>
        </p:txBody>
      </p:sp>
      <p:sp>
        <p:nvSpPr>
          <p:cNvPr id="8" name="Shape 6"/>
          <p:cNvSpPr/>
          <p:nvPr/>
        </p:nvSpPr>
        <p:spPr>
          <a:xfrm>
            <a:off x="566928" y="3913632"/>
            <a:ext cx="5748650" cy="566928"/>
          </a:xfrm>
          <a:prstGeom prst="roundRect">
            <a:avLst>
              <a:gd name="adj" fmla="val 9677"/>
            </a:avLst>
          </a:prstGeom>
          <a:solidFill>
            <a:srgbClr val="F5F6F3"/>
          </a:solidFill>
          <a:ln/>
        </p:spPr>
      </p:sp>
      <p:sp>
        <p:nvSpPr>
          <p:cNvPr id="9" name="Text 7"/>
          <p:cNvSpPr/>
          <p:nvPr/>
        </p:nvSpPr>
        <p:spPr>
          <a:xfrm>
            <a:off x="804672" y="3913632"/>
            <a:ext cx="3371210" cy="566928"/>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Angebot Heizungsbauer</a:t>
            </a:r>
            <a:endParaRPr lang="en-US" sz="1200" dirty="0"/>
          </a:p>
        </p:txBody>
      </p:sp>
      <p:sp>
        <p:nvSpPr>
          <p:cNvPr id="10" name="Text 8"/>
          <p:cNvSpPr/>
          <p:nvPr/>
        </p:nvSpPr>
        <p:spPr>
          <a:xfrm>
            <a:off x="4029578" y="3913632"/>
            <a:ext cx="2048256" cy="566928"/>
          </a:xfrm>
          <a:prstGeom prst="rect">
            <a:avLst/>
          </a:prstGeom>
          <a:noFill/>
          <a:ln/>
        </p:spPr>
        <p:txBody>
          <a:bodyPr wrap="square" lIns="0" tIns="0" rIns="0" bIns="0" rtlCol="0" anchor="ctr"/>
          <a:lstStyle/>
          <a:p>
            <a:pPr algn="r" indent="0" marL="0">
              <a:buNone/>
            </a:pPr>
            <a:r>
              <a:rPr lang="en-US" sz="1500" b="1" dirty="0">
                <a:solidFill>
                  <a:srgbClr val="5B685D"/>
                </a:solidFill>
                <a:latin typeface="Trebuchet MS" pitchFamily="34" charset="0"/>
                <a:ea typeface="Trebuchet MS" pitchFamily="34" charset="-122"/>
                <a:cs typeface="Trebuchet MS" pitchFamily="34" charset="-120"/>
              </a:rPr>
              <a:t>33.278 €</a:t>
            </a:r>
            <a:endParaRPr lang="en-US" sz="1500" dirty="0"/>
          </a:p>
        </p:txBody>
      </p:sp>
      <p:sp>
        <p:nvSpPr>
          <p:cNvPr id="11" name="Shape 9"/>
          <p:cNvSpPr/>
          <p:nvPr/>
        </p:nvSpPr>
        <p:spPr>
          <a:xfrm>
            <a:off x="566928" y="4553712"/>
            <a:ext cx="5748650" cy="566928"/>
          </a:xfrm>
          <a:prstGeom prst="roundRect">
            <a:avLst>
              <a:gd name="adj" fmla="val 9677"/>
            </a:avLst>
          </a:prstGeom>
          <a:solidFill>
            <a:srgbClr val="F5F6F3"/>
          </a:solidFill>
          <a:ln/>
        </p:spPr>
      </p:sp>
      <p:sp>
        <p:nvSpPr>
          <p:cNvPr id="12" name="Text 10"/>
          <p:cNvSpPr/>
          <p:nvPr/>
        </p:nvSpPr>
        <p:spPr>
          <a:xfrm>
            <a:off x="804672" y="4553712"/>
            <a:ext cx="3371210" cy="566928"/>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Nicht so: BzA bei 2 WE</a:t>
            </a:r>
            <a:endParaRPr lang="en-US" sz="1200" dirty="0"/>
          </a:p>
        </p:txBody>
      </p:sp>
      <p:sp>
        <p:nvSpPr>
          <p:cNvPr id="13" name="Text 11"/>
          <p:cNvSpPr/>
          <p:nvPr/>
        </p:nvSpPr>
        <p:spPr>
          <a:xfrm>
            <a:off x="4029578" y="4553712"/>
            <a:ext cx="2048256" cy="566928"/>
          </a:xfrm>
          <a:prstGeom prst="rect">
            <a:avLst/>
          </a:prstGeom>
          <a:noFill/>
          <a:ln/>
        </p:spPr>
        <p:txBody>
          <a:bodyPr wrap="square" lIns="0" tIns="0" rIns="0" bIns="0" rtlCol="0" anchor="ctr"/>
          <a:lstStyle/>
          <a:p>
            <a:pPr algn="r" indent="0" marL="0">
              <a:buNone/>
            </a:pPr>
            <a:r>
              <a:rPr lang="en-US" sz="1500" b="1" dirty="0">
                <a:solidFill>
                  <a:srgbClr val="B5544D"/>
                </a:solidFill>
                <a:latin typeface="Trebuchet MS" pitchFamily="34" charset="0"/>
                <a:ea typeface="Trebuchet MS" pitchFamily="34" charset="-122"/>
                <a:cs typeface="Trebuchet MS" pitchFamily="34" charset="-120"/>
              </a:rPr>
              <a:t>35.000 €</a:t>
            </a:r>
            <a:endParaRPr lang="en-US" sz="1500" dirty="0"/>
          </a:p>
        </p:txBody>
      </p:sp>
      <p:sp>
        <p:nvSpPr>
          <p:cNvPr id="14" name="Shape 12"/>
          <p:cNvSpPr/>
          <p:nvPr/>
        </p:nvSpPr>
        <p:spPr>
          <a:xfrm>
            <a:off x="566928" y="5193792"/>
            <a:ext cx="5748650" cy="566928"/>
          </a:xfrm>
          <a:prstGeom prst="roundRect">
            <a:avLst>
              <a:gd name="adj" fmla="val 9677"/>
            </a:avLst>
          </a:prstGeom>
          <a:solidFill>
            <a:srgbClr val="EDF5EE"/>
          </a:solidFill>
          <a:ln/>
        </p:spPr>
      </p:sp>
      <p:sp>
        <p:nvSpPr>
          <p:cNvPr id="15" name="Text 13"/>
          <p:cNvSpPr/>
          <p:nvPr/>
        </p:nvSpPr>
        <p:spPr>
          <a:xfrm>
            <a:off x="804672" y="5193792"/>
            <a:ext cx="3371210" cy="566928"/>
          </a:xfrm>
          <a:prstGeom prst="rect">
            <a:avLst/>
          </a:prstGeom>
          <a:noFill/>
          <a:ln/>
        </p:spPr>
        <p:txBody>
          <a:bodyPr wrap="square" lIns="0" tIns="0" rIns="0" bIns="0" rtlCol="0" anchor="ctr"/>
          <a:lstStyle/>
          <a:p>
            <a:pPr indent="0" marL="0">
              <a:buNone/>
            </a:pPr>
            <a:r>
              <a:rPr lang="en-US" sz="1200" dirty="0">
                <a:solidFill>
                  <a:srgbClr val="1A1819"/>
                </a:solidFill>
                <a:latin typeface="Calibri" pitchFamily="34" charset="0"/>
                <a:ea typeface="Calibri" pitchFamily="34" charset="-122"/>
                <a:cs typeface="Calibri" pitchFamily="34" charset="-120"/>
              </a:rPr>
              <a:t>Sondern: BzA bei 2 WE</a:t>
            </a:r>
            <a:endParaRPr lang="en-US" sz="1200" dirty="0"/>
          </a:p>
        </p:txBody>
      </p:sp>
      <p:sp>
        <p:nvSpPr>
          <p:cNvPr id="16" name="Text 14"/>
          <p:cNvSpPr/>
          <p:nvPr/>
        </p:nvSpPr>
        <p:spPr>
          <a:xfrm>
            <a:off x="4029578" y="5193792"/>
            <a:ext cx="2048256" cy="566928"/>
          </a:xfrm>
          <a:prstGeom prst="rect">
            <a:avLst/>
          </a:prstGeom>
          <a:noFill/>
          <a:ln/>
        </p:spPr>
        <p:txBody>
          <a:bodyPr wrap="square" lIns="0" tIns="0" rIns="0" bIns="0" rtlCol="0" anchor="ctr"/>
          <a:lstStyle/>
          <a:p>
            <a:pPr algn="r" indent="0" marL="0">
              <a:buNone/>
            </a:pPr>
            <a:r>
              <a:rPr lang="en-US" sz="1500" b="1" dirty="0">
                <a:solidFill>
                  <a:srgbClr val="2E7D3A"/>
                </a:solidFill>
                <a:latin typeface="Trebuchet MS" pitchFamily="34" charset="0"/>
                <a:ea typeface="Trebuchet MS" pitchFamily="34" charset="-122"/>
                <a:cs typeface="Trebuchet MS" pitchFamily="34" charset="-120"/>
              </a:rPr>
              <a:t>42.000 - 45.000 €</a:t>
            </a:r>
            <a:endParaRPr lang="en-US" sz="1500" dirty="0"/>
          </a:p>
        </p:txBody>
      </p:sp>
      <p:sp>
        <p:nvSpPr>
          <p:cNvPr id="17" name="Shape 15"/>
          <p:cNvSpPr/>
          <p:nvPr/>
        </p:nvSpPr>
        <p:spPr>
          <a:xfrm>
            <a:off x="6647231" y="3493008"/>
            <a:ext cx="4974793" cy="2359152"/>
          </a:xfrm>
          <a:prstGeom prst="roundRect">
            <a:avLst>
              <a:gd name="adj" fmla="val 3488"/>
            </a:avLst>
          </a:prstGeom>
          <a:solidFill>
            <a:srgbClr val="F5F6F3"/>
          </a:solidFill>
          <a:ln/>
          <a:effectLst>
            <a:outerShdw sx="100000" sy="100000" kx="0" ky="0" algn="bl" rotWithShape="0" blurRad="127000" dist="25400" dir="5400000">
              <a:srgbClr val="000000">
                <a:alpha val="7000"/>
              </a:srgbClr>
            </a:outerShdw>
          </a:effectLst>
        </p:spPr>
      </p:sp>
      <p:sp>
        <p:nvSpPr>
          <p:cNvPr id="18" name="Text 16"/>
          <p:cNvSpPr/>
          <p:nvPr/>
        </p:nvSpPr>
        <p:spPr>
          <a:xfrm>
            <a:off x="6921551" y="3657600"/>
            <a:ext cx="4426153" cy="292608"/>
          </a:xfrm>
          <a:prstGeom prst="rect">
            <a:avLst/>
          </a:prstGeom>
          <a:noFill/>
          <a:ln/>
        </p:spPr>
        <p:txBody>
          <a:bodyPr wrap="square" lIns="0" tIns="0" rIns="0" bIns="0" rtlCol="0" anchor="ctr"/>
          <a:lstStyle/>
          <a:p>
            <a:pPr indent="0" marL="0">
              <a:buNone/>
            </a:pPr>
            <a:r>
              <a:rPr lang="en-US" sz="1500" b="1" dirty="0">
                <a:solidFill>
                  <a:srgbClr val="2E7D3A"/>
                </a:solidFill>
                <a:latin typeface="Trebuchet MS" pitchFamily="34" charset="0"/>
                <a:ea typeface="Trebuchet MS" pitchFamily="34" charset="-122"/>
                <a:cs typeface="Trebuchet MS" pitchFamily="34" charset="-120"/>
              </a:rPr>
              <a:t>Weitere offene Punkte</a:t>
            </a:r>
            <a:endParaRPr lang="en-US" sz="1500" dirty="0"/>
          </a:p>
        </p:txBody>
      </p:sp>
      <p:sp>
        <p:nvSpPr>
          <p:cNvPr id="19" name="Text 17"/>
          <p:cNvSpPr/>
          <p:nvPr/>
        </p:nvSpPr>
        <p:spPr>
          <a:xfrm>
            <a:off x="6958127" y="4023360"/>
            <a:ext cx="4353001" cy="1682496"/>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A1819"/>
                </a:solidFill>
                <a:latin typeface="Calibri" pitchFamily="34" charset="0"/>
                <a:ea typeface="Calibri" pitchFamily="34" charset="-122"/>
                <a:cs typeface="Calibri" pitchFamily="34" charset="-120"/>
              </a:rPr>
              <a:t>Effizienzbonus: Warum ist der noch beantragbar? Simon hat den Infoletter-Hinweis, wir klären das verbindlich.</a:t>
            </a:r>
            <a:endParaRPr lang="en-US" sz="1100" dirty="0"/>
          </a:p>
          <a:p>
            <a:pPr marL="342900" indent="-342900">
              <a:spcAft>
                <a:spcPts val="800"/>
              </a:spcAft>
              <a:buSzPct val="100000"/>
              <a:buChar char="•"/>
            </a:pPr>
            <a:r>
              <a:rPr lang="en-US" sz="1100" dirty="0">
                <a:solidFill>
                  <a:srgbClr val="1A1819"/>
                </a:solidFill>
                <a:latin typeface="Calibri" pitchFamily="34" charset="0"/>
                <a:ea typeface="Calibri" pitchFamily="34" charset="-122"/>
                <a:cs typeface="Calibri" pitchFamily="34" charset="-120"/>
              </a:rPr>
              <a:t>iSFP-Handling bei Anträgen und die 30.000-€-Grenze - bitte im Zweifel kurz abstimmen statt raten.</a:t>
            </a:r>
            <a:endParaRPr lang="en-US" sz="1100" dirty="0"/>
          </a:p>
          <a:p>
            <a:pPr marL="342900" indent="-342900">
              <a:spcAft>
                <a:spcPts val="800"/>
              </a:spcAft>
              <a:buSzPct val="100000"/>
              <a:buChar char="•"/>
            </a:pPr>
            <a:r>
              <a:rPr lang="en-US" sz="1100" dirty="0">
                <a:solidFill>
                  <a:srgbClr val="1A1819"/>
                </a:solidFill>
                <a:latin typeface="Calibri" pitchFamily="34" charset="0"/>
                <a:ea typeface="Calibri" pitchFamily="34" charset="-122"/>
                <a:cs typeface="Calibri" pitchFamily="34" charset="-120"/>
              </a:rPr>
              <a:t>Neue Preisliste 2026 und der neue Preisrechner sind fertig und liegen in Teams.</a:t>
            </a:r>
            <a:endParaRPr lang="en-US" sz="1100" dirty="0"/>
          </a:p>
          <a:p>
            <a:pPr marL="342900" indent="-342900">
              <a:spcAft>
                <a:spcPts val="800"/>
              </a:spcAft>
              <a:buSzPct val="100000"/>
              <a:buChar char="•"/>
            </a:pPr>
            <a:r>
              <a:rPr lang="en-US" sz="1100" dirty="0">
                <a:solidFill>
                  <a:srgbClr val="1A1819"/>
                </a:solidFill>
                <a:latin typeface="Calibri" pitchFamily="34" charset="0"/>
                <a:ea typeface="Calibri" pitchFamily="34" charset="-122"/>
                <a:cs typeface="Calibri" pitchFamily="34" charset="-120"/>
              </a:rPr>
              <a:t>Vorlage „Bestätigung förderfähige Investitionskosten" ist auf Stand 08/2026 aktualisiert.</a:t>
            </a:r>
            <a:endParaRPr lang="en-US" sz="1100" dirty="0"/>
          </a:p>
        </p:txBody>
      </p:sp>
      <p:sp>
        <p:nvSpPr>
          <p:cNvPr id="21" name="Text 18"/>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Sanierungs-Chat 06.08.2026 · WERKE_Preisliste_2026 · Vorlagen Portal</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AUSSENWIRKUNG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Wir sind beim Thema vorn dabei</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Drei Wochen Sommerpause - und trotzdem sichtbar wie selten.</a:t>
            </a:r>
            <a:endParaRPr lang="en-US" sz="1400" dirty="0"/>
          </a:p>
        </p:txBody>
      </p:sp>
      <p:sp>
        <p:nvSpPr>
          <p:cNvPr id="5" name="Shape 3"/>
          <p:cNvSpPr/>
          <p:nvPr/>
        </p:nvSpPr>
        <p:spPr>
          <a:xfrm>
            <a:off x="566928" y="1847088"/>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6" name="Shape 4"/>
          <p:cNvSpPr/>
          <p:nvPr/>
        </p:nvSpPr>
        <p:spPr>
          <a:xfrm>
            <a:off x="822960" y="2066544"/>
            <a:ext cx="1417320" cy="310896"/>
          </a:xfrm>
          <a:prstGeom prst="roundRect">
            <a:avLst>
              <a:gd name="adj" fmla="val 50000"/>
            </a:avLst>
          </a:prstGeom>
          <a:solidFill>
            <a:srgbClr val="2E7D3A"/>
          </a:solidFill>
          <a:ln/>
        </p:spPr>
      </p:sp>
      <p:sp>
        <p:nvSpPr>
          <p:cNvPr id="7" name="Text 5"/>
          <p:cNvSpPr/>
          <p:nvPr/>
        </p:nvSpPr>
        <p:spPr>
          <a:xfrm>
            <a:off x="822960" y="2066544"/>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04.08.</a:t>
            </a:r>
            <a:endParaRPr lang="en-US" sz="1050" dirty="0"/>
          </a:p>
        </p:txBody>
      </p:sp>
      <p:sp>
        <p:nvSpPr>
          <p:cNvPr id="8" name="Text 6"/>
          <p:cNvSpPr/>
          <p:nvPr/>
        </p:nvSpPr>
        <p:spPr>
          <a:xfrm>
            <a:off x="822960" y="2468880"/>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Kreisgruppenschulung GModG</a:t>
            </a:r>
            <a:endParaRPr lang="en-US" sz="1600" dirty="0"/>
          </a:p>
        </p:txBody>
      </p:sp>
      <p:sp>
        <p:nvSpPr>
          <p:cNvPr id="9" name="Text 7"/>
          <p:cNvSpPr/>
          <p:nvPr/>
        </p:nvSpPr>
        <p:spPr>
          <a:xfrm>
            <a:off x="822960" y="2816352"/>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Schulung für die Schornsteinfeger-Kreisgruppe Paderborn, eigenes 25-Folien-Deck auf Stand der verkündeten Fassung. Unterlagen sind an alle Teilnehmer raus.</a:t>
            </a:r>
            <a:endParaRPr lang="en-US" sz="1100" dirty="0"/>
          </a:p>
        </p:txBody>
      </p:sp>
      <p:sp>
        <p:nvSpPr>
          <p:cNvPr id="10" name="Shape 8"/>
          <p:cNvSpPr/>
          <p:nvPr/>
        </p:nvSpPr>
        <p:spPr>
          <a:xfrm>
            <a:off x="6231636" y="1847088"/>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1" name="Shape 9"/>
          <p:cNvSpPr/>
          <p:nvPr/>
        </p:nvSpPr>
        <p:spPr>
          <a:xfrm>
            <a:off x="6487668" y="2066544"/>
            <a:ext cx="1417320" cy="310896"/>
          </a:xfrm>
          <a:prstGeom prst="roundRect">
            <a:avLst>
              <a:gd name="adj" fmla="val 50000"/>
            </a:avLst>
          </a:prstGeom>
          <a:solidFill>
            <a:srgbClr val="58B264"/>
          </a:solidFill>
          <a:ln/>
        </p:spPr>
      </p:sp>
      <p:sp>
        <p:nvSpPr>
          <p:cNvPr id="12" name="Text 10"/>
          <p:cNvSpPr/>
          <p:nvPr/>
        </p:nvSpPr>
        <p:spPr>
          <a:xfrm>
            <a:off x="6487668" y="2066544"/>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20.07. + 03.08.</a:t>
            </a:r>
            <a:endParaRPr lang="en-US" sz="1050" dirty="0"/>
          </a:p>
        </p:txBody>
      </p:sp>
      <p:sp>
        <p:nvSpPr>
          <p:cNvPr id="13" name="Text 11"/>
          <p:cNvSpPr/>
          <p:nvPr/>
        </p:nvSpPr>
        <p:spPr>
          <a:xfrm>
            <a:off x="6487668" y="2468880"/>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Webinar „Was sich jetzt ändert"</a:t>
            </a:r>
            <a:endParaRPr lang="en-US" sz="1600" dirty="0"/>
          </a:p>
        </p:txBody>
      </p:sp>
      <p:sp>
        <p:nvSpPr>
          <p:cNvPr id="14" name="Text 12"/>
          <p:cNvSpPr/>
          <p:nvPr/>
        </p:nvSpPr>
        <p:spPr>
          <a:xfrm>
            <a:off x="6487668" y="2816352"/>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Zwei Durchläufe mit Chiara und Steffi. Teilnehmer aus dem Handwerk: Holz-Striewe, WW Energie, Dehrendorf, CH-PB.</a:t>
            </a:r>
            <a:endParaRPr lang="en-US" sz="1100" dirty="0"/>
          </a:p>
        </p:txBody>
      </p:sp>
      <p:sp>
        <p:nvSpPr>
          <p:cNvPr id="15" name="Shape 13"/>
          <p:cNvSpPr/>
          <p:nvPr/>
        </p:nvSpPr>
        <p:spPr>
          <a:xfrm>
            <a:off x="566928" y="3602736"/>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16" name="Shape 14"/>
          <p:cNvSpPr/>
          <p:nvPr/>
        </p:nvSpPr>
        <p:spPr>
          <a:xfrm>
            <a:off x="822960" y="3822192"/>
            <a:ext cx="1417320" cy="310896"/>
          </a:xfrm>
          <a:prstGeom prst="roundRect">
            <a:avLst>
              <a:gd name="adj" fmla="val 50000"/>
            </a:avLst>
          </a:prstGeom>
          <a:solidFill>
            <a:srgbClr val="BFDCC4"/>
          </a:solidFill>
          <a:ln/>
        </p:spPr>
      </p:sp>
      <p:sp>
        <p:nvSpPr>
          <p:cNvPr id="17" name="Text 15"/>
          <p:cNvSpPr/>
          <p:nvPr/>
        </p:nvSpPr>
        <p:spPr>
          <a:xfrm>
            <a:off x="822960" y="3822192"/>
            <a:ext cx="1417320" cy="310896"/>
          </a:xfrm>
          <a:prstGeom prst="rect">
            <a:avLst/>
          </a:prstGeom>
          <a:noFill/>
          <a:ln/>
        </p:spPr>
        <p:txBody>
          <a:bodyPr wrap="square" lIns="0" tIns="0" rIns="0" bIns="0" rtlCol="0" anchor="ctr"/>
          <a:lstStyle/>
          <a:p>
            <a:pPr algn="ctr" indent="0" marL="0">
              <a:buNone/>
            </a:pPr>
            <a:r>
              <a:rPr lang="en-US" sz="1050" b="1" dirty="0">
                <a:solidFill>
                  <a:srgbClr val="1A1819"/>
                </a:solidFill>
                <a:latin typeface="Calibri" pitchFamily="34" charset="0"/>
                <a:ea typeface="Calibri" pitchFamily="34" charset="-122"/>
                <a:cs typeface="Calibri" pitchFamily="34" charset="-120"/>
              </a:rPr>
              <a:t>16.07.</a:t>
            </a:r>
            <a:endParaRPr lang="en-US" sz="1050" dirty="0"/>
          </a:p>
        </p:txBody>
      </p:sp>
      <p:sp>
        <p:nvSpPr>
          <p:cNvPr id="18" name="Text 16"/>
          <p:cNvSpPr/>
          <p:nvPr/>
        </p:nvSpPr>
        <p:spPr>
          <a:xfrm>
            <a:off x="822960" y="4224528"/>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Webinar KfW und BAFA</a:t>
            </a:r>
            <a:endParaRPr lang="en-US" sz="1600" dirty="0"/>
          </a:p>
        </p:txBody>
      </p:sp>
      <p:sp>
        <p:nvSpPr>
          <p:cNvPr id="19" name="Text 17"/>
          <p:cNvSpPr/>
          <p:nvPr/>
        </p:nvSpPr>
        <p:spPr>
          <a:xfrm>
            <a:off x="822960" y="4572000"/>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Neue Förderbedingungen 2026 - direkt vor der Sommerpause, mit Steffi.</a:t>
            </a:r>
            <a:endParaRPr lang="en-US" sz="1100" dirty="0"/>
          </a:p>
        </p:txBody>
      </p:sp>
      <p:sp>
        <p:nvSpPr>
          <p:cNvPr id="20" name="Shape 18"/>
          <p:cNvSpPr/>
          <p:nvPr/>
        </p:nvSpPr>
        <p:spPr>
          <a:xfrm>
            <a:off x="6231636" y="3602736"/>
            <a:ext cx="5390388" cy="1554480"/>
          </a:xfrm>
          <a:prstGeom prst="roundRect">
            <a:avLst>
              <a:gd name="adj" fmla="val 5294"/>
            </a:avLst>
          </a:prstGeom>
          <a:solidFill>
            <a:srgbClr val="F5F6F3"/>
          </a:solidFill>
          <a:ln/>
          <a:effectLst>
            <a:outerShdw sx="100000" sy="100000" kx="0" ky="0" algn="bl" rotWithShape="0" blurRad="127000" dist="25400" dir="5400000">
              <a:srgbClr val="000000">
                <a:alpha val="7000"/>
              </a:srgbClr>
            </a:outerShdw>
          </a:effectLst>
        </p:spPr>
      </p:sp>
      <p:sp>
        <p:nvSpPr>
          <p:cNvPr id="21" name="Shape 19"/>
          <p:cNvSpPr/>
          <p:nvPr/>
        </p:nvSpPr>
        <p:spPr>
          <a:xfrm>
            <a:off x="6487668" y="3822192"/>
            <a:ext cx="1417320" cy="310896"/>
          </a:xfrm>
          <a:prstGeom prst="roundRect">
            <a:avLst>
              <a:gd name="adj" fmla="val 50000"/>
            </a:avLst>
          </a:prstGeom>
          <a:solidFill>
            <a:srgbClr val="2E7D3A"/>
          </a:solidFill>
          <a:ln/>
        </p:spPr>
      </p:sp>
      <p:sp>
        <p:nvSpPr>
          <p:cNvPr id="22" name="Text 20"/>
          <p:cNvSpPr/>
          <p:nvPr/>
        </p:nvSpPr>
        <p:spPr>
          <a:xfrm>
            <a:off x="6487668" y="3822192"/>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06.08.</a:t>
            </a:r>
            <a:endParaRPr lang="en-US" sz="1050" dirty="0"/>
          </a:p>
        </p:txBody>
      </p:sp>
      <p:sp>
        <p:nvSpPr>
          <p:cNvPr id="23" name="Text 21"/>
          <p:cNvSpPr/>
          <p:nvPr/>
        </p:nvSpPr>
        <p:spPr>
          <a:xfrm>
            <a:off x="6487668" y="4224528"/>
            <a:ext cx="4878324" cy="347472"/>
          </a:xfrm>
          <a:prstGeom prst="rect">
            <a:avLst/>
          </a:prstGeom>
          <a:noFill/>
          <a:ln/>
        </p:spPr>
        <p:txBody>
          <a:bodyPr wrap="square" lIns="0" tIns="0" rIns="0" bIns="0" rtlCol="0" anchor="ctr"/>
          <a:lstStyle/>
          <a:p>
            <a:pPr indent="0" marL="0">
              <a:buNone/>
            </a:pPr>
            <a:r>
              <a:rPr lang="en-US" sz="1600" b="1" dirty="0">
                <a:solidFill>
                  <a:srgbClr val="1A1819"/>
                </a:solidFill>
                <a:latin typeface="Trebuchet MS" pitchFamily="34" charset="0"/>
                <a:ea typeface="Trebuchet MS" pitchFamily="34" charset="-122"/>
                <a:cs typeface="Trebuchet MS" pitchFamily="34" charset="-120"/>
              </a:rPr>
              <a:t>WDR Ostwestfalen-Lippe</a:t>
            </a:r>
            <a:endParaRPr lang="en-US" sz="1600" dirty="0"/>
          </a:p>
        </p:txBody>
      </p:sp>
      <p:sp>
        <p:nvSpPr>
          <p:cNvPr id="24" name="Text 22"/>
          <p:cNvSpPr/>
          <p:nvPr/>
        </p:nvSpPr>
        <p:spPr>
          <a:xfrm>
            <a:off x="6487668" y="4572000"/>
            <a:ext cx="4896612" cy="493776"/>
          </a:xfrm>
          <a:prstGeom prst="rect">
            <a:avLst/>
          </a:prstGeom>
          <a:noFill/>
          <a:ln/>
        </p:spPr>
        <p:txBody>
          <a:bodyPr wrap="square" lIns="0" tIns="0" rIns="0" bIns="0" rtlCol="0" anchor="t"/>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Beitrag über das Kühlen mit der Wärmepumpe im Sommer, Kreis Höxter - mit Zitat von uns. Marketing greift das auf.</a:t>
            </a:r>
            <a:endParaRPr lang="en-US" sz="1100" dirty="0"/>
          </a:p>
        </p:txBody>
      </p:sp>
      <p:sp>
        <p:nvSpPr>
          <p:cNvPr id="25" name="Shape 23"/>
          <p:cNvSpPr/>
          <p:nvPr/>
        </p:nvSpPr>
        <p:spPr>
          <a:xfrm>
            <a:off x="566928" y="5413248"/>
            <a:ext cx="11055096" cy="658368"/>
          </a:xfrm>
          <a:prstGeom prst="roundRect">
            <a:avLst>
              <a:gd name="adj" fmla="val 12500"/>
            </a:avLst>
          </a:prstGeom>
          <a:solidFill>
            <a:srgbClr val="EDF5EE"/>
          </a:solidFill>
          <a:ln/>
        </p:spPr>
      </p:sp>
      <p:sp>
        <p:nvSpPr>
          <p:cNvPr id="26" name="Text 24"/>
          <p:cNvSpPr/>
          <p:nvPr/>
        </p:nvSpPr>
        <p:spPr>
          <a:xfrm>
            <a:off x="841248" y="5413248"/>
            <a:ext cx="10506456" cy="658368"/>
          </a:xfrm>
          <a:prstGeom prst="rect">
            <a:avLst/>
          </a:prstGeom>
          <a:noFill/>
          <a:ln/>
        </p:spPr>
        <p:txBody>
          <a:bodyPr wrap="square" lIns="0" tIns="0" rIns="0" bIns="0" rtlCol="0" anchor="ctr"/>
          <a:lstStyle/>
          <a:p>
            <a:pPr indent="0" marL="0">
              <a:buNone/>
            </a:pPr>
            <a:r>
              <a:rPr lang="en-US" sz="1250" b="1" dirty="0">
                <a:solidFill>
                  <a:srgbClr val="2E7D3A"/>
                </a:solidFill>
                <a:latin typeface="Calibri" pitchFamily="34" charset="0"/>
                <a:ea typeface="Calibri" pitchFamily="34" charset="-122"/>
                <a:cs typeface="Calibri" pitchFamily="34" charset="-120"/>
              </a:rPr>
              <a:t>Das ist unser Vorsprung.  </a:t>
            </a:r>
            <a:pPr indent="0" marL="0">
              <a:buNone/>
            </a:pPr>
            <a:r>
              <a:rPr lang="en-US" sz="1250" dirty="0">
                <a:solidFill>
                  <a:srgbClr val="1A1819"/>
                </a:solidFill>
                <a:latin typeface="Calibri" pitchFamily="34" charset="0"/>
                <a:ea typeface="Calibri" pitchFamily="34" charset="-122"/>
                <a:cs typeface="Calibri" pitchFamily="34" charset="-120"/>
              </a:rPr>
              <a:t>Wir haben die Schulungsunterlagen, während andere noch das Gesetz lesen. Wenn ihr im Kundengespräch oder im Netzwerk Fragen zum GModG bekommt: Ihr könnt antworten.</a:t>
            </a:r>
            <a:endParaRPr lang="en-US" sz="1250" dirty="0"/>
          </a:p>
        </p:txBody>
      </p:sp>
      <p:sp>
        <p:nvSpPr>
          <p:cNvPr id="28" name="Text 25"/>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Kalender + Teams-Chats 16.07. bis 06.08.2026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2 · WERKZEUGE</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KI ist bei uns im Alltag angekommen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Was in den letzten drei Wochen damit entstanden ist - und was als Nächstes kommt.</a:t>
            </a:r>
            <a:endParaRPr lang="en-US" sz="1400" dirty="0"/>
          </a:p>
        </p:txBody>
      </p:sp>
      <p:sp>
        <p:nvSpPr>
          <p:cNvPr id="5" name="Shape 3"/>
          <p:cNvSpPr/>
          <p:nvPr/>
        </p:nvSpPr>
        <p:spPr>
          <a:xfrm>
            <a:off x="566928" y="1828800"/>
            <a:ext cx="5372100" cy="3017520"/>
          </a:xfrm>
          <a:prstGeom prst="roundRect">
            <a:avLst>
              <a:gd name="adj" fmla="val 2727"/>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11680"/>
            <a:ext cx="41148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Was schon läuft</a:t>
            </a:r>
            <a:endParaRPr lang="en-US" sz="1700" dirty="0"/>
          </a:p>
        </p:txBody>
      </p:sp>
      <p:sp>
        <p:nvSpPr>
          <p:cNvPr id="7" name="Text 5"/>
          <p:cNvSpPr/>
          <p:nvPr/>
        </p:nvSpPr>
        <p:spPr>
          <a:xfrm>
            <a:off x="896112" y="2395728"/>
            <a:ext cx="4713732" cy="2267712"/>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Sanierungsratgeber wird automatisiert überarbeitet</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WERK.E Design System als Vorlage - Layouts und Assets im Corporate Look auf Knopfdruck</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Neuer Preisrechner auf Basis der Preisliste 2026</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Social-Media-Posts, zuletzt zum Thema Tiny Houses</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Website-Texte und Bildmaterial in 4K</a:t>
            </a:r>
            <a:endParaRPr lang="en-US" sz="1200" dirty="0"/>
          </a:p>
        </p:txBody>
      </p:sp>
      <p:sp>
        <p:nvSpPr>
          <p:cNvPr id="8" name="Shape 6"/>
          <p:cNvSpPr/>
          <p:nvPr/>
        </p:nvSpPr>
        <p:spPr>
          <a:xfrm>
            <a:off x="6249924" y="1828800"/>
            <a:ext cx="5372100" cy="3017520"/>
          </a:xfrm>
          <a:prstGeom prst="roundRect">
            <a:avLst>
              <a:gd name="adj" fmla="val 2727"/>
            </a:avLst>
          </a:prstGeom>
          <a:solidFill>
            <a:srgbClr val="EDF5EE"/>
          </a:solidFill>
          <a:ln/>
        </p:spPr>
      </p:sp>
      <p:sp>
        <p:nvSpPr>
          <p:cNvPr id="9" name="Text 7"/>
          <p:cNvSpPr/>
          <p:nvPr/>
        </p:nvSpPr>
        <p:spPr>
          <a:xfrm>
            <a:off x="6542532" y="2011680"/>
            <a:ext cx="41148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Was als Nächstes kommt</a:t>
            </a:r>
            <a:endParaRPr lang="en-US" sz="1700" dirty="0"/>
          </a:p>
        </p:txBody>
      </p:sp>
      <p:sp>
        <p:nvSpPr>
          <p:cNvPr id="10" name="Text 8"/>
          <p:cNvSpPr/>
          <p:nvPr/>
        </p:nvSpPr>
        <p:spPr>
          <a:xfrm>
            <a:off x="6579108" y="2395728"/>
            <a:ext cx="4713732" cy="2267712"/>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Eigene Zugänge für alle, die damit arbeiten wollen - meldet euch einfach bei mir</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Kurze interne Einführung: Was geht, was geht nicht, was gehört nicht rein</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Grundregel: Kundendaten und personenbezogene Daten bleiben draußen</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Zweite Grundregel: Ergebnisse werden immer fachlich geprüft, bevor sie rausgehen</a:t>
            </a:r>
            <a:endParaRPr lang="en-US" sz="1200" dirty="0"/>
          </a:p>
        </p:txBody>
      </p:sp>
      <p:sp>
        <p:nvSpPr>
          <p:cNvPr id="11" name="Shape 9"/>
          <p:cNvSpPr/>
          <p:nvPr/>
        </p:nvSpPr>
        <p:spPr>
          <a:xfrm>
            <a:off x="566928" y="5047488"/>
            <a:ext cx="11055096" cy="960120"/>
          </a:xfrm>
          <a:prstGeom prst="roundRect">
            <a:avLst>
              <a:gd name="adj" fmla="val 8571"/>
            </a:avLst>
          </a:prstGeom>
          <a:solidFill>
            <a:srgbClr val="1A1819"/>
          </a:solidFill>
          <a:ln/>
        </p:spPr>
      </p:sp>
      <p:sp>
        <p:nvSpPr>
          <p:cNvPr id="12" name="Text 10"/>
          <p:cNvSpPr/>
          <p:nvPr/>
        </p:nvSpPr>
        <p:spPr>
          <a:xfrm>
            <a:off x="859536" y="5157216"/>
            <a:ext cx="5486400" cy="292608"/>
          </a:xfrm>
          <a:prstGeom prst="rect">
            <a:avLst/>
          </a:prstGeom>
          <a:noFill/>
          <a:ln/>
        </p:spPr>
        <p:txBody>
          <a:bodyPr wrap="square" lIns="0" tIns="0" rIns="0" bIns="0" rtlCol="0" anchor="ctr"/>
          <a:lstStyle/>
          <a:p>
            <a:pPr indent="0" marL="0">
              <a:buNone/>
            </a:pPr>
            <a:r>
              <a:rPr lang="en-US" sz="1600" b="1" dirty="0">
                <a:solidFill>
                  <a:srgbClr val="58B264"/>
                </a:solidFill>
                <a:latin typeface="Trebuchet MS" pitchFamily="34" charset="0"/>
                <a:ea typeface="Trebuchet MS" pitchFamily="34" charset="-122"/>
                <a:cs typeface="Trebuchet MS" pitchFamily="34" charset="-120"/>
              </a:rPr>
              <a:t>Neu online: eh-westfalen.de</a:t>
            </a:r>
            <a:endParaRPr lang="en-US" sz="1600" dirty="0"/>
          </a:p>
        </p:txBody>
      </p:sp>
      <p:sp>
        <p:nvSpPr>
          <p:cNvPr id="13" name="Text 11"/>
          <p:cNvSpPr/>
          <p:nvPr/>
        </p:nvSpPr>
        <p:spPr>
          <a:xfrm>
            <a:off x="859536" y="5468112"/>
            <a:ext cx="10469880" cy="420624"/>
          </a:xfrm>
          <a:prstGeom prst="rect">
            <a:avLst/>
          </a:prstGeom>
          <a:noFill/>
          <a:ln/>
        </p:spPr>
        <p:txBody>
          <a:bodyPr wrap="square" lIns="0" tIns="0" rIns="0" bIns="0" rtlCol="0" anchor="t"/>
          <a:lstStyle/>
          <a:p>
            <a:pPr indent="0" marL="0">
              <a:lnSpc>
                <a:spcPts val="1500"/>
              </a:lnSpc>
              <a:buNone/>
            </a:pPr>
            <a:r>
              <a:rPr lang="en-US" sz="1200" dirty="0">
                <a:solidFill>
                  <a:srgbClr val="C9D2CA"/>
                </a:solidFill>
                <a:latin typeface="Calibri" pitchFamily="34" charset="0"/>
                <a:ea typeface="Calibri" pitchFamily="34" charset="-122"/>
                <a:cs typeface="Calibri" pitchFamily="34" charset="-120"/>
              </a:rPr>
              <a:t>Die Seite ist seit dieser Woche live, die Terminbuchung ist eingerichtet. Wer Kundinnen und Kunden hat, für die das passt: Der Buchungslink kann ab sofort weitergegeben werden.</a:t>
            </a:r>
            <a:endParaRPr lang="en-US" sz="1200" dirty="0"/>
          </a:p>
        </p:txBody>
      </p:sp>
      <p:sp>
        <p:nvSpPr>
          <p:cNvPr id="15" name="Text 12"/>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Teams-Chats 05.08. und 06.08.2026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9354312" y="-1371600"/>
            <a:ext cx="4572000" cy="4572000"/>
          </a:xfrm>
          <a:prstGeom prst="ellipse">
            <a:avLst/>
          </a:prstGeom>
          <a:solidFill>
            <a:srgbClr val="256A30"/>
          </a:solidFill>
          <a:ln/>
        </p:spPr>
      </p:sp>
      <p:sp>
        <p:nvSpPr>
          <p:cNvPr id="3" name="Shape 1"/>
          <p:cNvSpPr/>
          <p:nvPr/>
        </p:nvSpPr>
        <p:spPr>
          <a:xfrm>
            <a:off x="10725912" y="3566160"/>
            <a:ext cx="2377440" cy="2377440"/>
          </a:xfrm>
          <a:prstGeom prst="ellipse">
            <a:avLst/>
          </a:prstGeom>
          <a:solidFill>
            <a:srgbClr val="2E7D3A"/>
          </a:solidFill>
          <a:ln/>
        </p:spPr>
      </p:sp>
      <p:sp>
        <p:nvSpPr>
          <p:cNvPr id="4" name="Text 2"/>
          <p:cNvSpPr/>
          <p:nvPr/>
        </p:nvSpPr>
        <p:spPr>
          <a:xfrm>
            <a:off x="566928" y="1417320"/>
            <a:ext cx="2011680" cy="1371600"/>
          </a:xfrm>
          <a:prstGeom prst="rect">
            <a:avLst/>
          </a:prstGeom>
          <a:noFill/>
          <a:ln/>
        </p:spPr>
        <p:txBody>
          <a:bodyPr wrap="square" lIns="0" tIns="0" rIns="0" bIns="0" rtlCol="0" anchor="ctr"/>
          <a:lstStyle/>
          <a:p>
            <a:pPr indent="0" marL="0">
              <a:buNone/>
            </a:pPr>
            <a:r>
              <a:rPr lang="en-US" sz="8400" b="1" dirty="0">
                <a:solidFill>
                  <a:srgbClr val="58B264"/>
                </a:solidFill>
                <a:latin typeface="Trebuchet MS" pitchFamily="34" charset="0"/>
                <a:ea typeface="Trebuchet MS" pitchFamily="34" charset="-122"/>
                <a:cs typeface="Trebuchet MS" pitchFamily="34" charset="-120"/>
              </a:rPr>
              <a:t>03</a:t>
            </a:r>
            <a:endParaRPr lang="en-US" sz="8400" dirty="0"/>
          </a:p>
        </p:txBody>
      </p:sp>
      <p:sp>
        <p:nvSpPr>
          <p:cNvPr id="5" name="Text 3"/>
          <p:cNvSpPr/>
          <p:nvPr/>
        </p:nvSpPr>
        <p:spPr>
          <a:xfrm>
            <a:off x="566928" y="2788920"/>
            <a:ext cx="7498080" cy="274320"/>
          </a:xfrm>
          <a:prstGeom prst="rect">
            <a:avLst/>
          </a:prstGeom>
          <a:noFill/>
          <a:ln/>
        </p:spPr>
        <p:txBody>
          <a:bodyPr wrap="square" lIns="0" tIns="0" rIns="0" bIns="0" rtlCol="0" anchor="ctr"/>
          <a:lstStyle/>
          <a:p>
            <a:pPr indent="0" marL="0">
              <a:buNone/>
            </a:pPr>
            <a:r>
              <a:rPr lang="en-US" sz="1100" b="1" spc="180" kern="0" dirty="0">
                <a:solidFill>
                  <a:srgbClr val="BFDCC4"/>
                </a:solidFill>
                <a:latin typeface="Calibri" pitchFamily="34" charset="0"/>
                <a:ea typeface="Calibri" pitchFamily="34" charset="-122"/>
                <a:cs typeface="Calibri" pitchFamily="34" charset="-120"/>
              </a:rPr>
              <a:t>KAPITEL 3 · TEAM UND KULTUR</a:t>
            </a:r>
            <a:endParaRPr lang="en-US" sz="1100" dirty="0"/>
          </a:p>
        </p:txBody>
      </p:sp>
      <p:sp>
        <p:nvSpPr>
          <p:cNvPr id="6" name="Text 4"/>
          <p:cNvSpPr/>
          <p:nvPr/>
        </p:nvSpPr>
        <p:spPr>
          <a:xfrm>
            <a:off x="566928" y="3072384"/>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Wie wir zusammenarbeiten.</a:t>
            </a:r>
            <a:endParaRPr lang="en-US" sz="3800" dirty="0"/>
          </a:p>
        </p:txBody>
      </p:sp>
      <p:sp>
        <p:nvSpPr>
          <p:cNvPr id="7" name="Text 5"/>
          <p:cNvSpPr/>
          <p:nvPr/>
        </p:nvSpPr>
        <p:spPr>
          <a:xfrm>
            <a:off x="612648" y="4114800"/>
            <a:ext cx="7315200" cy="13716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Code of Conduct: erster Entwurf liegt vor</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Personelles und Vertretungen</a:t>
            </a:r>
            <a:endParaRPr lang="en-US" sz="1400" dirty="0"/>
          </a:p>
          <a:p>
            <a:pPr marL="342900" indent="-342900">
              <a:spcAft>
                <a:spcPts val="600"/>
              </a:spcAft>
              <a:buSzPct val="100000"/>
              <a:buChar char="•"/>
            </a:pPr>
            <a:r>
              <a:rPr lang="en-US" sz="1400" dirty="0">
                <a:solidFill>
                  <a:srgbClr val="C9D2CA"/>
                </a:solidFill>
                <a:latin typeface="Calibri" pitchFamily="34" charset="0"/>
                <a:ea typeface="Calibri" pitchFamily="34" charset="-122"/>
                <a:cs typeface="Calibri" pitchFamily="34" charset="-120"/>
              </a:rPr>
              <a:t>Termine bis September</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BETEILIGUNG</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Unser Code of Conduct - erster Entwurf</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Erarbeitet von der AG Demokratie &amp; Gleichstellung im Betrieb. Stand: August 2026, ausdrücklich ein Arbeitsstand.</a:t>
            </a:r>
            <a:endParaRPr lang="en-US" sz="1400" dirty="0"/>
          </a:p>
        </p:txBody>
      </p:sp>
      <p:sp>
        <p:nvSpPr>
          <p:cNvPr id="5" name="Shape 3"/>
          <p:cNvSpPr/>
          <p:nvPr/>
        </p:nvSpPr>
        <p:spPr>
          <a:xfrm>
            <a:off x="566928" y="1847088"/>
            <a:ext cx="6190854" cy="2331720"/>
          </a:xfrm>
          <a:prstGeom prst="roundRect">
            <a:avLst>
              <a:gd name="adj" fmla="val 3529"/>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2029968"/>
            <a:ext cx="4572000"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Worum es geht</a:t>
            </a:r>
            <a:endParaRPr lang="en-US" sz="1700" dirty="0"/>
          </a:p>
        </p:txBody>
      </p:sp>
      <p:sp>
        <p:nvSpPr>
          <p:cNvPr id="7" name="Text 5"/>
          <p:cNvSpPr/>
          <p:nvPr/>
        </p:nvSpPr>
        <p:spPr>
          <a:xfrm>
            <a:off x="896112" y="2414016"/>
            <a:ext cx="5532486" cy="1572768"/>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Bei WERK.E arbeiten viele Menschen mit sehr unterschiedlichen Aufgaben zusammen - von der Sanierung bis zur Verwaltung.</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Der Kodex hält fest, wie wir miteinander umgehen wollen. Kein Regelwerk von oben, sondern eine gemeinsame Verständigung.</a:t>
            </a:r>
            <a:endParaRPr lang="en-US" sz="1200" dirty="0"/>
          </a:p>
          <a:p>
            <a:pPr marL="342900" indent="-342900">
              <a:spcAft>
                <a:spcPts val="900"/>
              </a:spcAft>
              <a:buSzPct val="100000"/>
              <a:buChar char="•"/>
            </a:pPr>
            <a:r>
              <a:rPr lang="en-US" sz="1200" dirty="0">
                <a:solidFill>
                  <a:srgbClr val="1A1819"/>
                </a:solidFill>
                <a:latin typeface="Calibri" pitchFamily="34" charset="0"/>
                <a:ea typeface="Calibri" pitchFamily="34" charset="-122"/>
                <a:cs typeface="Calibri" pitchFamily="34" charset="-120"/>
              </a:rPr>
              <a:t>Es gibt bereits eine gestaltete Fassung als PDF - die schicke ich mit dem Protokoll rum.</a:t>
            </a:r>
            <a:endParaRPr lang="en-US" sz="1200" dirty="0"/>
          </a:p>
        </p:txBody>
      </p:sp>
      <p:sp>
        <p:nvSpPr>
          <p:cNvPr id="8" name="Shape 6"/>
          <p:cNvSpPr/>
          <p:nvPr/>
        </p:nvSpPr>
        <p:spPr>
          <a:xfrm>
            <a:off x="7089435" y="1847088"/>
            <a:ext cx="4532589" cy="2331720"/>
          </a:xfrm>
          <a:prstGeom prst="roundRect">
            <a:avLst>
              <a:gd name="adj" fmla="val 3529"/>
            </a:avLst>
          </a:prstGeom>
          <a:solidFill>
            <a:srgbClr val="EDF5EE"/>
          </a:solidFill>
          <a:ln/>
        </p:spPr>
      </p:sp>
      <p:sp>
        <p:nvSpPr>
          <p:cNvPr id="9" name="Text 7"/>
          <p:cNvSpPr/>
          <p:nvPr/>
        </p:nvSpPr>
        <p:spPr>
          <a:xfrm>
            <a:off x="7363755" y="2029968"/>
            <a:ext cx="3983949" cy="310896"/>
          </a:xfrm>
          <a:prstGeom prst="rect">
            <a:avLst/>
          </a:prstGeom>
          <a:noFill/>
          <a:ln/>
        </p:spPr>
        <p:txBody>
          <a:bodyPr wrap="square" lIns="0" tIns="0" rIns="0" bIns="0" rtlCol="0" anchor="ctr"/>
          <a:lstStyle/>
          <a:p>
            <a:pPr indent="0" marL="0">
              <a:buNone/>
            </a:pPr>
            <a:r>
              <a:rPr lang="en-US" sz="1700" b="1" dirty="0">
                <a:solidFill>
                  <a:srgbClr val="2E7D3A"/>
                </a:solidFill>
                <a:latin typeface="Trebuchet MS" pitchFamily="34" charset="0"/>
                <a:ea typeface="Trebuchet MS" pitchFamily="34" charset="-122"/>
                <a:cs typeface="Trebuchet MS" pitchFamily="34" charset="-120"/>
              </a:rPr>
              <a:t>Wer daran arbeitet</a:t>
            </a:r>
            <a:endParaRPr lang="en-US" sz="1700" dirty="0"/>
          </a:p>
        </p:txBody>
      </p:sp>
      <p:sp>
        <p:nvSpPr>
          <p:cNvPr id="10" name="Text 8"/>
          <p:cNvSpPr/>
          <p:nvPr/>
        </p:nvSpPr>
        <p:spPr>
          <a:xfrm>
            <a:off x="7363755" y="2414016"/>
            <a:ext cx="3983949" cy="329184"/>
          </a:xfrm>
          <a:prstGeom prst="rect">
            <a:avLst/>
          </a:prstGeom>
          <a:noFill/>
          <a:ln/>
        </p:spPr>
        <p:txBody>
          <a:bodyPr wrap="square" lIns="0" tIns="0" rIns="0" bIns="0" rtlCol="0" anchor="ctr"/>
          <a:lstStyle/>
          <a:p>
            <a:pPr indent="0" marL="0">
              <a:buNone/>
            </a:pPr>
            <a:r>
              <a:rPr lang="en-US" sz="1300" b="1" dirty="0">
                <a:solidFill>
                  <a:srgbClr val="1A1819"/>
                </a:solidFill>
                <a:latin typeface="Calibri" pitchFamily="34" charset="0"/>
                <a:ea typeface="Calibri" pitchFamily="34" charset="-122"/>
                <a:cs typeface="Calibri" pitchFamily="34" charset="-120"/>
              </a:rPr>
              <a:t>Larissa · Alina · Marike · Lisa · Birgitta</a:t>
            </a:r>
            <a:endParaRPr lang="en-US" sz="1300" dirty="0"/>
          </a:p>
        </p:txBody>
      </p:sp>
      <p:sp>
        <p:nvSpPr>
          <p:cNvPr id="11" name="Text 9"/>
          <p:cNvSpPr/>
          <p:nvPr/>
        </p:nvSpPr>
        <p:spPr>
          <a:xfrm>
            <a:off x="7363755" y="2779776"/>
            <a:ext cx="3983949" cy="548640"/>
          </a:xfrm>
          <a:prstGeom prst="rect">
            <a:avLst/>
          </a:prstGeom>
          <a:noFill/>
          <a:ln/>
        </p:spPr>
        <p:txBody>
          <a:bodyPr wrap="square" lIns="0" tIns="0" rIns="0" bIns="0" rtlCol="0" anchor="t"/>
          <a:lstStyle/>
          <a:p>
            <a:pPr indent="0" marL="0">
              <a:lnSpc>
                <a:spcPts val="1500"/>
              </a:lnSpc>
              <a:buNone/>
            </a:pPr>
            <a:r>
              <a:rPr lang="en-US" sz="1150" dirty="0">
                <a:solidFill>
                  <a:srgbClr val="5B685D"/>
                </a:solidFill>
                <a:latin typeface="Calibri" pitchFamily="34" charset="0"/>
                <a:ea typeface="Calibri" pitchFamily="34" charset="-122"/>
                <a:cs typeface="Calibri" pitchFamily="34" charset="-120"/>
              </a:rPr>
              <a:t>Unterstützung zugesagt haben Steffi und Annika. Neele wird nach ihrem Urlaub gefragt.</a:t>
            </a:r>
            <a:endParaRPr lang="en-US" sz="1150" dirty="0"/>
          </a:p>
        </p:txBody>
      </p:sp>
      <p:sp>
        <p:nvSpPr>
          <p:cNvPr id="12" name="Text 10"/>
          <p:cNvSpPr/>
          <p:nvPr/>
        </p:nvSpPr>
        <p:spPr>
          <a:xfrm>
            <a:off x="7363755" y="3401568"/>
            <a:ext cx="3983949" cy="548640"/>
          </a:xfrm>
          <a:prstGeom prst="rect">
            <a:avLst/>
          </a:prstGeom>
          <a:noFill/>
          <a:ln/>
        </p:spPr>
        <p:txBody>
          <a:bodyPr wrap="square" lIns="0" tIns="0" rIns="0" bIns="0" rtlCol="0" anchor="t"/>
          <a:lstStyle/>
          <a:p>
            <a:pPr indent="0" marL="0">
              <a:lnSpc>
                <a:spcPts val="1500"/>
              </a:lnSpc>
              <a:buNone/>
            </a:pPr>
            <a:r>
              <a:rPr lang="en-US" sz="1150" b="1" dirty="0">
                <a:solidFill>
                  <a:srgbClr val="2E7D3A"/>
                </a:solidFill>
                <a:latin typeface="Calibri" pitchFamily="34" charset="0"/>
                <a:ea typeface="Calibri" pitchFamily="34" charset="-122"/>
                <a:cs typeface="Calibri" pitchFamily="34" charset="-120"/>
              </a:rPr>
              <a:t>Wer noch mitarbeiten möchte, ist herzlich eingeladen - sprecht Larissa an.</a:t>
            </a:r>
            <a:endParaRPr lang="en-US" sz="1150" dirty="0"/>
          </a:p>
        </p:txBody>
      </p:sp>
      <p:sp>
        <p:nvSpPr>
          <p:cNvPr id="13" name="Shape 11"/>
          <p:cNvSpPr/>
          <p:nvPr/>
        </p:nvSpPr>
        <p:spPr>
          <a:xfrm>
            <a:off x="566928" y="4407408"/>
            <a:ext cx="11055096" cy="1298448"/>
          </a:xfrm>
          <a:prstGeom prst="roundRect">
            <a:avLst>
              <a:gd name="adj" fmla="val 6338"/>
            </a:avLst>
          </a:prstGeom>
          <a:solidFill>
            <a:srgbClr val="1A1819"/>
          </a:solidFill>
          <a:ln/>
        </p:spPr>
      </p:sp>
      <p:sp>
        <p:nvSpPr>
          <p:cNvPr id="14" name="Text 12"/>
          <p:cNvSpPr/>
          <p:nvPr/>
        </p:nvSpPr>
        <p:spPr>
          <a:xfrm>
            <a:off x="859536" y="4535424"/>
            <a:ext cx="10469880" cy="292608"/>
          </a:xfrm>
          <a:prstGeom prst="rect">
            <a:avLst/>
          </a:prstGeom>
          <a:noFill/>
          <a:ln/>
        </p:spPr>
        <p:txBody>
          <a:bodyPr wrap="square" lIns="0" tIns="0" rIns="0" bIns="0" rtlCol="0" anchor="ctr"/>
          <a:lstStyle/>
          <a:p>
            <a:pPr indent="0" marL="0">
              <a:buNone/>
            </a:pPr>
            <a:r>
              <a:rPr lang="en-US" sz="1600" b="1" dirty="0">
                <a:solidFill>
                  <a:srgbClr val="58B264"/>
                </a:solidFill>
                <a:latin typeface="Trebuchet MS" pitchFamily="34" charset="0"/>
                <a:ea typeface="Trebuchet MS" pitchFamily="34" charset="-122"/>
                <a:cs typeface="Trebuchet MS" pitchFamily="34" charset="-120"/>
              </a:rPr>
              <a:t>Was ich heute von euch brauche</a:t>
            </a:r>
            <a:endParaRPr lang="en-US" sz="1600" dirty="0"/>
          </a:p>
        </p:txBody>
      </p:sp>
      <p:sp>
        <p:nvSpPr>
          <p:cNvPr id="15" name="Text 13"/>
          <p:cNvSpPr/>
          <p:nvPr/>
        </p:nvSpPr>
        <p:spPr>
          <a:xfrm>
            <a:off x="896112" y="4864608"/>
            <a:ext cx="10396728" cy="74980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Passt die Richtung? Fehlt etwas Wesentliches?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Rückmeldungen bitte bis Ende August an Larissa - schriftlich oder im Gespräch, wie es euch lieber ist.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Ziel: eine Fassung, hinter der wir alle stehen. Kein Papier für die Schublade.</a:t>
            </a:r>
            <a:endParaRPr lang="en-US" sz="1200" dirty="0"/>
          </a:p>
        </p:txBody>
      </p:sp>
      <p:sp>
        <p:nvSpPr>
          <p:cNvPr id="17" name="Text 14"/>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WERK.E_Code_of_Conduct_Entwurf · AG Demokratie &amp; Gleichstellung, 05.08.2026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TEAM</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Personelles und Vertretungen</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Wer ist da, wer nicht, und an wen wendet ihr euch.</a:t>
            </a:r>
            <a:endParaRPr lang="en-US" sz="1400" dirty="0"/>
          </a:p>
        </p:txBody>
      </p:sp>
      <p:sp>
        <p:nvSpPr>
          <p:cNvPr id="5" name="Shape 3"/>
          <p:cNvSpPr/>
          <p:nvPr/>
        </p:nvSpPr>
        <p:spPr>
          <a:xfrm>
            <a:off x="566928" y="1828800"/>
            <a:ext cx="5372100" cy="2249424"/>
          </a:xfrm>
          <a:prstGeom prst="roundRect">
            <a:avLst>
              <a:gd name="adj" fmla="val 3659"/>
            </a:avLst>
          </a:prstGeom>
          <a:solidFill>
            <a:srgbClr val="F5F6F3"/>
          </a:solidFill>
          <a:ln/>
          <a:effectLst>
            <a:outerShdw sx="100000" sy="100000" kx="0" ky="0" algn="bl" rotWithShape="0" blurRad="127000" dist="25400" dir="5400000">
              <a:srgbClr val="000000">
                <a:alpha val="7000"/>
              </a:srgbClr>
            </a:outerShdw>
          </a:effectLst>
        </p:spPr>
      </p:sp>
      <p:sp>
        <p:nvSpPr>
          <p:cNvPr id="6" name="Text 4"/>
          <p:cNvSpPr/>
          <p:nvPr/>
        </p:nvSpPr>
        <p:spPr>
          <a:xfrm>
            <a:off x="859536" y="1993392"/>
            <a:ext cx="41148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Aus dem Team</a:t>
            </a:r>
            <a:endParaRPr lang="en-US" sz="1600" dirty="0"/>
          </a:p>
        </p:txBody>
      </p:sp>
      <p:sp>
        <p:nvSpPr>
          <p:cNvPr id="7" name="Text 5"/>
          <p:cNvSpPr/>
          <p:nvPr/>
        </p:nvSpPr>
        <p:spPr>
          <a:xfrm>
            <a:off x="896112" y="2340864"/>
            <a:ext cx="4713732" cy="1481328"/>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Katrin meldet sich zurück - in drei Monaten geht es wieder los. Wir setzen uns Ende August zusammen.</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Manuela ist bis auf Weiteres in Elternzeit, David übernimmt ihre Projekte.</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Dominik hat am 31.07. geheiratet - herzlichen Glückwunsch!</a:t>
            </a:r>
            <a:endParaRPr lang="en-US" sz="1150" dirty="0"/>
          </a:p>
          <a:p>
            <a:pPr marL="342900" indent="-342900">
              <a:spcAft>
                <a:spcPts val="700"/>
              </a:spcAft>
              <a:buSzPct val="100000"/>
              <a:buChar char="•"/>
            </a:pPr>
            <a:r>
              <a:rPr lang="en-US" sz="1150" dirty="0">
                <a:solidFill>
                  <a:srgbClr val="1A1819"/>
                </a:solidFill>
                <a:latin typeface="Calibri" pitchFamily="34" charset="0"/>
                <a:ea typeface="Calibri" pitchFamily="34" charset="-122"/>
                <a:cs typeface="Calibri" pitchFamily="34" charset="-120"/>
              </a:rPr>
              <a:t>Annika heißt jetzt Friesen, nicht mehr Giesbrecht. Bitte in Verteilern anpassen.</a:t>
            </a:r>
            <a:endParaRPr lang="en-US" sz="1150" dirty="0"/>
          </a:p>
        </p:txBody>
      </p:sp>
      <p:sp>
        <p:nvSpPr>
          <p:cNvPr id="8" name="Shape 6"/>
          <p:cNvSpPr/>
          <p:nvPr/>
        </p:nvSpPr>
        <p:spPr>
          <a:xfrm>
            <a:off x="6249924" y="1828800"/>
            <a:ext cx="5372100" cy="2249424"/>
          </a:xfrm>
          <a:prstGeom prst="roundRect">
            <a:avLst>
              <a:gd name="adj" fmla="val 3659"/>
            </a:avLst>
          </a:prstGeom>
          <a:solidFill>
            <a:srgbClr val="EDF5EE"/>
          </a:solidFill>
          <a:ln/>
        </p:spPr>
      </p:sp>
      <p:sp>
        <p:nvSpPr>
          <p:cNvPr id="9" name="Text 7"/>
          <p:cNvSpPr/>
          <p:nvPr/>
        </p:nvSpPr>
        <p:spPr>
          <a:xfrm>
            <a:off x="6542532" y="1975104"/>
            <a:ext cx="4114800" cy="292608"/>
          </a:xfrm>
          <a:prstGeom prst="rect">
            <a:avLst/>
          </a:prstGeom>
          <a:noFill/>
          <a:ln/>
        </p:spPr>
        <p:txBody>
          <a:bodyPr wrap="square" lIns="0" tIns="0" rIns="0" bIns="0" rtlCol="0" anchor="ctr"/>
          <a:lstStyle/>
          <a:p>
            <a:pPr indent="0" marL="0">
              <a:buNone/>
            </a:pPr>
            <a:r>
              <a:rPr lang="en-US" sz="1600" b="1" dirty="0">
                <a:solidFill>
                  <a:srgbClr val="2E7D3A"/>
                </a:solidFill>
                <a:latin typeface="Trebuchet MS" pitchFamily="34" charset="0"/>
                <a:ea typeface="Trebuchet MS" pitchFamily="34" charset="-122"/>
                <a:cs typeface="Trebuchet MS" pitchFamily="34" charset="-120"/>
              </a:rPr>
              <a:t>Urlaube und Vertretung</a:t>
            </a:r>
            <a:endParaRPr lang="en-US" sz="1600" dirty="0"/>
          </a:p>
        </p:txBody>
      </p:sp>
      <p:sp>
        <p:nvSpPr>
          <p:cNvPr id="10" name="Text 8"/>
          <p:cNvSpPr/>
          <p:nvPr/>
        </p:nvSpPr>
        <p:spPr>
          <a:xfrm>
            <a:off x="6579108" y="2304288"/>
            <a:ext cx="4713732" cy="402336"/>
          </a:xfrm>
          <a:prstGeom prst="rect">
            <a:avLst/>
          </a:prstGeom>
          <a:noFill/>
          <a:ln/>
        </p:spPr>
        <p:txBody>
          <a:bodyPr wrap="square" lIns="0" tIns="0" rIns="0" bIns="0" rtlCol="0" anchor="t"/>
          <a:lstStyle/>
          <a:p>
            <a:pPr indent="0" marL="0">
              <a:lnSpc>
                <a:spcPts val="1400"/>
              </a:lnSpc>
              <a:buNone/>
            </a:pPr>
            <a:r>
              <a:rPr lang="en-US" sz="1100" dirty="0">
                <a:solidFill>
                  <a:srgbClr val="1A1819"/>
                </a:solidFill>
                <a:latin typeface="Calibri" pitchFamily="34" charset="0"/>
                <a:ea typeface="Calibri" pitchFamily="34" charset="-122"/>
                <a:cs typeface="Calibri" pitchFamily="34" charset="-120"/>
              </a:rPr>
              <a:t>Melissa ist bis 24.08. im Urlaub. Ihre Vertretung ist vorbildlich geregelt:</a:t>
            </a:r>
            <a:endParaRPr lang="en-US" sz="1100" dirty="0"/>
          </a:p>
        </p:txBody>
      </p:sp>
      <p:sp>
        <p:nvSpPr>
          <p:cNvPr id="11" name="Text 9"/>
          <p:cNvSpPr/>
          <p:nvPr/>
        </p:nvSpPr>
        <p:spPr>
          <a:xfrm>
            <a:off x="6615684" y="2761488"/>
            <a:ext cx="2011680" cy="246888"/>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info@</a:t>
            </a:r>
            <a:endParaRPr lang="en-US" sz="1150" dirty="0"/>
          </a:p>
        </p:txBody>
      </p:sp>
      <p:sp>
        <p:nvSpPr>
          <p:cNvPr id="12" name="Text 10"/>
          <p:cNvSpPr/>
          <p:nvPr/>
        </p:nvSpPr>
        <p:spPr>
          <a:xfrm>
            <a:off x="8673084" y="2761488"/>
            <a:ext cx="1828800" cy="246888"/>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Biggi</a:t>
            </a:r>
            <a:endParaRPr lang="en-US" sz="1150" dirty="0"/>
          </a:p>
        </p:txBody>
      </p:sp>
      <p:sp>
        <p:nvSpPr>
          <p:cNvPr id="13" name="Text 11"/>
          <p:cNvSpPr/>
          <p:nvPr/>
        </p:nvSpPr>
        <p:spPr>
          <a:xfrm>
            <a:off x="6615684" y="3026664"/>
            <a:ext cx="2011680" cy="246888"/>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Anträge</a:t>
            </a:r>
            <a:endParaRPr lang="en-US" sz="1150" dirty="0"/>
          </a:p>
        </p:txBody>
      </p:sp>
      <p:sp>
        <p:nvSpPr>
          <p:cNvPr id="14" name="Text 12"/>
          <p:cNvSpPr/>
          <p:nvPr/>
        </p:nvSpPr>
        <p:spPr>
          <a:xfrm>
            <a:off x="8673084" y="3026664"/>
            <a:ext cx="1828800" cy="246888"/>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Lisa</a:t>
            </a:r>
            <a:endParaRPr lang="en-US" sz="1150" dirty="0"/>
          </a:p>
        </p:txBody>
      </p:sp>
      <p:sp>
        <p:nvSpPr>
          <p:cNvPr id="15" name="Text 13"/>
          <p:cNvSpPr/>
          <p:nvPr/>
        </p:nvSpPr>
        <p:spPr>
          <a:xfrm>
            <a:off x="6615684" y="3291840"/>
            <a:ext cx="2011680" cy="246888"/>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Rückfragen</a:t>
            </a:r>
            <a:endParaRPr lang="en-US" sz="1150" dirty="0"/>
          </a:p>
        </p:txBody>
      </p:sp>
      <p:sp>
        <p:nvSpPr>
          <p:cNvPr id="16" name="Text 14"/>
          <p:cNvSpPr/>
          <p:nvPr/>
        </p:nvSpPr>
        <p:spPr>
          <a:xfrm>
            <a:off x="8673084" y="3291840"/>
            <a:ext cx="1828800" cy="246888"/>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Alina</a:t>
            </a:r>
            <a:endParaRPr lang="en-US" sz="1150" dirty="0"/>
          </a:p>
        </p:txBody>
      </p:sp>
      <p:sp>
        <p:nvSpPr>
          <p:cNvPr id="17" name="Text 15"/>
          <p:cNvSpPr/>
          <p:nvPr/>
        </p:nvSpPr>
        <p:spPr>
          <a:xfrm>
            <a:off x="6615684" y="3557016"/>
            <a:ext cx="2011680" cy="246888"/>
          </a:xfrm>
          <a:prstGeom prst="rect">
            <a:avLst/>
          </a:prstGeom>
          <a:noFill/>
          <a:ln/>
        </p:spPr>
        <p:txBody>
          <a:bodyPr wrap="square" lIns="0" tIns="0" rIns="0" bIns="0" rtlCol="0" anchor="ctr"/>
          <a:lstStyle/>
          <a:p>
            <a:pPr indent="0" marL="0">
              <a:buNone/>
            </a:pPr>
            <a:r>
              <a:rPr lang="en-US" sz="1150" dirty="0">
                <a:solidFill>
                  <a:srgbClr val="5B685D"/>
                </a:solidFill>
                <a:latin typeface="Calibri" pitchFamily="34" charset="0"/>
                <a:ea typeface="Calibri" pitchFamily="34" charset="-122"/>
                <a:cs typeface="Calibri" pitchFamily="34" charset="-120"/>
              </a:rPr>
              <a:t>Drucken / Versand</a:t>
            </a:r>
            <a:endParaRPr lang="en-US" sz="1150" dirty="0"/>
          </a:p>
        </p:txBody>
      </p:sp>
      <p:sp>
        <p:nvSpPr>
          <p:cNvPr id="18" name="Text 16"/>
          <p:cNvSpPr/>
          <p:nvPr/>
        </p:nvSpPr>
        <p:spPr>
          <a:xfrm>
            <a:off x="8673084" y="3557016"/>
            <a:ext cx="1828800" cy="246888"/>
          </a:xfrm>
          <a:prstGeom prst="rect">
            <a:avLst/>
          </a:prstGeom>
          <a:noFill/>
          <a:ln/>
        </p:spPr>
        <p:txBody>
          <a:bodyPr wrap="square" lIns="0" tIns="0" rIns="0" bIns="0" rtlCol="0" anchor="ctr"/>
          <a:lstStyle/>
          <a:p>
            <a:pPr indent="0" marL="0">
              <a:buNone/>
            </a:pPr>
            <a:r>
              <a:rPr lang="en-US" sz="1150" b="1" dirty="0">
                <a:solidFill>
                  <a:srgbClr val="2E7D3A"/>
                </a:solidFill>
                <a:latin typeface="Calibri" pitchFamily="34" charset="0"/>
                <a:ea typeface="Calibri" pitchFamily="34" charset="-122"/>
                <a:cs typeface="Calibri" pitchFamily="34" charset="-120"/>
              </a:rPr>
              <a:t>Alina</a:t>
            </a:r>
            <a:endParaRPr lang="en-US" sz="1150" dirty="0"/>
          </a:p>
        </p:txBody>
      </p:sp>
      <p:sp>
        <p:nvSpPr>
          <p:cNvPr id="19" name="Text 17"/>
          <p:cNvSpPr/>
          <p:nvPr/>
        </p:nvSpPr>
        <p:spPr>
          <a:xfrm>
            <a:off x="6579108" y="3803904"/>
            <a:ext cx="4713732" cy="237744"/>
          </a:xfrm>
          <a:prstGeom prst="rect">
            <a:avLst/>
          </a:prstGeom>
          <a:noFill/>
          <a:ln/>
        </p:spPr>
        <p:txBody>
          <a:bodyPr wrap="square" lIns="0" tIns="0" rIns="0" bIns="0" rtlCol="0" anchor="ctr"/>
          <a:lstStyle/>
          <a:p>
            <a:pPr indent="0" marL="0">
              <a:buNone/>
            </a:pPr>
            <a:r>
              <a:rPr lang="en-US" sz="1050" i="1" dirty="0">
                <a:solidFill>
                  <a:srgbClr val="5B685D"/>
                </a:solidFill>
                <a:latin typeface="Calibri" pitchFamily="34" charset="0"/>
                <a:ea typeface="Calibri" pitchFamily="34" charset="-122"/>
                <a:cs typeface="Calibri" pitchFamily="34" charset="-120"/>
              </a:rPr>
              <a:t>Christin ist morgen im Urlaub, Neele ebenfalls unterwegs.</a:t>
            </a:r>
            <a:endParaRPr lang="en-US" sz="1050" dirty="0"/>
          </a:p>
        </p:txBody>
      </p:sp>
      <p:sp>
        <p:nvSpPr>
          <p:cNvPr id="20" name="Shape 18"/>
          <p:cNvSpPr/>
          <p:nvPr/>
        </p:nvSpPr>
        <p:spPr>
          <a:xfrm>
            <a:off x="566928" y="4297680"/>
            <a:ext cx="11055096" cy="960120"/>
          </a:xfrm>
          <a:prstGeom prst="roundRect">
            <a:avLst>
              <a:gd name="adj" fmla="val 8571"/>
            </a:avLst>
          </a:prstGeom>
          <a:solidFill>
            <a:srgbClr val="1A1819"/>
          </a:solidFill>
          <a:ln/>
        </p:spPr>
      </p:sp>
      <p:sp>
        <p:nvSpPr>
          <p:cNvPr id="21" name="Text 19"/>
          <p:cNvSpPr/>
          <p:nvPr/>
        </p:nvSpPr>
        <p:spPr>
          <a:xfrm>
            <a:off x="859536" y="4407408"/>
            <a:ext cx="10469880" cy="274320"/>
          </a:xfrm>
          <a:prstGeom prst="rect">
            <a:avLst/>
          </a:prstGeom>
          <a:noFill/>
          <a:ln/>
        </p:spPr>
        <p:txBody>
          <a:bodyPr wrap="square" lIns="0" tIns="0" rIns="0" bIns="0" rtlCol="0" anchor="ctr"/>
          <a:lstStyle/>
          <a:p>
            <a:pPr indent="0" marL="0">
              <a:buNone/>
            </a:pPr>
            <a:r>
              <a:rPr lang="en-US" sz="1500" b="1" dirty="0">
                <a:solidFill>
                  <a:srgbClr val="58B264"/>
                </a:solidFill>
                <a:latin typeface="Trebuchet MS" pitchFamily="34" charset="0"/>
                <a:ea typeface="Trebuchet MS" pitchFamily="34" charset="-122"/>
                <a:cs typeface="Trebuchet MS" pitchFamily="34" charset="-120"/>
              </a:rPr>
              <a:t>Das machen wir ab jetzt alle so</a:t>
            </a:r>
            <a:endParaRPr lang="en-US" sz="1500" dirty="0"/>
          </a:p>
        </p:txBody>
      </p:sp>
      <p:sp>
        <p:nvSpPr>
          <p:cNvPr id="22" name="Text 20"/>
          <p:cNvSpPr/>
          <p:nvPr/>
        </p:nvSpPr>
        <p:spPr>
          <a:xfrm>
            <a:off x="859536" y="4681728"/>
            <a:ext cx="10469880" cy="457200"/>
          </a:xfrm>
          <a:prstGeom prst="rect">
            <a:avLst/>
          </a:prstGeom>
          <a:noFill/>
          <a:ln/>
        </p:spPr>
        <p:txBody>
          <a:bodyPr wrap="square" lIns="0" tIns="0" rIns="0" bIns="0" rtlCol="0" anchor="t"/>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Vor jedem längeren Urlaub eine kurze Nachricht in den WERK.E-Chat: Zeitraum, und wer welchen Bereich übernimmt. Melissas Nachricht vom Donnerstag ist die Vorlage - so weiß jeder sofort, an wen er sich wendet.</a:t>
            </a:r>
            <a:endParaRPr lang="en-US" sz="1200" dirty="0"/>
          </a:p>
        </p:txBody>
      </p:sp>
      <p:sp>
        <p:nvSpPr>
          <p:cNvPr id="23" name="Shape 21"/>
          <p:cNvSpPr/>
          <p:nvPr/>
        </p:nvSpPr>
        <p:spPr>
          <a:xfrm>
            <a:off x="566928" y="5468112"/>
            <a:ext cx="11055096" cy="658368"/>
          </a:xfrm>
          <a:prstGeom prst="roundRect">
            <a:avLst>
              <a:gd name="adj" fmla="val 12500"/>
            </a:avLst>
          </a:prstGeom>
          <a:solidFill>
            <a:srgbClr val="EDF5EE"/>
          </a:solidFill>
          <a:ln/>
        </p:spPr>
      </p:sp>
      <p:sp>
        <p:nvSpPr>
          <p:cNvPr id="24" name="Text 22"/>
          <p:cNvSpPr/>
          <p:nvPr/>
        </p:nvSpPr>
        <p:spPr>
          <a:xfrm>
            <a:off x="841248" y="5394960"/>
            <a:ext cx="10506456" cy="658368"/>
          </a:xfrm>
          <a:prstGeom prst="rect">
            <a:avLst/>
          </a:prstGeom>
          <a:noFill/>
          <a:ln/>
        </p:spPr>
        <p:txBody>
          <a:bodyPr wrap="square" lIns="0" tIns="0" rIns="0" bIns="0" rtlCol="0" anchor="ctr"/>
          <a:lstStyle/>
          <a:p>
            <a:pPr indent="0" marL="0">
              <a:buNone/>
            </a:pPr>
            <a:r>
              <a:rPr lang="en-US" sz="1200" b="1" dirty="0">
                <a:solidFill>
                  <a:srgbClr val="2E7D3A"/>
                </a:solidFill>
                <a:latin typeface="Calibri" pitchFamily="34" charset="0"/>
                <a:ea typeface="Calibri" pitchFamily="34" charset="-122"/>
                <a:cs typeface="Calibri" pitchFamily="34" charset="-120"/>
              </a:rPr>
              <a:t>Rückblick Libori:  </a:t>
            </a:r>
            <a:pPr indent="0" marL="0">
              <a:buNone/>
            </a:pPr>
            <a:r>
              <a:rPr lang="en-US" sz="1200" dirty="0">
                <a:solidFill>
                  <a:srgbClr val="1A1819"/>
                </a:solidFill>
                <a:latin typeface="Calibri" pitchFamily="34" charset="0"/>
                <a:ea typeface="Calibri" pitchFamily="34" charset="-122"/>
                <a:cs typeface="Calibri" pitchFamily="34" charset="-120"/>
              </a:rPr>
              <a:t>Danke an alle, die am 30.07. dabei waren - Autoscooter inklusive. Die Abrechnung liegt bei rund 1.750 €, das war es wert. Nächster Termin: WERK.E Frühstück wieder jeden Freitag.</a:t>
            </a:r>
            <a:endParaRPr lang="en-US" sz="1200" dirty="0"/>
          </a:p>
        </p:txBody>
      </p:sp>
      <p:sp>
        <p:nvSpPr>
          <p:cNvPr id="26" name="Text 23"/>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Teams-Chats + Kalender 16.07. bis 06.08.2026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2E7D3A"/>
                </a:solidFill>
                <a:latin typeface="Calibri" pitchFamily="34" charset="0"/>
                <a:ea typeface="Calibri" pitchFamily="34" charset="-122"/>
                <a:cs typeface="Calibri" pitchFamily="34" charset="-120"/>
              </a:rPr>
              <a:t>KAPITEL 3 · AUSBLICK</a:t>
            </a:r>
            <a:endParaRPr lang="en-US" sz="1100" dirty="0"/>
          </a:p>
        </p:txBody>
      </p:sp>
      <p:sp>
        <p:nvSpPr>
          <p:cNvPr id="3" name="Text 1"/>
          <p:cNvSpPr/>
          <p:nvPr/>
        </p:nvSpPr>
        <p:spPr>
          <a:xfrm>
            <a:off x="566928" y="621792"/>
            <a:ext cx="11055096" cy="658368"/>
          </a:xfrm>
          <a:prstGeom prst="rect">
            <a:avLst/>
          </a:prstGeom>
          <a:noFill/>
          <a:ln/>
        </p:spPr>
        <p:txBody>
          <a:bodyPr wrap="square" lIns="0" tIns="0" rIns="0" bIns="0" rtlCol="0" anchor="ctr"/>
          <a:lstStyle/>
          <a:p>
            <a:pPr indent="0" marL="0">
              <a:buNone/>
            </a:pPr>
            <a:r>
              <a:rPr lang="en-US" sz="3200" b="1" dirty="0">
                <a:solidFill>
                  <a:srgbClr val="1A1819"/>
                </a:solidFill>
                <a:latin typeface="Trebuchet MS" pitchFamily="34" charset="0"/>
                <a:ea typeface="Trebuchet MS" pitchFamily="34" charset="-122"/>
                <a:cs typeface="Trebuchet MS" pitchFamily="34" charset="-120"/>
              </a:rPr>
              <a:t>Was bis September ansteht</a:t>
            </a:r>
            <a:endParaRPr lang="en-US" sz="3200" dirty="0"/>
          </a:p>
        </p:txBody>
      </p:sp>
      <p:sp>
        <p:nvSpPr>
          <p:cNvPr id="4" name="Text 2"/>
          <p:cNvSpPr/>
          <p:nvPr/>
        </p:nvSpPr>
        <p:spPr>
          <a:xfrm>
            <a:off x="566928" y="1280160"/>
            <a:ext cx="11055096" cy="310896"/>
          </a:xfrm>
          <a:prstGeom prst="rect">
            <a:avLst/>
          </a:prstGeom>
          <a:noFill/>
          <a:ln/>
        </p:spPr>
        <p:txBody>
          <a:bodyPr wrap="square" lIns="0" tIns="0" rIns="0" bIns="0" rtlCol="0" anchor="ctr"/>
          <a:lstStyle/>
          <a:p>
            <a:pPr indent="0" marL="0">
              <a:buNone/>
            </a:pPr>
            <a:r>
              <a:rPr lang="en-US" sz="1400" dirty="0">
                <a:solidFill>
                  <a:srgbClr val="5B685D"/>
                </a:solidFill>
                <a:latin typeface="Calibri" pitchFamily="34" charset="0"/>
                <a:ea typeface="Calibri" pitchFamily="34" charset="-122"/>
                <a:cs typeface="Calibri" pitchFamily="34" charset="-120"/>
              </a:rPr>
              <a:t>Termine, Zusagen und offene Aufgaben.</a:t>
            </a:r>
            <a:endParaRPr lang="en-US" sz="1400" dirty="0"/>
          </a:p>
        </p:txBody>
      </p:sp>
      <p:sp>
        <p:nvSpPr>
          <p:cNvPr id="5" name="Shape 3"/>
          <p:cNvSpPr/>
          <p:nvPr/>
        </p:nvSpPr>
        <p:spPr>
          <a:xfrm>
            <a:off x="566928" y="1847088"/>
            <a:ext cx="6964710" cy="603504"/>
          </a:xfrm>
          <a:prstGeom prst="roundRect">
            <a:avLst>
              <a:gd name="adj" fmla="val 9091"/>
            </a:avLst>
          </a:prstGeom>
          <a:solidFill>
            <a:srgbClr val="F5F6F3"/>
          </a:solidFill>
          <a:ln/>
        </p:spPr>
      </p:sp>
      <p:sp>
        <p:nvSpPr>
          <p:cNvPr id="6" name="Shape 4"/>
          <p:cNvSpPr/>
          <p:nvPr/>
        </p:nvSpPr>
        <p:spPr>
          <a:xfrm>
            <a:off x="804672" y="2029968"/>
            <a:ext cx="237744" cy="237744"/>
          </a:xfrm>
          <a:prstGeom prst="ellipse">
            <a:avLst/>
          </a:prstGeom>
          <a:solidFill>
            <a:srgbClr val="2E7D3A"/>
          </a:solidFill>
          <a:ln/>
        </p:spPr>
      </p:sp>
      <p:sp>
        <p:nvSpPr>
          <p:cNvPr id="7" name="Text 5"/>
          <p:cNvSpPr/>
          <p:nvPr/>
        </p:nvSpPr>
        <p:spPr>
          <a:xfrm>
            <a:off x="1207008" y="1847088"/>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Bis Ende August</a:t>
            </a:r>
            <a:endParaRPr lang="en-US" sz="1150" dirty="0"/>
          </a:p>
        </p:txBody>
      </p:sp>
      <p:sp>
        <p:nvSpPr>
          <p:cNvPr id="8" name="Text 6"/>
          <p:cNvSpPr/>
          <p:nvPr/>
        </p:nvSpPr>
        <p:spPr>
          <a:xfrm>
            <a:off x="3264408" y="1847088"/>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Rückmeldungen zum Code of Conduct an Larissa</a:t>
            </a:r>
            <a:endParaRPr lang="en-US" sz="1100" dirty="0"/>
          </a:p>
        </p:txBody>
      </p:sp>
      <p:sp>
        <p:nvSpPr>
          <p:cNvPr id="9" name="Shape 7"/>
          <p:cNvSpPr/>
          <p:nvPr/>
        </p:nvSpPr>
        <p:spPr>
          <a:xfrm>
            <a:off x="566928" y="2523744"/>
            <a:ext cx="6964710" cy="603504"/>
          </a:xfrm>
          <a:prstGeom prst="roundRect">
            <a:avLst>
              <a:gd name="adj" fmla="val 9091"/>
            </a:avLst>
          </a:prstGeom>
          <a:solidFill>
            <a:srgbClr val="F5F6F3"/>
          </a:solidFill>
          <a:ln/>
        </p:spPr>
      </p:sp>
      <p:sp>
        <p:nvSpPr>
          <p:cNvPr id="10" name="Shape 8"/>
          <p:cNvSpPr/>
          <p:nvPr/>
        </p:nvSpPr>
        <p:spPr>
          <a:xfrm>
            <a:off x="804672" y="2706624"/>
            <a:ext cx="237744" cy="237744"/>
          </a:xfrm>
          <a:prstGeom prst="ellipse">
            <a:avLst/>
          </a:prstGeom>
          <a:solidFill>
            <a:srgbClr val="2E7D3A"/>
          </a:solidFill>
          <a:ln/>
        </p:spPr>
      </p:sp>
      <p:sp>
        <p:nvSpPr>
          <p:cNvPr id="11" name="Text 9"/>
          <p:cNvSpPr/>
          <p:nvPr/>
        </p:nvSpPr>
        <p:spPr>
          <a:xfrm>
            <a:off x="1207008" y="2523744"/>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Erledigt</a:t>
            </a:r>
            <a:endParaRPr lang="en-US" sz="1150" dirty="0"/>
          </a:p>
        </p:txBody>
      </p:sp>
      <p:sp>
        <p:nvSpPr>
          <p:cNvPr id="12" name="Text 10"/>
          <p:cNvSpPr/>
          <p:nvPr/>
        </p:nvSpPr>
        <p:spPr>
          <a:xfrm>
            <a:off x="3264408" y="2523744"/>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GModG- und BEG-Schulung sind durch - alle Unterlagen liegen in Teams</a:t>
            </a:r>
            <a:endParaRPr lang="en-US" sz="1100" dirty="0"/>
          </a:p>
        </p:txBody>
      </p:sp>
      <p:sp>
        <p:nvSpPr>
          <p:cNvPr id="13" name="Shape 11"/>
          <p:cNvSpPr/>
          <p:nvPr/>
        </p:nvSpPr>
        <p:spPr>
          <a:xfrm>
            <a:off x="566928" y="3200400"/>
            <a:ext cx="6964710" cy="603504"/>
          </a:xfrm>
          <a:prstGeom prst="roundRect">
            <a:avLst>
              <a:gd name="adj" fmla="val 9091"/>
            </a:avLst>
          </a:prstGeom>
          <a:solidFill>
            <a:srgbClr val="F5F6F3"/>
          </a:solidFill>
          <a:ln/>
        </p:spPr>
      </p:sp>
      <p:sp>
        <p:nvSpPr>
          <p:cNvPr id="14" name="Shape 12"/>
          <p:cNvSpPr/>
          <p:nvPr/>
        </p:nvSpPr>
        <p:spPr>
          <a:xfrm>
            <a:off x="804672" y="3383280"/>
            <a:ext cx="237744" cy="237744"/>
          </a:xfrm>
          <a:prstGeom prst="ellipse">
            <a:avLst/>
          </a:prstGeom>
          <a:solidFill>
            <a:srgbClr val="58B264"/>
          </a:solidFill>
          <a:ln/>
        </p:spPr>
      </p:sp>
      <p:sp>
        <p:nvSpPr>
          <p:cNvPr id="15" name="Text 13"/>
          <p:cNvSpPr/>
          <p:nvPr/>
        </p:nvSpPr>
        <p:spPr>
          <a:xfrm>
            <a:off x="1207008" y="3200400"/>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Laufend</a:t>
            </a:r>
            <a:endParaRPr lang="en-US" sz="1150" dirty="0"/>
          </a:p>
        </p:txBody>
      </p:sp>
      <p:sp>
        <p:nvSpPr>
          <p:cNvPr id="16" name="Text 14"/>
          <p:cNvSpPr/>
          <p:nvPr/>
        </p:nvSpPr>
        <p:spPr>
          <a:xfrm>
            <a:off x="3264408" y="3200400"/>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Bestandskunden mit Heizungen von vor 10/2009 identifizieren - Frist § 60b läuft</a:t>
            </a:r>
            <a:endParaRPr lang="en-US" sz="1100" dirty="0"/>
          </a:p>
        </p:txBody>
      </p:sp>
      <p:sp>
        <p:nvSpPr>
          <p:cNvPr id="17" name="Shape 15"/>
          <p:cNvSpPr/>
          <p:nvPr/>
        </p:nvSpPr>
        <p:spPr>
          <a:xfrm>
            <a:off x="566928" y="3877056"/>
            <a:ext cx="6964710" cy="603504"/>
          </a:xfrm>
          <a:prstGeom prst="roundRect">
            <a:avLst>
              <a:gd name="adj" fmla="val 9091"/>
            </a:avLst>
          </a:prstGeom>
          <a:solidFill>
            <a:srgbClr val="F5F6F3"/>
          </a:solidFill>
          <a:ln/>
        </p:spPr>
      </p:sp>
      <p:sp>
        <p:nvSpPr>
          <p:cNvPr id="18" name="Shape 16"/>
          <p:cNvSpPr/>
          <p:nvPr/>
        </p:nvSpPr>
        <p:spPr>
          <a:xfrm>
            <a:off x="804672" y="4059936"/>
            <a:ext cx="237744" cy="237744"/>
          </a:xfrm>
          <a:prstGeom prst="ellipse">
            <a:avLst/>
          </a:prstGeom>
          <a:solidFill>
            <a:srgbClr val="58B264"/>
          </a:solidFill>
          <a:ln/>
        </p:spPr>
      </p:sp>
      <p:sp>
        <p:nvSpPr>
          <p:cNvPr id="19" name="Text 17"/>
          <p:cNvSpPr/>
          <p:nvPr/>
        </p:nvSpPr>
        <p:spPr>
          <a:xfrm>
            <a:off x="1207008" y="3877056"/>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28.08.</a:t>
            </a:r>
            <a:endParaRPr lang="en-US" sz="1150" dirty="0"/>
          </a:p>
        </p:txBody>
      </p:sp>
      <p:sp>
        <p:nvSpPr>
          <p:cNvPr id="20" name="Text 18"/>
          <p:cNvSpPr/>
          <p:nvPr/>
        </p:nvSpPr>
        <p:spPr>
          <a:xfrm>
            <a:off x="3264408" y="3877056"/>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Gespräch mit Katrin zur Rückkehr</a:t>
            </a:r>
            <a:endParaRPr lang="en-US" sz="1100" dirty="0"/>
          </a:p>
        </p:txBody>
      </p:sp>
      <p:sp>
        <p:nvSpPr>
          <p:cNvPr id="21" name="Shape 19"/>
          <p:cNvSpPr/>
          <p:nvPr/>
        </p:nvSpPr>
        <p:spPr>
          <a:xfrm>
            <a:off x="566928" y="4553712"/>
            <a:ext cx="6964710" cy="603504"/>
          </a:xfrm>
          <a:prstGeom prst="roundRect">
            <a:avLst>
              <a:gd name="adj" fmla="val 9091"/>
            </a:avLst>
          </a:prstGeom>
          <a:solidFill>
            <a:srgbClr val="F5F6F3"/>
          </a:solidFill>
          <a:ln/>
        </p:spPr>
      </p:sp>
      <p:sp>
        <p:nvSpPr>
          <p:cNvPr id="22" name="Shape 20"/>
          <p:cNvSpPr/>
          <p:nvPr/>
        </p:nvSpPr>
        <p:spPr>
          <a:xfrm>
            <a:off x="804672" y="4736592"/>
            <a:ext cx="237744" cy="237744"/>
          </a:xfrm>
          <a:prstGeom prst="ellipse">
            <a:avLst/>
          </a:prstGeom>
          <a:solidFill>
            <a:srgbClr val="BFDCC4"/>
          </a:solidFill>
          <a:ln/>
        </p:spPr>
      </p:sp>
      <p:sp>
        <p:nvSpPr>
          <p:cNvPr id="23" name="Text 21"/>
          <p:cNvSpPr/>
          <p:nvPr/>
        </p:nvSpPr>
        <p:spPr>
          <a:xfrm>
            <a:off x="1207008" y="4553712"/>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03.09.</a:t>
            </a:r>
            <a:endParaRPr lang="en-US" sz="1150" dirty="0"/>
          </a:p>
        </p:txBody>
      </p:sp>
      <p:sp>
        <p:nvSpPr>
          <p:cNvPr id="24" name="Text 22"/>
          <p:cNvSpPr/>
          <p:nvPr/>
        </p:nvSpPr>
        <p:spPr>
          <a:xfrm>
            <a:off x="3264408" y="4553712"/>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ID. Polo Markteinführungsevent in Kassel - gemeinsam mit WERK.E Mitte, Glinicke, Audi Kassel und der Kasseler Sparkasse</a:t>
            </a:r>
            <a:endParaRPr lang="en-US" sz="1100" dirty="0"/>
          </a:p>
        </p:txBody>
      </p:sp>
      <p:sp>
        <p:nvSpPr>
          <p:cNvPr id="25" name="Shape 23"/>
          <p:cNvSpPr/>
          <p:nvPr/>
        </p:nvSpPr>
        <p:spPr>
          <a:xfrm>
            <a:off x="566928" y="5230368"/>
            <a:ext cx="6964710" cy="603504"/>
          </a:xfrm>
          <a:prstGeom prst="roundRect">
            <a:avLst>
              <a:gd name="adj" fmla="val 9091"/>
            </a:avLst>
          </a:prstGeom>
          <a:solidFill>
            <a:srgbClr val="F5F6F3"/>
          </a:solidFill>
          <a:ln/>
        </p:spPr>
      </p:sp>
      <p:sp>
        <p:nvSpPr>
          <p:cNvPr id="26" name="Shape 24"/>
          <p:cNvSpPr/>
          <p:nvPr/>
        </p:nvSpPr>
        <p:spPr>
          <a:xfrm>
            <a:off x="804672" y="5413248"/>
            <a:ext cx="237744" cy="237744"/>
          </a:xfrm>
          <a:prstGeom prst="ellipse">
            <a:avLst/>
          </a:prstGeom>
          <a:solidFill>
            <a:srgbClr val="BFDCC4"/>
          </a:solidFill>
          <a:ln/>
        </p:spPr>
      </p:sp>
      <p:sp>
        <p:nvSpPr>
          <p:cNvPr id="27" name="Text 25"/>
          <p:cNvSpPr/>
          <p:nvPr/>
        </p:nvSpPr>
        <p:spPr>
          <a:xfrm>
            <a:off x="1207008" y="5230368"/>
            <a:ext cx="2011680" cy="603504"/>
          </a:xfrm>
          <a:prstGeom prst="rect">
            <a:avLst/>
          </a:prstGeom>
          <a:noFill/>
          <a:ln/>
        </p:spPr>
        <p:txBody>
          <a:bodyPr wrap="square" lIns="0" tIns="0" rIns="0" bIns="0" rtlCol="0" anchor="ctr"/>
          <a:lstStyle/>
          <a:p>
            <a:pPr indent="0" marL="0">
              <a:buNone/>
            </a:pPr>
            <a:r>
              <a:rPr lang="en-US" sz="1150" b="1" dirty="0">
                <a:solidFill>
                  <a:srgbClr val="1A1819"/>
                </a:solidFill>
                <a:latin typeface="Calibri" pitchFamily="34" charset="0"/>
                <a:ea typeface="Calibri" pitchFamily="34" charset="-122"/>
                <a:cs typeface="Calibri" pitchFamily="34" charset="-120"/>
              </a:rPr>
              <a:t>Offen</a:t>
            </a:r>
            <a:endParaRPr lang="en-US" sz="1150" dirty="0"/>
          </a:p>
        </p:txBody>
      </p:sp>
      <p:sp>
        <p:nvSpPr>
          <p:cNvPr id="28" name="Text 26"/>
          <p:cNvSpPr/>
          <p:nvPr/>
        </p:nvSpPr>
        <p:spPr>
          <a:xfrm>
            <a:off x="3264408" y="5230368"/>
            <a:ext cx="4038630" cy="603504"/>
          </a:xfrm>
          <a:prstGeom prst="rect">
            <a:avLst/>
          </a:prstGeom>
          <a:noFill/>
          <a:ln/>
        </p:spPr>
        <p:txBody>
          <a:bodyPr wrap="square" lIns="0" tIns="0" rIns="0" bIns="0" rtlCol="0" anchor="ctr"/>
          <a:lstStyle/>
          <a:p>
            <a:pPr indent="0" marL="0">
              <a:lnSpc>
                <a:spcPts val="1400"/>
              </a:lnSpc>
              <a:buNone/>
            </a:pPr>
            <a:r>
              <a:rPr lang="en-US" sz="1100" dirty="0">
                <a:solidFill>
                  <a:srgbClr val="5B685D"/>
                </a:solidFill>
                <a:latin typeface="Calibri" pitchFamily="34" charset="0"/>
                <a:ea typeface="Calibri" pitchFamily="34" charset="-122"/>
                <a:cs typeface="Calibri" pitchFamily="34" charset="-120"/>
              </a:rPr>
              <a:t>Wer übernimmt die § 88c-Fortbildung Ökobilanz? Vorlauf für 2028 beginnt jetzt</a:t>
            </a:r>
            <a:endParaRPr lang="en-US" sz="1100" dirty="0"/>
          </a:p>
        </p:txBody>
      </p:sp>
      <p:sp>
        <p:nvSpPr>
          <p:cNvPr id="29" name="Shape 27"/>
          <p:cNvSpPr/>
          <p:nvPr/>
        </p:nvSpPr>
        <p:spPr>
          <a:xfrm>
            <a:off x="7863291" y="1847088"/>
            <a:ext cx="3758733" cy="3840480"/>
          </a:xfrm>
          <a:prstGeom prst="roundRect">
            <a:avLst>
              <a:gd name="adj" fmla="val 2189"/>
            </a:avLst>
          </a:prstGeom>
          <a:solidFill>
            <a:srgbClr val="1A1819"/>
          </a:solidFill>
          <a:ln/>
        </p:spPr>
      </p:sp>
      <p:sp>
        <p:nvSpPr>
          <p:cNvPr id="30" name="Text 28"/>
          <p:cNvSpPr/>
          <p:nvPr/>
        </p:nvSpPr>
        <p:spPr>
          <a:xfrm>
            <a:off x="8137611" y="2029968"/>
            <a:ext cx="3210093" cy="292608"/>
          </a:xfrm>
          <a:prstGeom prst="rect">
            <a:avLst/>
          </a:prstGeom>
          <a:noFill/>
          <a:ln/>
        </p:spPr>
        <p:txBody>
          <a:bodyPr wrap="square" lIns="0" tIns="0" rIns="0" bIns="0" rtlCol="0" anchor="ctr"/>
          <a:lstStyle/>
          <a:p>
            <a:pPr indent="0" marL="0">
              <a:buNone/>
            </a:pPr>
            <a:r>
              <a:rPr lang="en-US" sz="1600" b="1" dirty="0">
                <a:solidFill>
                  <a:srgbClr val="58B264"/>
                </a:solidFill>
                <a:latin typeface="Trebuchet MS" pitchFamily="34" charset="0"/>
                <a:ea typeface="Trebuchet MS" pitchFamily="34" charset="-122"/>
                <a:cs typeface="Trebuchet MS" pitchFamily="34" charset="-120"/>
              </a:rPr>
              <a:t>Feste Termine</a:t>
            </a:r>
            <a:endParaRPr lang="en-US" sz="1600" dirty="0"/>
          </a:p>
        </p:txBody>
      </p:sp>
      <p:sp>
        <p:nvSpPr>
          <p:cNvPr id="31" name="Text 29"/>
          <p:cNvSpPr/>
          <p:nvPr/>
        </p:nvSpPr>
        <p:spPr>
          <a:xfrm>
            <a:off x="8155899" y="2487168"/>
            <a:ext cx="3173517" cy="237744"/>
          </a:xfrm>
          <a:prstGeom prst="rect">
            <a:avLst/>
          </a:prstGeom>
          <a:noFill/>
          <a:ln/>
        </p:spPr>
        <p:txBody>
          <a:bodyPr wrap="square" lIns="0" tIns="0" rIns="0" bIns="0" rtlCol="0" anchor="ctr"/>
          <a:lstStyle/>
          <a:p>
            <a:pPr indent="0" marL="0">
              <a:buNone/>
            </a:pPr>
            <a:r>
              <a:rPr lang="en-US" sz="1050" dirty="0">
                <a:solidFill>
                  <a:srgbClr val="BFDCC4"/>
                </a:solidFill>
                <a:latin typeface="Calibri" pitchFamily="34" charset="0"/>
                <a:ea typeface="Calibri" pitchFamily="34" charset="-122"/>
                <a:cs typeface="Calibri" pitchFamily="34" charset="-120"/>
              </a:rPr>
              <a:t>Freitags 09:00</a:t>
            </a:r>
            <a:endParaRPr lang="en-US" sz="1050" dirty="0"/>
          </a:p>
        </p:txBody>
      </p:sp>
      <p:sp>
        <p:nvSpPr>
          <p:cNvPr id="32" name="Text 30"/>
          <p:cNvSpPr/>
          <p:nvPr/>
        </p:nvSpPr>
        <p:spPr>
          <a:xfrm>
            <a:off x="8155899" y="2697480"/>
            <a:ext cx="3173517" cy="2651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WERK.E Frühstück</a:t>
            </a:r>
            <a:endParaRPr lang="en-US" sz="1250" dirty="0"/>
          </a:p>
        </p:txBody>
      </p:sp>
      <p:sp>
        <p:nvSpPr>
          <p:cNvPr id="33" name="Text 31"/>
          <p:cNvSpPr/>
          <p:nvPr/>
        </p:nvSpPr>
        <p:spPr>
          <a:xfrm>
            <a:off x="8155899" y="3035808"/>
            <a:ext cx="3173517" cy="237744"/>
          </a:xfrm>
          <a:prstGeom prst="rect">
            <a:avLst/>
          </a:prstGeom>
          <a:noFill/>
          <a:ln/>
        </p:spPr>
        <p:txBody>
          <a:bodyPr wrap="square" lIns="0" tIns="0" rIns="0" bIns="0" rtlCol="0" anchor="ctr"/>
          <a:lstStyle/>
          <a:p>
            <a:pPr indent="0" marL="0">
              <a:buNone/>
            </a:pPr>
            <a:r>
              <a:rPr lang="en-US" sz="1050" dirty="0">
                <a:solidFill>
                  <a:srgbClr val="BFDCC4"/>
                </a:solidFill>
                <a:latin typeface="Calibri" pitchFamily="34" charset="0"/>
                <a:ea typeface="Calibri" pitchFamily="34" charset="-122"/>
                <a:cs typeface="Calibri" pitchFamily="34" charset="-120"/>
              </a:rPr>
              <a:t>Montags 10:30</a:t>
            </a:r>
            <a:endParaRPr lang="en-US" sz="1050" dirty="0"/>
          </a:p>
        </p:txBody>
      </p:sp>
      <p:sp>
        <p:nvSpPr>
          <p:cNvPr id="34" name="Text 32"/>
          <p:cNvSpPr/>
          <p:nvPr/>
        </p:nvSpPr>
        <p:spPr>
          <a:xfrm>
            <a:off x="8155899" y="3246120"/>
            <a:ext cx="3173517" cy="2651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Weekly Recap</a:t>
            </a:r>
            <a:endParaRPr lang="en-US" sz="1250" dirty="0"/>
          </a:p>
        </p:txBody>
      </p:sp>
      <p:sp>
        <p:nvSpPr>
          <p:cNvPr id="35" name="Text 33"/>
          <p:cNvSpPr/>
          <p:nvPr/>
        </p:nvSpPr>
        <p:spPr>
          <a:xfrm>
            <a:off x="8155899" y="3584448"/>
            <a:ext cx="3173517" cy="237744"/>
          </a:xfrm>
          <a:prstGeom prst="rect">
            <a:avLst/>
          </a:prstGeom>
          <a:noFill/>
          <a:ln/>
        </p:spPr>
        <p:txBody>
          <a:bodyPr wrap="square" lIns="0" tIns="0" rIns="0" bIns="0" rtlCol="0" anchor="ctr"/>
          <a:lstStyle/>
          <a:p>
            <a:pPr indent="0" marL="0">
              <a:buNone/>
            </a:pPr>
            <a:r>
              <a:rPr lang="en-US" sz="1050" dirty="0">
                <a:solidFill>
                  <a:srgbClr val="BFDCC4"/>
                </a:solidFill>
                <a:latin typeface="Calibri" pitchFamily="34" charset="0"/>
                <a:ea typeface="Calibri" pitchFamily="34" charset="-122"/>
                <a:cs typeface="Calibri" pitchFamily="34" charset="-120"/>
              </a:rPr>
              <a:t>Dienstags</a:t>
            </a:r>
            <a:endParaRPr lang="en-US" sz="1050" dirty="0"/>
          </a:p>
        </p:txBody>
      </p:sp>
      <p:sp>
        <p:nvSpPr>
          <p:cNvPr id="36" name="Text 34"/>
          <p:cNvSpPr/>
          <p:nvPr/>
        </p:nvSpPr>
        <p:spPr>
          <a:xfrm>
            <a:off x="8155899" y="3794760"/>
            <a:ext cx="3173517" cy="2651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Jour fixe Schornsteinfeger</a:t>
            </a:r>
            <a:endParaRPr lang="en-US" sz="1250" dirty="0"/>
          </a:p>
        </p:txBody>
      </p:sp>
      <p:sp>
        <p:nvSpPr>
          <p:cNvPr id="37" name="Text 35"/>
          <p:cNvSpPr/>
          <p:nvPr/>
        </p:nvSpPr>
        <p:spPr>
          <a:xfrm>
            <a:off x="8155899" y="4133088"/>
            <a:ext cx="3173517" cy="237744"/>
          </a:xfrm>
          <a:prstGeom prst="rect">
            <a:avLst/>
          </a:prstGeom>
          <a:noFill/>
          <a:ln/>
        </p:spPr>
        <p:txBody>
          <a:bodyPr wrap="square" lIns="0" tIns="0" rIns="0" bIns="0" rtlCol="0" anchor="ctr"/>
          <a:lstStyle/>
          <a:p>
            <a:pPr indent="0" marL="0">
              <a:buNone/>
            </a:pPr>
            <a:r>
              <a:rPr lang="en-US" sz="1050" dirty="0">
                <a:solidFill>
                  <a:srgbClr val="BFDCC4"/>
                </a:solidFill>
                <a:latin typeface="Calibri" pitchFamily="34" charset="0"/>
                <a:ea typeface="Calibri" pitchFamily="34" charset="-122"/>
                <a:cs typeface="Calibri" pitchFamily="34" charset="-120"/>
              </a:rPr>
              <a:t>Donnerstags 10:00</a:t>
            </a:r>
            <a:endParaRPr lang="en-US" sz="1050" dirty="0"/>
          </a:p>
        </p:txBody>
      </p:sp>
      <p:sp>
        <p:nvSpPr>
          <p:cNvPr id="38" name="Text 36"/>
          <p:cNvSpPr/>
          <p:nvPr/>
        </p:nvSpPr>
        <p:spPr>
          <a:xfrm>
            <a:off x="8155899" y="4343400"/>
            <a:ext cx="3173517" cy="2651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Marketing Jour Fixe</a:t>
            </a:r>
            <a:endParaRPr lang="en-US" sz="1250" dirty="0"/>
          </a:p>
        </p:txBody>
      </p:sp>
      <p:sp>
        <p:nvSpPr>
          <p:cNvPr id="39" name="Text 37"/>
          <p:cNvSpPr/>
          <p:nvPr/>
        </p:nvSpPr>
        <p:spPr>
          <a:xfrm>
            <a:off x="8155899" y="4681728"/>
            <a:ext cx="3173517" cy="237744"/>
          </a:xfrm>
          <a:prstGeom prst="rect">
            <a:avLst/>
          </a:prstGeom>
          <a:noFill/>
          <a:ln/>
        </p:spPr>
        <p:txBody>
          <a:bodyPr wrap="square" lIns="0" tIns="0" rIns="0" bIns="0" rtlCol="0" anchor="ctr"/>
          <a:lstStyle/>
          <a:p>
            <a:pPr indent="0" marL="0">
              <a:buNone/>
            </a:pPr>
            <a:r>
              <a:rPr lang="en-US" sz="1050" dirty="0">
                <a:solidFill>
                  <a:srgbClr val="BFDCC4"/>
                </a:solidFill>
                <a:latin typeface="Calibri" pitchFamily="34" charset="0"/>
                <a:ea typeface="Calibri" pitchFamily="34" charset="-122"/>
                <a:cs typeface="Calibri" pitchFamily="34" charset="-120"/>
              </a:rPr>
              <a:t>14-tägig</a:t>
            </a:r>
            <a:endParaRPr lang="en-US" sz="1050" dirty="0"/>
          </a:p>
        </p:txBody>
      </p:sp>
      <p:sp>
        <p:nvSpPr>
          <p:cNvPr id="40" name="Text 38"/>
          <p:cNvSpPr/>
          <p:nvPr/>
        </p:nvSpPr>
        <p:spPr>
          <a:xfrm>
            <a:off x="8155899" y="4892040"/>
            <a:ext cx="3173517" cy="26517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Jour Fixe WERK.E Mitte</a:t>
            </a:r>
            <a:endParaRPr lang="en-US" sz="1250" dirty="0"/>
          </a:p>
        </p:txBody>
      </p:sp>
      <p:sp>
        <p:nvSpPr>
          <p:cNvPr id="41" name="Text 39"/>
          <p:cNvSpPr/>
          <p:nvPr/>
        </p:nvSpPr>
        <p:spPr>
          <a:xfrm>
            <a:off x="8155899" y="5303520"/>
            <a:ext cx="3173517" cy="365760"/>
          </a:xfrm>
          <a:prstGeom prst="rect">
            <a:avLst/>
          </a:prstGeom>
          <a:noFill/>
          <a:ln/>
        </p:spPr>
        <p:txBody>
          <a:bodyPr wrap="square" lIns="0" tIns="0" rIns="0" bIns="0" rtlCol="0" anchor="t"/>
          <a:lstStyle/>
          <a:p>
            <a:pPr indent="0" marL="0">
              <a:lnSpc>
                <a:spcPts val="1300"/>
              </a:lnSpc>
              <a:buNone/>
            </a:pPr>
            <a:r>
              <a:rPr lang="en-US" sz="1000" dirty="0">
                <a:solidFill>
                  <a:srgbClr val="C9D2CA"/>
                </a:solidFill>
                <a:latin typeface="Calibri" pitchFamily="34" charset="0"/>
                <a:ea typeface="Calibri" pitchFamily="34" charset="-122"/>
                <a:cs typeface="Calibri" pitchFamily="34" charset="-120"/>
              </a:rPr>
              <a:t>Alle Schulungsunterlagen liegen in Teams. Fragen bitte dort sammeln.</a:t>
            </a:r>
            <a:endParaRPr lang="en-US" sz="1000" dirty="0"/>
          </a:p>
        </p:txBody>
      </p:sp>
      <p:sp>
        <p:nvSpPr>
          <p:cNvPr id="43" name="Text 40"/>
          <p:cNvSpPr/>
          <p:nvPr/>
        </p:nvSpPr>
        <p:spPr>
          <a:xfrm>
            <a:off x="566928" y="6437376"/>
            <a:ext cx="11055096" cy="237744"/>
          </a:xfrm>
          <a:prstGeom prst="rect">
            <a:avLst/>
          </a:prstGeom>
          <a:noFill/>
          <a:ln/>
        </p:spPr>
        <p:txBody>
          <a:bodyPr wrap="square" lIns="0" tIns="0" rIns="0" bIns="0" rtlCol="0" anchor="ctr"/>
          <a:lstStyle/>
          <a:p>
            <a:pPr indent="0" marL="0">
              <a:buNone/>
            </a:pPr>
            <a:r>
              <a:rPr lang="en-US" sz="900" dirty="0">
                <a:solidFill>
                  <a:srgbClr val="5B685D"/>
                </a:solidFill>
                <a:latin typeface="Calibri" pitchFamily="34" charset="0"/>
                <a:ea typeface="Calibri" pitchFamily="34" charset="-122"/>
                <a:cs typeface="Calibri" pitchFamily="34" charset="-120"/>
              </a:rPr>
              <a:t>Stand 06.08.2026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819"/>
        </a:solidFill>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256A30"/>
          </a:solidFill>
          <a:ln/>
        </p:spPr>
      </p:sp>
      <p:sp>
        <p:nvSpPr>
          <p:cNvPr id="3" name="Shape 1"/>
          <p:cNvSpPr/>
          <p:nvPr/>
        </p:nvSpPr>
        <p:spPr>
          <a:xfrm>
            <a:off x="9875520" y="-1280160"/>
            <a:ext cx="3840480" cy="3840480"/>
          </a:xfrm>
          <a:prstGeom prst="ellipse">
            <a:avLst/>
          </a:prstGeom>
          <a:solidFill>
            <a:srgbClr val="2E7D3A"/>
          </a:solidFill>
          <a:ln/>
        </p:spPr>
      </p:sp>
      <p:sp>
        <p:nvSpPr>
          <p:cNvPr id="4" name="Text 2"/>
          <p:cNvSpPr/>
          <p:nvPr/>
        </p:nvSpPr>
        <p:spPr>
          <a:xfrm>
            <a:off x="566928" y="731520"/>
            <a:ext cx="73152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Zum Mitnehmen</a:t>
            </a:r>
            <a:endParaRPr lang="en-US" sz="3000" dirty="0"/>
          </a:p>
        </p:txBody>
      </p:sp>
      <p:sp>
        <p:nvSpPr>
          <p:cNvPr id="5" name="Shape 3"/>
          <p:cNvSpPr/>
          <p:nvPr/>
        </p:nvSpPr>
        <p:spPr>
          <a:xfrm>
            <a:off x="566928" y="1609344"/>
            <a:ext cx="365760" cy="365760"/>
          </a:xfrm>
          <a:prstGeom prst="ellipse">
            <a:avLst/>
          </a:prstGeom>
          <a:solidFill>
            <a:srgbClr val="2E7D3A"/>
          </a:solidFill>
          <a:ln/>
        </p:spPr>
      </p:sp>
      <p:sp>
        <p:nvSpPr>
          <p:cNvPr id="6" name="Text 4"/>
          <p:cNvSpPr/>
          <p:nvPr/>
        </p:nvSpPr>
        <p:spPr>
          <a:xfrm>
            <a:off x="566928" y="1609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33856" y="1554480"/>
            <a:ext cx="859536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Die 65-%-Pflicht ist Geschichte. Pflichten hängen jetzt am Brennstoff, nicht an der Technik.</a:t>
            </a:r>
            <a:endParaRPr lang="en-US" sz="1400" dirty="0"/>
          </a:p>
        </p:txBody>
      </p:sp>
      <p:sp>
        <p:nvSpPr>
          <p:cNvPr id="8" name="Shape 6"/>
          <p:cNvSpPr/>
          <p:nvPr/>
        </p:nvSpPr>
        <p:spPr>
          <a:xfrm>
            <a:off x="566928" y="2212848"/>
            <a:ext cx="365760" cy="365760"/>
          </a:xfrm>
          <a:prstGeom prst="ellipse">
            <a:avLst/>
          </a:prstGeom>
          <a:solidFill>
            <a:srgbClr val="2E7D3A"/>
          </a:solidFill>
          <a:ln/>
        </p:spPr>
      </p:sp>
      <p:sp>
        <p:nvSpPr>
          <p:cNvPr id="9" name="Text 7"/>
          <p:cNvSpPr/>
          <p:nvPr/>
        </p:nvSpPr>
        <p:spPr>
          <a:xfrm>
            <a:off x="566928" y="2212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33856" y="2157984"/>
            <a:ext cx="859536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Fossil bleibt erlaubt, wird aber planbar teuer - Bio-Treppe, CO₂-Preis, Quote, Kostenteilung.</a:t>
            </a:r>
            <a:endParaRPr lang="en-US" sz="1400" dirty="0"/>
          </a:p>
        </p:txBody>
      </p:sp>
      <p:sp>
        <p:nvSpPr>
          <p:cNvPr id="11" name="Shape 9"/>
          <p:cNvSpPr/>
          <p:nvPr/>
        </p:nvSpPr>
        <p:spPr>
          <a:xfrm>
            <a:off x="566928" y="2816352"/>
            <a:ext cx="365760" cy="365760"/>
          </a:xfrm>
          <a:prstGeom prst="ellipse">
            <a:avLst/>
          </a:prstGeom>
          <a:solidFill>
            <a:srgbClr val="2E7D3A"/>
          </a:solidFill>
          <a:ln/>
        </p:spPr>
      </p:sp>
      <p:sp>
        <p:nvSpPr>
          <p:cNvPr id="12" name="Text 10"/>
          <p:cNvSpPr/>
          <p:nvPr/>
        </p:nvSpPr>
        <p:spPr>
          <a:xfrm>
            <a:off x="566928" y="2816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33856" y="2761488"/>
            <a:ext cx="859536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Ab Stufe 2 rechnen wir neu: DIN/TS 18599, Nutzfläche, neue Faktoren, neue Ausweise.</a:t>
            </a:r>
            <a:endParaRPr lang="en-US" sz="1400" dirty="0"/>
          </a:p>
        </p:txBody>
      </p:sp>
      <p:sp>
        <p:nvSpPr>
          <p:cNvPr id="14" name="Shape 12"/>
          <p:cNvSpPr/>
          <p:nvPr/>
        </p:nvSpPr>
        <p:spPr>
          <a:xfrm>
            <a:off x="566928" y="3419856"/>
            <a:ext cx="365760" cy="365760"/>
          </a:xfrm>
          <a:prstGeom prst="ellipse">
            <a:avLst/>
          </a:prstGeom>
          <a:solidFill>
            <a:srgbClr val="2E7D3A"/>
          </a:solidFill>
          <a:ln/>
        </p:spPr>
      </p:sp>
      <p:sp>
        <p:nvSpPr>
          <p:cNvPr id="15" name="Text 13"/>
          <p:cNvSpPr/>
          <p:nvPr/>
        </p:nvSpPr>
        <p:spPr>
          <a:xfrm>
            <a:off x="566928" y="34198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33856" y="3364992"/>
            <a:ext cx="859536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Neubau 2030 heißt Nullemission. Der NWG-Bestand bekommt erstmals Mindeststandards.</a:t>
            </a:r>
            <a:endParaRPr lang="en-US" sz="1400" dirty="0"/>
          </a:p>
        </p:txBody>
      </p:sp>
      <p:sp>
        <p:nvSpPr>
          <p:cNvPr id="17" name="Shape 15"/>
          <p:cNvSpPr/>
          <p:nvPr/>
        </p:nvSpPr>
        <p:spPr>
          <a:xfrm>
            <a:off x="566928" y="4023360"/>
            <a:ext cx="365760" cy="365760"/>
          </a:xfrm>
          <a:prstGeom prst="ellipse">
            <a:avLst/>
          </a:prstGeom>
          <a:solidFill>
            <a:srgbClr val="2E7D3A"/>
          </a:solidFill>
          <a:ln/>
        </p:spPr>
      </p:sp>
      <p:sp>
        <p:nvSpPr>
          <p:cNvPr id="18" name="Text 16"/>
          <p:cNvSpPr/>
          <p:nvPr/>
        </p:nvSpPr>
        <p:spPr>
          <a:xfrm>
            <a:off x="566928"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133856" y="3968496"/>
            <a:ext cx="8595360" cy="47548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Jede neue Pflicht ist eine Leistung, die jemand erbringen muss. Seien wir die Ersten.</a:t>
            </a:r>
            <a:endParaRPr lang="en-US" sz="1400" dirty="0"/>
          </a:p>
        </p:txBody>
      </p:sp>
      <p:sp>
        <p:nvSpPr>
          <p:cNvPr id="20" name="Text 18"/>
          <p:cNvSpPr/>
          <p:nvPr/>
        </p:nvSpPr>
        <p:spPr>
          <a:xfrm>
            <a:off x="566928" y="4892040"/>
            <a:ext cx="7315200" cy="502920"/>
          </a:xfrm>
          <a:prstGeom prst="rect">
            <a:avLst/>
          </a:prstGeom>
          <a:noFill/>
          <a:ln/>
        </p:spPr>
        <p:txBody>
          <a:bodyPr wrap="square" lIns="0" tIns="0" rIns="0" bIns="0" rtlCol="0" anchor="ctr"/>
          <a:lstStyle/>
          <a:p>
            <a:pPr indent="0" marL="0">
              <a:buNone/>
            </a:pPr>
            <a:r>
              <a:rPr lang="en-US" sz="2600" b="1" dirty="0">
                <a:solidFill>
                  <a:srgbClr val="58B264"/>
                </a:solidFill>
                <a:latin typeface="Trebuchet MS" pitchFamily="34" charset="0"/>
                <a:ea typeface="Trebuchet MS" pitchFamily="34" charset="-122"/>
                <a:cs typeface="Trebuchet MS" pitchFamily="34" charset="-120"/>
              </a:rPr>
              <a:t>Fragen und Diskussion</a:t>
            </a:r>
            <a:endParaRPr lang="en-US" sz="2600" dirty="0"/>
          </a:p>
        </p:txBody>
      </p:sp>
      <p:sp>
        <p:nvSpPr>
          <p:cNvPr id="21" name="Text 19"/>
          <p:cNvSpPr/>
          <p:nvPr/>
        </p:nvSpPr>
        <p:spPr>
          <a:xfrm>
            <a:off x="566928" y="5394960"/>
            <a:ext cx="8595360" cy="457200"/>
          </a:xfrm>
          <a:prstGeom prst="rect">
            <a:avLst/>
          </a:prstGeom>
          <a:noFill/>
          <a:ln/>
        </p:spPr>
        <p:txBody>
          <a:bodyPr wrap="square" lIns="0" tIns="0" rIns="0" bIns="0" rtlCol="0" anchor="t"/>
          <a:lstStyle/>
          <a:p>
            <a:pPr indent="0" marL="0">
              <a:lnSpc>
                <a:spcPts val="1700"/>
              </a:lnSpc>
              <a:buNone/>
            </a:pPr>
            <a:r>
              <a:rPr lang="en-US" sz="1300" dirty="0">
                <a:solidFill>
                  <a:srgbClr val="C9D2CA"/>
                </a:solidFill>
                <a:latin typeface="Calibri" pitchFamily="34" charset="0"/>
                <a:ea typeface="Calibri" pitchFamily="34" charset="-122"/>
                <a:cs typeface="Calibri" pitchFamily="34" charset="-120"/>
              </a:rPr>
              <a:t>Fragen aus euren Projekten sammeln wir direkt hier - die Antworten pflege ich in die Schulungsunterlagen ein.</a:t>
            </a:r>
            <a:endParaRPr lang="en-US" sz="1300" dirty="0"/>
          </a:p>
        </p:txBody>
      </p:sp>
      <p:sp>
        <p:nvSpPr>
          <p:cNvPr id="22" name="Text 20"/>
          <p:cNvSpPr/>
          <p:nvPr/>
        </p:nvSpPr>
        <p:spPr>
          <a:xfrm>
            <a:off x="566928" y="6172200"/>
            <a:ext cx="11055096" cy="256032"/>
          </a:xfrm>
          <a:prstGeom prst="rect">
            <a:avLst/>
          </a:prstGeom>
          <a:noFill/>
          <a:ln/>
        </p:spPr>
        <p:txBody>
          <a:bodyPr wrap="square" lIns="0" tIns="0" rIns="0" bIns="0" rtlCol="0" anchor="ctr"/>
          <a:lstStyle/>
          <a:p>
            <a:pPr indent="0" marL="0">
              <a:buNone/>
            </a:pPr>
            <a:r>
              <a:rPr lang="en-US" sz="950" dirty="0">
                <a:solidFill>
                  <a:srgbClr val="5B685D"/>
                </a:solidFill>
                <a:latin typeface="Calibri" pitchFamily="34" charset="0"/>
                <a:ea typeface="Calibri" pitchFamily="34" charset="-122"/>
                <a:cs typeface="Calibri" pitchFamily="34" charset="-120"/>
              </a:rPr>
              <a:t>WERK.E Energie-Effizienz-Beratungs GmbH &amp; Co. KG  ·  Rolandsweg 80, 33102 Paderborn  ·  07.08.2026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WERK.E Energie-Effizienz-Beratungs GmbH und Co.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Grosses Team-Meeting - 07.08.2026</dc:title>
  <dc:subject>PptxGenJS Presentation</dc:subject>
  <dc:creator>WERK.E Energie-Effizienz-Beratung</dc:creator>
  <cp:lastModifiedBy>WERK.E Energie-Effizienz-Beratung</cp:lastModifiedBy>
  <cp:revision>1</cp:revision>
  <dcterms:created xsi:type="dcterms:W3CDTF">2026-08-06T17:29:12Z</dcterms:created>
  <dcterms:modified xsi:type="dcterms:W3CDTF">2026-08-06T17:29:12Z</dcterms:modified>
</cp:coreProperties>
</file>