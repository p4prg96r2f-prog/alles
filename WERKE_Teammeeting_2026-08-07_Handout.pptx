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Begruessung. Erstes vollstaendiges Zusammenkommen nach der Sommerpause - das Fruehstueck am 24.07. ist urlaubsbedingt ausgefallen.
Kurz abholen: Wer war im Urlaub, wer ist wieder da. Dann direkt zum Hauptthema ueberleiten.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durchgehen, nicht vorlesen.
Hinweis ans Team: Die vollstaendigen GModG-Schulungsunterlagen liegen in Teams. Heute geht es nur um das, was operativ zaehlt.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Uebergang: Die Schulung habt ihr alle gehabt, die Unterlagen liegen in Teams. Heute nur die Punkte, die im Alltag sofort wirken - kein Paragrafenritt.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Wichtigste Botschaft: Wer noch mit 65-%-Argumentation ins Kundengespraech geht, erzaehlt Recht von gestern. Bitte ab sofort umstellen.
Zweite Botschaft: In der Bilanzierung aendert sich JETZT noch nichts. Wer also gerade rechnet, rechnet weiter wie bisher.
Das exakte Stufe-2-Datum gebe ich im Sanierungs-Chat durch, sobald ich es geprueft habe.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bitte fotografieren - das ist die Orientierung fuer die naechsten Jahre.
Fuer den Alltag zaehlen die ersten beiden Spalten. Alles ab 2028 ist Planungshorizont, aber relevant, wenn wir heute Anlagen auslegen, die 20 Jahre laufen sollen.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praktische Kern: Ab Stufe 2 sind unsere Zahlen andere - nicht weil wir anders arbeiten, sondern weil die Rechenregeln andere sind.
Bitte jetzt schon im Hinterkopf behalten bei Projekten, die 2027 fertig werden.
Ich kuemmere mich um das Hottgenroth-Update, sobald das Stufe-2-Datum feststeht.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halten - die Tabelle spricht fuer sich.
Der Punkt mit den Leerrohren unten ist in der Praxis der haeufigste Fehler. Bitte bei Bauherren frueh ansprechen, das aendert die Kalkulation spuerbar.
Ueberleitung zur naechsten Folie: Und genau dafuer gibt es gerade Geld - aber nicht mehr lange.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konkreteste Umsatzpunkt des ganzen Meetings.
Das Programm laeuft seit April, die Frist endet am 10. November. Wir haben also noch gut drei Monate, um Bestandskunden darauf anzusprechen.
Zielgruppe passt perfekt: WEGs und Vermieter, die wir ohnehin zu Sanierung und Heizung beraten. Und die GEIG-Pflicht von der Folie davor gibt uns den Aufhaenger fuers Gespraech.
Aufgabe: Bitte durchdenkt eure laufenden Projekte, wo Stellplaetze dabei sind. Bei Fragen zur Antragstellung kommt auf mich zu.
Quelle: Bundesministerium fuer Verkehr, Programm 'Laden im Mehrparteienhaus'.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stehen lassen und fotografieren lassen. Nicht vorlesen.
Ich haenge das Deck nach dem Meeting in Teams, dann hat es jeder.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Uebergang: Genug Gesetz. Jetzt zu dem, was bei uns im Haus passiert ist - und da war trotz Sommerpause einiges 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hat das im Sanierungs-Chat angesprochen, ich moechte es hier verstaerken, weil es alle betrifft, die Antraege stellen.
Wenn das Angebot bei 33.278 Euro liegt, sind 35.000 in der BzA bei zwei Wohneinheiten zu knapp. Wir haben keinen Nachteil durch einen hoeheren Ansatz - aber ein echtes Problem, wenn die Kosten steigen und der Antrag zu klein ist.
Bitte ab sofort als Standard uebernehmen. David, magst du kurz ergaenzen?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halten. Wichtig ist nur, dass alle wissen: es gibt beides und wo es liegt.
Den Preisrechner kurz zeigen, wenn ein Rechner am Beamer haengt - das ueberzeugt mehr als jede Beschreibung.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Kurzer Stolz-Moment fuer das Team.
Danke an Chiara und Steffi fuer die Webinare - die liefen, waehrend ich weg war.
Der WDR-Beitrag ist der Aufhaenger fuer Social Media. Marketing hat das schon auf dem Schirm.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als Technik-Thema verkaufen, sondern als Arbeitserleichterung.
Die zwei Grundregeln in der Mitte sind mir wichtig: keine Kundendaten rein, und alles wird fachlich geprueft, bevor es rausgeht.
Wer skeptisch ist: voellig in Ordnung. Niemand muss. Aber wer will, bekommt Zugang.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PLATZHALTER-HINWEIS: Hier bitte vor dem Meeting den aktuellen Projektstand ergaenzen - Umfang, Anzahl der Liegenschaften, wo es gerade steht. Diese Zahlen habe ich nicht vorliegen.
Christoph oder Dominik kurz selbst berichten lassen, das ist lebendiger als meine Zusammenfassung.
Der strategische Punkt unten ist der eigentliche Grund, warum das ins Meeting gehoert: Referenz fuer kommunale Auftraggeber in ganz 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PLATZHALTER-HINWEIS: Zu Dortmund habe ich bewusst nur das auf die Folie genommen, was feststeht - Gruendung und Start der Terminvergabe zum 01.10. Bitte vor dem Meeting ergaenzen, was du kommunizieren moechtest: Wer leitet, welche Raeume, welches Leistungsspektrum.
Das ist die Folie mit der besten Stimmung im ganzen Deck - Wachstum motiviert. Ruhig kurz Raum fuer Reaktionen lassen.
Zum ID. Polo Event: Wer Lust hat mitzufahren, soll sich melden.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Hier uebergebe ich an Larissa. Sie stellt den Entwurf vor.
Ich moderiere nur an und halte mich danach zurueck - das ist ihr Thema und es soll auch so wahrgenommen werden.
Genug Zeit einplanen. Das ist der Beteiligungspunkt des Meetings, nicht ein Tagesordnungspunkt zum Abhaken.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 und kurz halten.
Bei Dominik ruhig kurz applaudieren lassen.
Bei Katrin nicht zu viel vorwegnehmen - wir sprechen erst Ende August.
Melissas Nachricht als positives Beispiel nennen, nicht als Ermahnung an alle anderen. Der Ton macht hier den Unterschied.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PLATZHALTER-HINWEIS: Bitte vor dem Meeting ergaenzen, was du konkret sagen moechtest - Vollzeit oder Teilzeit, ab wann, Einsatzort, und ob es eine Praemie fuer eine erfolgreiche Empfehlung gibt. Die Folie ist bewusst offen gehalten, weil ich die Eckdaten nicht kenne.
Eine Praemie waere hier der wirksamste Hebel - wenn es eine gibt, unbedingt nennen.
Wichtig beim Vortragen: nicht als Randnotiz abhandeln. Kurz Stille lassen, damit die Leute wirklich ueberlegen. Und am besten direkt fragen, ob jemand spontan einen Namen im Kopf hat.
Wer etwas sagt: sofort notieren, nicht auf spaeter vertroesten.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Lockerer Teil, entsprechend im Ton.
Das After-Five-Grillen ist der Aufhaenger fuer gute Stimmung zum Schluss - ruhig etwas Vorfreude machen. Den genauen Termin nachreichen.
JobRad, Volksbank und SCP sind reine Infos, nicht ausbreiten.
PLATZHALTER: Bei den Opel-Papieren bitte pruefen, ob Melissa im Urlaub ist - gegebenenfalls die Vertretung nennen.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sechs Punkte laut vorlesen - das sind die Saetze, die im Kopf bleiben sollen.
Punkt 3 ist der mit dem Zeitdruck: bitte noch einmal betonen, dass das Foerderfenster am 10. November zufaellt.
Punkt 6 zum Schluss noch einmal ernst meinen - nicht nur vorlesen. Wer heute einen Namen nennt, spart uns Wochen.
Dann Raum fuer Fragen. Was ich nicht beantworten kann, notiere ich und pflege es nach.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819"/>
        </a:solidFill>
      </p:bgPr>
    </p:bg>
    <p:spTree>
      <p:nvGrpSpPr>
        <p:cNvPr id="1" name=""/>
        <p:cNvGrpSpPr/>
        <p:nvPr/>
      </p:nvGrpSpPr>
      <p:grpSpPr>
        <a:xfrm>
          <a:off x="0" y="0"/>
          <a:ext cx="0" cy="0"/>
          <a:chOff x="0" y="0"/>
          <a:chExt cx="0" cy="0"/>
        </a:xfrm>
      </p:grpSpPr>
      <p:sp>
        <p:nvSpPr>
          <p:cNvPr id="2" name="Shape 0"/>
          <p:cNvSpPr/>
          <p:nvPr/>
        </p:nvSpPr>
        <p:spPr>
          <a:xfrm>
            <a:off x="8595360" y="-1828800"/>
            <a:ext cx="5852160" cy="5852160"/>
          </a:xfrm>
          <a:prstGeom prst="ellipse">
            <a:avLst/>
          </a:prstGeom>
          <a:solidFill>
            <a:srgbClr val="256A30"/>
          </a:solidFill>
          <a:ln/>
        </p:spPr>
      </p:sp>
      <p:sp>
        <p:nvSpPr>
          <p:cNvPr id="3" name="Shape 1"/>
          <p:cNvSpPr/>
          <p:nvPr/>
        </p:nvSpPr>
        <p:spPr>
          <a:xfrm>
            <a:off x="10332720" y="4114800"/>
            <a:ext cx="3108960" cy="3108960"/>
          </a:xfrm>
          <a:prstGeom prst="ellipse">
            <a:avLst/>
          </a:prstGeom>
          <a:solidFill>
            <a:srgbClr val="2E7D3A"/>
          </a:solidFill>
          <a:ln/>
        </p:spPr>
      </p:sp>
      <p:sp>
        <p:nvSpPr>
          <p:cNvPr id="4" name="Text 2"/>
          <p:cNvSpPr/>
          <p:nvPr/>
        </p:nvSpPr>
        <p:spPr>
          <a:xfrm>
            <a:off x="566928" y="777240"/>
            <a:ext cx="5486400" cy="457200"/>
          </a:xfrm>
          <a:prstGeom prst="rect">
            <a:avLst/>
          </a:prstGeom>
          <a:noFill/>
          <a:ln/>
        </p:spPr>
        <p:txBody>
          <a:bodyPr wrap="square" lIns="0" tIns="0" rIns="0" bIns="0" rtlCol="0" anchor="ctr"/>
          <a:lstStyle/>
          <a:p>
            <a:pPr indent="0" marL="0">
              <a:buNone/>
            </a:pPr>
            <a:r>
              <a:rPr lang="en-US" sz="2200" b="1" spc="350" kern="0" dirty="0">
                <a:solidFill>
                  <a:srgbClr val="58B264"/>
                </a:solidFill>
                <a:latin typeface="Trebuchet MS" pitchFamily="34" charset="0"/>
                <a:ea typeface="Trebuchet MS" pitchFamily="34" charset="-122"/>
                <a:cs typeface="Trebuchet MS" pitchFamily="34" charset="-120"/>
              </a:rPr>
              <a:t>WERK.E</a:t>
            </a:r>
            <a:endParaRPr lang="en-US" sz="2200" dirty="0"/>
          </a:p>
        </p:txBody>
      </p:sp>
      <p:sp>
        <p:nvSpPr>
          <p:cNvPr id="5" name="Text 3"/>
          <p:cNvSpPr/>
          <p:nvPr/>
        </p:nvSpPr>
        <p:spPr>
          <a:xfrm>
            <a:off x="566928" y="1170432"/>
            <a:ext cx="5486400" cy="274320"/>
          </a:xfrm>
          <a:prstGeom prst="rect">
            <a:avLst/>
          </a:prstGeom>
          <a:noFill/>
          <a:ln/>
        </p:spPr>
        <p:txBody>
          <a:bodyPr wrap="square" lIns="0" tIns="0" rIns="0" bIns="0" rtlCol="0" anchor="ctr"/>
          <a:lstStyle/>
          <a:p>
            <a:pPr indent="0" marL="0">
              <a:buNone/>
            </a:pPr>
            <a:r>
              <a:rPr lang="en-US" sz="1200" spc="120" kern="0" dirty="0">
                <a:solidFill>
                  <a:srgbClr val="5B685D"/>
                </a:solidFill>
                <a:latin typeface="Calibri" pitchFamily="34" charset="0"/>
                <a:ea typeface="Calibri" pitchFamily="34" charset="-122"/>
                <a:cs typeface="Calibri" pitchFamily="34" charset="-120"/>
              </a:rPr>
              <a:t>Energie-Effizienz-Beratung</a:t>
            </a:r>
            <a:endParaRPr lang="en-US" sz="1200" dirty="0"/>
          </a:p>
        </p:txBody>
      </p:sp>
      <p:sp>
        <p:nvSpPr>
          <p:cNvPr id="6" name="Text 4"/>
          <p:cNvSpPr/>
          <p:nvPr/>
        </p:nvSpPr>
        <p:spPr>
          <a:xfrm>
            <a:off x="566928" y="2331720"/>
            <a:ext cx="7863840" cy="868680"/>
          </a:xfrm>
          <a:prstGeom prst="rect">
            <a:avLst/>
          </a:prstGeom>
          <a:noFill/>
          <a:ln/>
        </p:spPr>
        <p:txBody>
          <a:bodyPr wrap="square" lIns="0" tIns="0" rIns="0" bIns="0"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Großes Team-Meeting</a:t>
            </a:r>
            <a:endParaRPr lang="en-US" sz="4600" dirty="0"/>
          </a:p>
        </p:txBody>
      </p:sp>
      <p:sp>
        <p:nvSpPr>
          <p:cNvPr id="7" name="Text 5"/>
          <p:cNvSpPr/>
          <p:nvPr/>
        </p:nvSpPr>
        <p:spPr>
          <a:xfrm>
            <a:off x="566928" y="3310128"/>
            <a:ext cx="7498080" cy="868680"/>
          </a:xfrm>
          <a:prstGeom prst="rect">
            <a:avLst/>
          </a:prstGeom>
          <a:noFill/>
          <a:ln/>
        </p:spPr>
        <p:txBody>
          <a:bodyPr wrap="square" lIns="0" tIns="0" rIns="0" bIns="0" rtlCol="0" anchor="t"/>
          <a:lstStyle/>
          <a:p>
            <a:pPr indent="0" marL="0">
              <a:lnSpc>
                <a:spcPts val="2600"/>
              </a:lnSpc>
              <a:buNone/>
            </a:pPr>
            <a:r>
              <a:rPr lang="en-US" sz="1700" dirty="0">
                <a:solidFill>
                  <a:srgbClr val="C9D2CA"/>
                </a:solidFill>
                <a:latin typeface="Calibri" pitchFamily="34" charset="0"/>
                <a:ea typeface="Calibri" pitchFamily="34" charset="-122"/>
                <a:cs typeface="Calibri" pitchFamily="34" charset="-120"/>
              </a:rPr>
              <a:t>Willkommen zurück aus der Sommerpause.</a:t>
            </a:r>
            <a:endParaRPr lang="en-US" sz="1700" dirty="0"/>
          </a:p>
          <a:p>
            <a:pPr indent="0" marL="0">
              <a:lnSpc>
                <a:spcPts val="2600"/>
              </a:lnSpc>
              <a:buNone/>
            </a:pPr>
            <a:r>
              <a:rPr lang="en-US" sz="1700" dirty="0">
                <a:solidFill>
                  <a:srgbClr val="C9D2CA"/>
                </a:solidFill>
                <a:latin typeface="Calibri" pitchFamily="34" charset="0"/>
                <a:ea typeface="Calibri" pitchFamily="34" charset="-122"/>
                <a:cs typeface="Calibri" pitchFamily="34" charset="-120"/>
              </a:rPr>
              <a:t>Was jetzt zählt - und was vor uns liegt.</a:t>
            </a:r>
            <a:endParaRPr lang="en-US" sz="1700" dirty="0"/>
          </a:p>
        </p:txBody>
      </p:sp>
      <p:sp>
        <p:nvSpPr>
          <p:cNvPr id="8" name="Shape 6"/>
          <p:cNvSpPr/>
          <p:nvPr/>
        </p:nvSpPr>
        <p:spPr>
          <a:xfrm>
            <a:off x="566928" y="4709160"/>
            <a:ext cx="3977640" cy="566928"/>
          </a:xfrm>
          <a:prstGeom prst="roundRect">
            <a:avLst>
              <a:gd name="adj" fmla="val 50000"/>
            </a:avLst>
          </a:prstGeom>
          <a:solidFill>
            <a:srgbClr val="2E7D3A"/>
          </a:solidFill>
          <a:ln/>
        </p:spPr>
      </p:sp>
      <p:sp>
        <p:nvSpPr>
          <p:cNvPr id="9" name="Text 7"/>
          <p:cNvSpPr/>
          <p:nvPr/>
        </p:nvSpPr>
        <p:spPr>
          <a:xfrm>
            <a:off x="566928" y="4709160"/>
            <a:ext cx="39776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Freitag, 07.08.2026  ·  09:00 Uhr</a:t>
            </a:r>
            <a:endParaRPr lang="en-US" sz="1300" dirty="0"/>
          </a:p>
        </p:txBody>
      </p:sp>
      <p:sp>
        <p:nvSpPr>
          <p:cNvPr id="10" name="Text 8"/>
          <p:cNvSpPr/>
          <p:nvPr/>
        </p:nvSpPr>
        <p:spPr>
          <a:xfrm>
            <a:off x="566928" y="5532120"/>
            <a:ext cx="7863840" cy="274320"/>
          </a:xfrm>
          <a:prstGeom prst="rect">
            <a:avLst/>
          </a:prstGeom>
          <a:noFill/>
          <a:ln/>
        </p:spPr>
        <p:txBody>
          <a:bodyPr wrap="square" lIns="0" tIns="0" rIns="0" bIns="0" rtlCol="0" anchor="ctr"/>
          <a:lstStyle/>
          <a:p>
            <a:pPr indent="0" marL="0">
              <a:buNone/>
            </a:pPr>
            <a:r>
              <a:rPr lang="en-US" sz="1100" dirty="0">
                <a:solidFill>
                  <a:srgbClr val="5B685D"/>
                </a:solidFill>
                <a:latin typeface="Calibri" pitchFamily="34" charset="0"/>
                <a:ea typeface="Calibri" pitchFamily="34" charset="-122"/>
                <a:cs typeface="Calibri" pitchFamily="34" charset="-120"/>
              </a:rPr>
              <a:t>Rolandsweg 80, Paderborn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Worüber wir heute sprechen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Kompakt gehalten - drei Blöcke, danach ist Zeit für eure Fragen.</a:t>
            </a:r>
            <a:endParaRPr lang="en-US" sz="1400" dirty="0"/>
          </a:p>
        </p:txBody>
      </p:sp>
      <p:sp>
        <p:nvSpPr>
          <p:cNvPr id="5" name="Shape 3"/>
          <p:cNvSpPr/>
          <p:nvPr/>
        </p:nvSpPr>
        <p:spPr>
          <a:xfrm>
            <a:off x="566928" y="1874520"/>
            <a:ext cx="11055096" cy="1298448"/>
          </a:xfrm>
          <a:prstGeom prst="roundRect">
            <a:avLst>
              <a:gd name="adj" fmla="val 6338"/>
            </a:avLst>
          </a:prstGeom>
          <a:solidFill>
            <a:srgbClr val="F5F6F3"/>
          </a:solidFill>
          <a:ln/>
          <a:effectLst>
            <a:outerShdw sx="100000" sy="100000" kx="0" ky="0" algn="bl" rotWithShape="0" blurRad="127000" dist="25400" dir="5400000">
              <a:srgbClr val="000000">
                <a:alpha val="7000"/>
              </a:srgbClr>
            </a:outerShdw>
          </a:effectLst>
        </p:spPr>
      </p:sp>
      <p:sp>
        <p:nvSpPr>
          <p:cNvPr id="6" name="Shape 4"/>
          <p:cNvSpPr/>
          <p:nvPr/>
        </p:nvSpPr>
        <p:spPr>
          <a:xfrm>
            <a:off x="896112" y="2258568"/>
            <a:ext cx="530352" cy="530352"/>
          </a:xfrm>
          <a:prstGeom prst="ellipse">
            <a:avLst/>
          </a:prstGeom>
          <a:solidFill>
            <a:srgbClr val="2E7D3A"/>
          </a:solidFill>
          <a:ln/>
        </p:spPr>
      </p:sp>
      <p:sp>
        <p:nvSpPr>
          <p:cNvPr id="7" name="Text 5"/>
          <p:cNvSpPr/>
          <p:nvPr/>
        </p:nvSpPr>
        <p:spPr>
          <a:xfrm>
            <a:off x="896112" y="2258568"/>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8" name="Text 6"/>
          <p:cNvSpPr/>
          <p:nvPr/>
        </p:nvSpPr>
        <p:spPr>
          <a:xfrm>
            <a:off x="1645920" y="2130552"/>
            <a:ext cx="4754880" cy="384048"/>
          </a:xfrm>
          <a:prstGeom prst="rect">
            <a:avLst/>
          </a:prstGeom>
          <a:noFill/>
          <a:ln/>
        </p:spPr>
        <p:txBody>
          <a:bodyPr wrap="square" lIns="0" tIns="0" rIns="0" bIns="0" rtlCol="0" anchor="ctr"/>
          <a:lstStyle/>
          <a:p>
            <a:pPr indent="0" marL="0">
              <a:buNone/>
            </a:pPr>
            <a:r>
              <a:rPr lang="en-US" sz="2100" b="1" dirty="0">
                <a:solidFill>
                  <a:srgbClr val="1A1819"/>
                </a:solidFill>
                <a:latin typeface="Trebuchet MS" pitchFamily="34" charset="0"/>
                <a:ea typeface="Trebuchet MS" pitchFamily="34" charset="-122"/>
                <a:cs typeface="Trebuchet MS" pitchFamily="34" charset="-120"/>
              </a:rPr>
              <a:t>Das GModG gilt</a:t>
            </a:r>
            <a:endParaRPr lang="en-US" sz="2100" dirty="0"/>
          </a:p>
        </p:txBody>
      </p:sp>
      <p:sp>
        <p:nvSpPr>
          <p:cNvPr id="9" name="Text 7"/>
          <p:cNvSpPr/>
          <p:nvPr/>
        </p:nvSpPr>
        <p:spPr>
          <a:xfrm>
            <a:off x="1645920" y="2514600"/>
            <a:ext cx="6766560" cy="512064"/>
          </a:xfrm>
          <a:prstGeom prst="rect">
            <a:avLst/>
          </a:prstGeom>
          <a:noFill/>
          <a:ln/>
        </p:spPr>
        <p:txBody>
          <a:bodyPr wrap="square" lIns="0" tIns="0" rIns="0" bIns="0" rtlCol="0" anchor="t"/>
          <a:lstStyle/>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Was ab sofort zählt, was zum 01.01.2027 kommt</a:t>
            </a:r>
            <a:endParaRPr lang="en-US" sz="1250" dirty="0"/>
          </a:p>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und welches Förderfenster gerade offen ist</a:t>
            </a:r>
            <a:endParaRPr lang="en-US" sz="1250" dirty="0"/>
          </a:p>
        </p:txBody>
      </p:sp>
      <p:sp>
        <p:nvSpPr>
          <p:cNvPr id="10" name="Shape 8"/>
          <p:cNvSpPr/>
          <p:nvPr/>
        </p:nvSpPr>
        <p:spPr>
          <a:xfrm>
            <a:off x="566928" y="3355848"/>
            <a:ext cx="11055096" cy="1298448"/>
          </a:xfrm>
          <a:prstGeom prst="roundRect">
            <a:avLst>
              <a:gd name="adj" fmla="val 6338"/>
            </a:avLst>
          </a:prstGeom>
          <a:solidFill>
            <a:srgbClr val="F5F6F3"/>
          </a:solidFill>
          <a:ln/>
          <a:effectLst>
            <a:outerShdw sx="100000" sy="100000" kx="0" ky="0" algn="bl" rotWithShape="0" blurRad="127000" dist="25400" dir="5400000">
              <a:srgbClr val="000000">
                <a:alpha val="7000"/>
              </a:srgbClr>
            </a:outerShdw>
          </a:effectLst>
        </p:spPr>
      </p:sp>
      <p:sp>
        <p:nvSpPr>
          <p:cNvPr id="11" name="Shape 9"/>
          <p:cNvSpPr/>
          <p:nvPr/>
        </p:nvSpPr>
        <p:spPr>
          <a:xfrm>
            <a:off x="896112" y="3739896"/>
            <a:ext cx="530352" cy="530352"/>
          </a:xfrm>
          <a:prstGeom prst="ellipse">
            <a:avLst/>
          </a:prstGeom>
          <a:solidFill>
            <a:srgbClr val="58B264"/>
          </a:solidFill>
          <a:ln/>
        </p:spPr>
      </p:sp>
      <p:sp>
        <p:nvSpPr>
          <p:cNvPr id="12" name="Text 10"/>
          <p:cNvSpPr/>
          <p:nvPr/>
        </p:nvSpPr>
        <p:spPr>
          <a:xfrm>
            <a:off x="896112" y="3739896"/>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3" name="Text 11"/>
          <p:cNvSpPr/>
          <p:nvPr/>
        </p:nvSpPr>
        <p:spPr>
          <a:xfrm>
            <a:off x="1645920" y="3611880"/>
            <a:ext cx="4754880" cy="384048"/>
          </a:xfrm>
          <a:prstGeom prst="rect">
            <a:avLst/>
          </a:prstGeom>
          <a:noFill/>
          <a:ln/>
        </p:spPr>
        <p:txBody>
          <a:bodyPr wrap="square" lIns="0" tIns="0" rIns="0" bIns="0" rtlCol="0" anchor="ctr"/>
          <a:lstStyle/>
          <a:p>
            <a:pPr indent="0" marL="0">
              <a:buNone/>
            </a:pPr>
            <a:r>
              <a:rPr lang="en-US" sz="2100" b="1" dirty="0">
                <a:solidFill>
                  <a:srgbClr val="1A1819"/>
                </a:solidFill>
                <a:latin typeface="Trebuchet MS" pitchFamily="34" charset="0"/>
                <a:ea typeface="Trebuchet MS" pitchFamily="34" charset="-122"/>
                <a:cs typeface="Trebuchet MS" pitchFamily="34" charset="-120"/>
              </a:rPr>
              <a:t>Praxis und Markt</a:t>
            </a:r>
            <a:endParaRPr lang="en-US" sz="2100" dirty="0"/>
          </a:p>
        </p:txBody>
      </p:sp>
      <p:sp>
        <p:nvSpPr>
          <p:cNvPr id="14" name="Text 12"/>
          <p:cNvSpPr/>
          <p:nvPr/>
        </p:nvSpPr>
        <p:spPr>
          <a:xfrm>
            <a:off x="1645920" y="3995928"/>
            <a:ext cx="6766560" cy="512064"/>
          </a:xfrm>
          <a:prstGeom prst="rect">
            <a:avLst/>
          </a:prstGeom>
          <a:noFill/>
          <a:ln/>
        </p:spPr>
        <p:txBody>
          <a:bodyPr wrap="square" lIns="0" tIns="0" rIns="0" bIns="0" rtlCol="0" anchor="t"/>
          <a:lstStyle/>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Förderanträge, Preise, Sichtbarkeit, Werkzeuge</a:t>
            </a:r>
            <a:endParaRPr lang="en-US" sz="1250" dirty="0"/>
          </a:p>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und wo wir als Nächstes hingehen</a:t>
            </a:r>
            <a:endParaRPr lang="en-US" sz="1250" dirty="0"/>
          </a:p>
        </p:txBody>
      </p:sp>
      <p:sp>
        <p:nvSpPr>
          <p:cNvPr id="15" name="Shape 13"/>
          <p:cNvSpPr/>
          <p:nvPr/>
        </p:nvSpPr>
        <p:spPr>
          <a:xfrm>
            <a:off x="566928" y="4837176"/>
            <a:ext cx="11055096" cy="1298448"/>
          </a:xfrm>
          <a:prstGeom prst="roundRect">
            <a:avLst>
              <a:gd name="adj" fmla="val 6338"/>
            </a:avLst>
          </a:prstGeom>
          <a:solidFill>
            <a:srgbClr val="F5F6F3"/>
          </a:solidFill>
          <a:ln/>
          <a:effectLst>
            <a:outerShdw sx="100000" sy="100000" kx="0" ky="0" algn="bl" rotWithShape="0" blurRad="127000" dist="25400" dir="5400000">
              <a:srgbClr val="000000">
                <a:alpha val="7000"/>
              </a:srgbClr>
            </a:outerShdw>
          </a:effectLst>
        </p:spPr>
      </p:sp>
      <p:sp>
        <p:nvSpPr>
          <p:cNvPr id="16" name="Shape 14"/>
          <p:cNvSpPr/>
          <p:nvPr/>
        </p:nvSpPr>
        <p:spPr>
          <a:xfrm>
            <a:off x="896112" y="5221224"/>
            <a:ext cx="530352" cy="530352"/>
          </a:xfrm>
          <a:prstGeom prst="ellipse">
            <a:avLst/>
          </a:prstGeom>
          <a:solidFill>
            <a:srgbClr val="5B685D"/>
          </a:solidFill>
          <a:ln/>
        </p:spPr>
      </p:sp>
      <p:sp>
        <p:nvSpPr>
          <p:cNvPr id="17" name="Text 15"/>
          <p:cNvSpPr/>
          <p:nvPr/>
        </p:nvSpPr>
        <p:spPr>
          <a:xfrm>
            <a:off x="896112" y="5221224"/>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8" name="Text 16"/>
          <p:cNvSpPr/>
          <p:nvPr/>
        </p:nvSpPr>
        <p:spPr>
          <a:xfrm>
            <a:off x="1645920" y="5093208"/>
            <a:ext cx="4754880" cy="384048"/>
          </a:xfrm>
          <a:prstGeom prst="rect">
            <a:avLst/>
          </a:prstGeom>
          <a:noFill/>
          <a:ln/>
        </p:spPr>
        <p:txBody>
          <a:bodyPr wrap="square" lIns="0" tIns="0" rIns="0" bIns="0" rtlCol="0" anchor="ctr"/>
          <a:lstStyle/>
          <a:p>
            <a:pPr indent="0" marL="0">
              <a:buNone/>
            </a:pPr>
            <a:r>
              <a:rPr lang="en-US" sz="2100" b="1" dirty="0">
                <a:solidFill>
                  <a:srgbClr val="1A1819"/>
                </a:solidFill>
                <a:latin typeface="Trebuchet MS" pitchFamily="34" charset="0"/>
                <a:ea typeface="Trebuchet MS" pitchFamily="34" charset="-122"/>
                <a:cs typeface="Trebuchet MS" pitchFamily="34" charset="-120"/>
              </a:rPr>
              <a:t>Team</a:t>
            </a:r>
            <a:endParaRPr lang="en-US" sz="2100" dirty="0"/>
          </a:p>
        </p:txBody>
      </p:sp>
      <p:sp>
        <p:nvSpPr>
          <p:cNvPr id="19" name="Text 17"/>
          <p:cNvSpPr/>
          <p:nvPr/>
        </p:nvSpPr>
        <p:spPr>
          <a:xfrm>
            <a:off x="1645920" y="5477256"/>
            <a:ext cx="6766560" cy="512064"/>
          </a:xfrm>
          <a:prstGeom prst="rect">
            <a:avLst/>
          </a:prstGeom>
          <a:noFill/>
          <a:ln/>
        </p:spPr>
        <p:txBody>
          <a:bodyPr wrap="square" lIns="0" tIns="0" rIns="0" bIns="0" rtlCol="0" anchor="t"/>
          <a:lstStyle/>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Code of Conduct, Personelles, wen wir suchen</a:t>
            </a:r>
            <a:endParaRPr lang="en-US" sz="1250" dirty="0"/>
          </a:p>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und was in den nächsten Wochen ansteht</a:t>
            </a:r>
            <a:endParaRPr lang="en-US" sz="1250" dirty="0"/>
          </a:p>
        </p:txBody>
      </p:sp>
      <p:sp>
        <p:nvSpPr>
          <p:cNvPr id="20" name="Text 18"/>
          <p:cNvSpPr/>
          <p:nvPr/>
        </p:nvSpPr>
        <p:spPr>
          <a:xfrm>
            <a:off x="9793224" y="1874520"/>
            <a:ext cx="1645920" cy="365760"/>
          </a:xfrm>
          <a:prstGeom prst="rect">
            <a:avLst/>
          </a:prstGeom>
          <a:noFill/>
          <a:ln/>
        </p:spPr>
        <p:txBody>
          <a:bodyPr wrap="square" lIns="0" tIns="0" rIns="0" bIns="0" rtlCol="0" anchor="ctr"/>
          <a:lstStyle/>
          <a:p>
            <a:pPr algn="r" indent="0" marL="0">
              <a:buNone/>
            </a:pPr>
            <a:r>
              <a:rPr lang="en-US" sz="1200" b="1" dirty="0">
                <a:solidFill>
                  <a:srgbClr val="2E7D3A"/>
                </a:solidFill>
                <a:latin typeface="Calibri" pitchFamily="34" charset="0"/>
                <a:ea typeface="Calibri" pitchFamily="34" charset="-122"/>
                <a:cs typeface="Calibri" pitchFamily="34" charset="-120"/>
              </a:rPr>
              <a:t>~ 45 Min.</a:t>
            </a:r>
            <a:endParaRPr lang="en-US" sz="1200" dirty="0"/>
          </a:p>
        </p:txBody>
      </p:sp>
      <p:sp>
        <p:nvSpPr>
          <p:cNvPr id="22" name="Text 19"/>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WERK.E · Team-Meeting 07.08.2026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819"/>
        </a:solidFill>
      </p:bgPr>
    </p:bg>
    <p:spTree>
      <p:nvGrpSpPr>
        <p:cNvPr id="1" name=""/>
        <p:cNvGrpSpPr/>
        <p:nvPr/>
      </p:nvGrpSpPr>
      <p:grpSpPr>
        <a:xfrm>
          <a:off x="0" y="0"/>
          <a:ext cx="0" cy="0"/>
          <a:chOff x="0" y="0"/>
          <a:chExt cx="0" cy="0"/>
        </a:xfrm>
      </p:grpSpPr>
      <p:sp>
        <p:nvSpPr>
          <p:cNvPr id="2" name="Shape 0"/>
          <p:cNvSpPr/>
          <p:nvPr/>
        </p:nvSpPr>
        <p:spPr>
          <a:xfrm>
            <a:off x="9354312" y="-1371600"/>
            <a:ext cx="4572000" cy="4572000"/>
          </a:xfrm>
          <a:prstGeom prst="ellipse">
            <a:avLst/>
          </a:prstGeom>
          <a:solidFill>
            <a:srgbClr val="256A30"/>
          </a:solidFill>
          <a:ln/>
        </p:spPr>
      </p:sp>
      <p:sp>
        <p:nvSpPr>
          <p:cNvPr id="3" name="Shape 1"/>
          <p:cNvSpPr/>
          <p:nvPr/>
        </p:nvSpPr>
        <p:spPr>
          <a:xfrm>
            <a:off x="10725912" y="3566160"/>
            <a:ext cx="2377440" cy="2377440"/>
          </a:xfrm>
          <a:prstGeom prst="ellipse">
            <a:avLst/>
          </a:prstGeom>
          <a:solidFill>
            <a:srgbClr val="2E7D3A"/>
          </a:solidFill>
          <a:ln/>
        </p:spPr>
      </p:sp>
      <p:sp>
        <p:nvSpPr>
          <p:cNvPr id="4" name="Text 2"/>
          <p:cNvSpPr/>
          <p:nvPr/>
        </p:nvSpPr>
        <p:spPr>
          <a:xfrm>
            <a:off x="566928" y="1417320"/>
            <a:ext cx="2011680" cy="1371600"/>
          </a:xfrm>
          <a:prstGeom prst="rect">
            <a:avLst/>
          </a:prstGeom>
          <a:noFill/>
          <a:ln/>
        </p:spPr>
        <p:txBody>
          <a:bodyPr wrap="square" lIns="0" tIns="0" rIns="0" bIns="0" rtlCol="0" anchor="ctr"/>
          <a:lstStyle/>
          <a:p>
            <a:pPr indent="0" marL="0">
              <a:buNone/>
            </a:pPr>
            <a:r>
              <a:rPr lang="en-US" sz="8400" b="1" dirty="0">
                <a:solidFill>
                  <a:srgbClr val="58B264"/>
                </a:solidFill>
                <a:latin typeface="Trebuchet MS" pitchFamily="34" charset="0"/>
                <a:ea typeface="Trebuchet MS" pitchFamily="34" charset="-122"/>
                <a:cs typeface="Trebuchet MS" pitchFamily="34" charset="-120"/>
              </a:rPr>
              <a:t>01</a:t>
            </a:r>
            <a:endParaRPr lang="en-US" sz="8400" dirty="0"/>
          </a:p>
        </p:txBody>
      </p:sp>
      <p:sp>
        <p:nvSpPr>
          <p:cNvPr id="5" name="Text 3"/>
          <p:cNvSpPr/>
          <p:nvPr/>
        </p:nvSpPr>
        <p:spPr>
          <a:xfrm>
            <a:off x="566928" y="2788920"/>
            <a:ext cx="7498080" cy="274320"/>
          </a:xfrm>
          <a:prstGeom prst="rect">
            <a:avLst/>
          </a:prstGeom>
          <a:noFill/>
          <a:ln/>
        </p:spPr>
        <p:txBody>
          <a:bodyPr wrap="square" lIns="0" tIns="0" rIns="0" bIns="0" rtlCol="0" anchor="ctr"/>
          <a:lstStyle/>
          <a:p>
            <a:pPr indent="0" marL="0">
              <a:buNone/>
            </a:pPr>
            <a:r>
              <a:rPr lang="en-US" sz="1100" b="1" spc="180" kern="0" dirty="0">
                <a:solidFill>
                  <a:srgbClr val="BFDCC4"/>
                </a:solidFill>
                <a:latin typeface="Calibri" pitchFamily="34" charset="0"/>
                <a:ea typeface="Calibri" pitchFamily="34" charset="-122"/>
                <a:cs typeface="Calibri" pitchFamily="34" charset="-120"/>
              </a:rPr>
              <a:t>KAPITEL 1 · GESETZESLAGE</a:t>
            </a:r>
            <a:endParaRPr lang="en-US" sz="1100" dirty="0"/>
          </a:p>
        </p:txBody>
      </p:sp>
      <p:sp>
        <p:nvSpPr>
          <p:cNvPr id="6" name="Text 4"/>
          <p:cNvSpPr/>
          <p:nvPr/>
        </p:nvSpPr>
        <p:spPr>
          <a:xfrm>
            <a:off x="566928" y="3072384"/>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Das GModG gilt.</a:t>
            </a:r>
            <a:endParaRPr lang="en-US" sz="3800" dirty="0"/>
          </a:p>
        </p:txBody>
      </p:sp>
      <p:sp>
        <p:nvSpPr>
          <p:cNvPr id="7" name="Text 5"/>
          <p:cNvSpPr/>
          <p:nvPr/>
        </p:nvSpPr>
        <p:spPr>
          <a:xfrm>
            <a:off x="612648" y="4114800"/>
            <a:ext cx="7315200" cy="137160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Was ab sofort in der Beratung zählt</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Was sich zum 01.01.2027 grundlegend ändert</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Ein Förderfenster, das im November zufällt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ZWEI GESCHWINDIGKEITEN</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Was jetzt gilt - und was 2027 kommt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Das Gesetz kommt in Stufen. Für den Alltag zählt vor allem die linke Spalte.</a:t>
            </a:r>
            <a:endParaRPr lang="en-US" sz="1400" dirty="0"/>
          </a:p>
        </p:txBody>
      </p:sp>
      <p:sp>
        <p:nvSpPr>
          <p:cNvPr id="5" name="Shape 3"/>
          <p:cNvSpPr/>
          <p:nvPr/>
        </p:nvSpPr>
        <p:spPr>
          <a:xfrm>
            <a:off x="566928" y="1783080"/>
            <a:ext cx="5372100" cy="3246120"/>
          </a:xfrm>
          <a:prstGeom prst="roundRect">
            <a:avLst>
              <a:gd name="adj" fmla="val 2535"/>
            </a:avLst>
          </a:prstGeom>
          <a:solidFill>
            <a:srgbClr val="EDF5EE"/>
          </a:solidFill>
          <a:ln/>
        </p:spPr>
      </p:sp>
      <p:sp>
        <p:nvSpPr>
          <p:cNvPr id="6" name="Text 4"/>
          <p:cNvSpPr/>
          <p:nvPr/>
        </p:nvSpPr>
        <p:spPr>
          <a:xfrm>
            <a:off x="877824" y="1965960"/>
            <a:ext cx="4206240" cy="365760"/>
          </a:xfrm>
          <a:prstGeom prst="rect">
            <a:avLst/>
          </a:prstGeom>
          <a:noFill/>
          <a:ln/>
        </p:spPr>
        <p:txBody>
          <a:bodyPr wrap="square" lIns="0" tIns="0" rIns="0" bIns="0" rtlCol="0" anchor="ctr"/>
          <a:lstStyle/>
          <a:p>
            <a:pPr indent="0" marL="0">
              <a:buNone/>
            </a:pPr>
            <a:r>
              <a:rPr lang="en-US" sz="2100" b="1" dirty="0">
                <a:solidFill>
                  <a:srgbClr val="2E7D3A"/>
                </a:solidFill>
                <a:latin typeface="Trebuchet MS" pitchFamily="34" charset="0"/>
                <a:ea typeface="Trebuchet MS" pitchFamily="34" charset="-122"/>
                <a:cs typeface="Trebuchet MS" pitchFamily="34" charset="-120"/>
              </a:rPr>
              <a:t>Gilt ab sofort</a:t>
            </a:r>
            <a:endParaRPr lang="en-US" sz="2100" dirty="0"/>
          </a:p>
        </p:txBody>
      </p:sp>
      <p:sp>
        <p:nvSpPr>
          <p:cNvPr id="7" name="Text 5"/>
          <p:cNvSpPr/>
          <p:nvPr/>
        </p:nvSpPr>
        <p:spPr>
          <a:xfrm>
            <a:off x="914400" y="2395728"/>
            <a:ext cx="4677156" cy="2432304"/>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Die 65-%-EE-Pflicht ist gestrichen - samt Betriebsverboten und der 30-Jahre-Regel</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Stattdessen freie Wahl aus einem Optionenkatalog; wer fossil einbaut, bekommt ab 2029 steigende Bio-Anteile</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Die Pflichtberatung vor fossilem Einbau entfällt - wir dokumentieren unsere Empfehlung trotzdem schriftlich</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Bei irreparablem Ausfall gilt eine Karenz von 12 Monaten</a:t>
            </a:r>
            <a:endParaRPr lang="en-US" sz="1250" dirty="0"/>
          </a:p>
        </p:txBody>
      </p:sp>
      <p:sp>
        <p:nvSpPr>
          <p:cNvPr id="8" name="Shape 6"/>
          <p:cNvSpPr/>
          <p:nvPr/>
        </p:nvSpPr>
        <p:spPr>
          <a:xfrm>
            <a:off x="6249924" y="1783080"/>
            <a:ext cx="5372100" cy="3246120"/>
          </a:xfrm>
          <a:prstGeom prst="roundRect">
            <a:avLst>
              <a:gd name="adj" fmla="val 2535"/>
            </a:avLst>
          </a:prstGeom>
          <a:solidFill>
            <a:srgbClr val="F5F6F3"/>
          </a:solidFill>
          <a:ln/>
          <a:effectLst>
            <a:outerShdw sx="100000" sy="100000" kx="0" ky="0" algn="bl" rotWithShape="0" blurRad="127000" dist="25400" dir="5400000">
              <a:srgbClr val="000000">
                <a:alpha val="7000"/>
              </a:srgbClr>
            </a:outerShdw>
          </a:effectLst>
        </p:spPr>
      </p:sp>
      <p:sp>
        <p:nvSpPr>
          <p:cNvPr id="9" name="Text 7"/>
          <p:cNvSpPr/>
          <p:nvPr/>
        </p:nvSpPr>
        <p:spPr>
          <a:xfrm>
            <a:off x="6560820" y="1965960"/>
            <a:ext cx="4206240" cy="365760"/>
          </a:xfrm>
          <a:prstGeom prst="rect">
            <a:avLst/>
          </a:prstGeom>
          <a:noFill/>
          <a:ln/>
        </p:spPr>
        <p:txBody>
          <a:bodyPr wrap="square" lIns="0" tIns="0" rIns="0" bIns="0" rtlCol="0" anchor="ctr"/>
          <a:lstStyle/>
          <a:p>
            <a:pPr indent="0" marL="0">
              <a:buNone/>
            </a:pPr>
            <a:r>
              <a:rPr lang="en-US" sz="2100" b="1" dirty="0">
                <a:solidFill>
                  <a:srgbClr val="1A1819"/>
                </a:solidFill>
                <a:latin typeface="Trebuchet MS" pitchFamily="34" charset="0"/>
                <a:ea typeface="Trebuchet MS" pitchFamily="34" charset="-122"/>
                <a:cs typeface="Trebuchet MS" pitchFamily="34" charset="-120"/>
              </a:rPr>
              <a:t>Kommt zu Stufe 2</a:t>
            </a:r>
            <a:endParaRPr lang="en-US" sz="2100" dirty="0"/>
          </a:p>
        </p:txBody>
      </p:sp>
      <p:sp>
        <p:nvSpPr>
          <p:cNvPr id="10" name="Text 8"/>
          <p:cNvSpPr/>
          <p:nvPr/>
        </p:nvSpPr>
        <p:spPr>
          <a:xfrm>
            <a:off x="6597396" y="2395728"/>
            <a:ext cx="4677156" cy="2432304"/>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Neue Rechenregeln und eine neue Bezugsfläche für jede Bilanz</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Neues Ausweisrecht: Nichtwohngebäude nur noch mit Bedarfsausweis</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Erstmals Sanierungspflicht im Nichtwohn-Bestand</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Bundesweite Solarpflicht und die GEIG-Pflichten für Stellplätze</a:t>
            </a:r>
            <a:endParaRPr lang="en-US" sz="1250" dirty="0"/>
          </a:p>
        </p:txBody>
      </p:sp>
      <p:sp>
        <p:nvSpPr>
          <p:cNvPr id="11" name="Shape 9"/>
          <p:cNvSpPr/>
          <p:nvPr/>
        </p:nvSpPr>
        <p:spPr>
          <a:xfrm>
            <a:off x="566928" y="5285232"/>
            <a:ext cx="11055096" cy="841248"/>
          </a:xfrm>
          <a:prstGeom prst="roundRect">
            <a:avLst>
              <a:gd name="adj" fmla="val 9783"/>
            </a:avLst>
          </a:prstGeom>
          <a:solidFill>
            <a:srgbClr val="1A1819"/>
          </a:solidFill>
          <a:ln/>
        </p:spPr>
      </p:sp>
      <p:sp>
        <p:nvSpPr>
          <p:cNvPr id="12" name="Text 10"/>
          <p:cNvSpPr/>
          <p:nvPr/>
        </p:nvSpPr>
        <p:spPr>
          <a:xfrm>
            <a:off x="859536" y="5376672"/>
            <a:ext cx="10469880" cy="256032"/>
          </a:xfrm>
          <a:prstGeom prst="rect">
            <a:avLst/>
          </a:prstGeom>
          <a:noFill/>
          <a:ln/>
        </p:spPr>
        <p:txBody>
          <a:bodyPr wrap="square" lIns="0" tIns="0" rIns="0" bIns="0" rtlCol="0" anchor="ctr"/>
          <a:lstStyle/>
          <a:p>
            <a:pPr indent="0" marL="0">
              <a:buNone/>
            </a:pPr>
            <a:r>
              <a:rPr lang="en-US" sz="1400" b="1" dirty="0">
                <a:solidFill>
                  <a:srgbClr val="58B264"/>
                </a:solidFill>
                <a:latin typeface="Trebuchet MS" pitchFamily="34" charset="0"/>
                <a:ea typeface="Trebuchet MS" pitchFamily="34" charset="-122"/>
                <a:cs typeface="Trebuchet MS" pitchFamily="34" charset="-120"/>
              </a:rPr>
              <a:t>Wann genau ist Stufe 2?</a:t>
            </a:r>
            <a:endParaRPr lang="en-US" sz="1400" dirty="0"/>
          </a:p>
        </p:txBody>
      </p:sp>
      <p:sp>
        <p:nvSpPr>
          <p:cNvPr id="13" name="Text 11"/>
          <p:cNvSpPr/>
          <p:nvPr/>
        </p:nvSpPr>
        <p:spPr>
          <a:xfrm>
            <a:off x="859536" y="5632704"/>
            <a:ext cx="10469880" cy="402336"/>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Erster Tag des sechsten Kalendermonats nach der Verkündung - nach heutigem Stand rund um den 01.01.2027. Bis dahin rechnen und bescheinigen wir unverändert wie bisher.</a:t>
            </a:r>
            <a:endParaRPr lang="en-US" sz="1250" dirty="0"/>
          </a:p>
        </p:txBody>
      </p:sp>
      <p:sp>
        <p:nvSpPr>
          <p:cNvPr id="15" name="Text 12"/>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GModG · Artikel 9 (Inkrafttreten)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ARTIKEL 9</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Ein Gesetz, fünf Zeitstufen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Fast alles hat ein Datum. Wer die Fristen kennt, plant Projekte rechtssicher.</a:t>
            </a:r>
            <a:endParaRPr lang="en-US" sz="1400" dirty="0"/>
          </a:p>
        </p:txBody>
      </p:sp>
      <p:sp>
        <p:nvSpPr>
          <p:cNvPr id="5" name="Shape 3"/>
          <p:cNvSpPr/>
          <p:nvPr/>
        </p:nvSpPr>
        <p:spPr>
          <a:xfrm>
            <a:off x="566928" y="1810512"/>
            <a:ext cx="2064715" cy="694944"/>
          </a:xfrm>
          <a:prstGeom prst="roundRect">
            <a:avLst>
              <a:gd name="adj" fmla="val 10526"/>
            </a:avLst>
          </a:prstGeom>
          <a:solidFill>
            <a:srgbClr val="2E7D3A"/>
          </a:solidFill>
          <a:ln/>
        </p:spPr>
      </p:sp>
      <p:sp>
        <p:nvSpPr>
          <p:cNvPr id="6" name="Text 4"/>
          <p:cNvSpPr/>
          <p:nvPr/>
        </p:nvSpPr>
        <p:spPr>
          <a:xfrm>
            <a:off x="640080"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FFFFFF"/>
                </a:solidFill>
                <a:latin typeface="Trebuchet MS" pitchFamily="34" charset="0"/>
                <a:ea typeface="Trebuchet MS" pitchFamily="34" charset="-122"/>
                <a:cs typeface="Trebuchet MS" pitchFamily="34" charset="-120"/>
              </a:rPr>
              <a:t>Ab sofort</a:t>
            </a:r>
            <a:endParaRPr lang="en-US" sz="1300" dirty="0"/>
          </a:p>
        </p:txBody>
      </p:sp>
      <p:sp>
        <p:nvSpPr>
          <p:cNvPr id="7" name="Shape 5"/>
          <p:cNvSpPr/>
          <p:nvPr/>
        </p:nvSpPr>
        <p:spPr>
          <a:xfrm>
            <a:off x="566928" y="2615184"/>
            <a:ext cx="2064715" cy="2395728"/>
          </a:xfrm>
          <a:prstGeom prst="roundRect">
            <a:avLst>
              <a:gd name="adj" fmla="val 3986"/>
            </a:avLst>
          </a:prstGeom>
          <a:solidFill>
            <a:srgbClr val="F5F6F3"/>
          </a:solidFill>
          <a:ln/>
        </p:spPr>
      </p:sp>
      <p:sp>
        <p:nvSpPr>
          <p:cNvPr id="8" name="Text 6"/>
          <p:cNvSpPr/>
          <p:nvPr/>
        </p:nvSpPr>
        <p:spPr>
          <a:xfrm>
            <a:off x="749808"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65 % und Betriebs-</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verbote gestrichen</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Neues Heizungsrecht</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Havarie-Regeln</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Neues Mietrecht</a:t>
            </a:r>
            <a:endParaRPr lang="en-US" sz="1050" dirty="0"/>
          </a:p>
        </p:txBody>
      </p:sp>
      <p:sp>
        <p:nvSpPr>
          <p:cNvPr id="9" name="Shape 7"/>
          <p:cNvSpPr/>
          <p:nvPr/>
        </p:nvSpPr>
        <p:spPr>
          <a:xfrm>
            <a:off x="2814523" y="1810512"/>
            <a:ext cx="2064715" cy="694944"/>
          </a:xfrm>
          <a:prstGeom prst="roundRect">
            <a:avLst>
              <a:gd name="adj" fmla="val 10526"/>
            </a:avLst>
          </a:prstGeom>
          <a:solidFill>
            <a:srgbClr val="58B264"/>
          </a:solidFill>
          <a:ln/>
        </p:spPr>
      </p:sp>
      <p:sp>
        <p:nvSpPr>
          <p:cNvPr id="10" name="Text 8"/>
          <p:cNvSpPr/>
          <p:nvPr/>
        </p:nvSpPr>
        <p:spPr>
          <a:xfrm>
            <a:off x="2887675"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FFFFFF"/>
                </a:solidFill>
                <a:latin typeface="Trebuchet MS" pitchFamily="34" charset="0"/>
                <a:ea typeface="Trebuchet MS" pitchFamily="34" charset="-122"/>
                <a:cs typeface="Trebuchet MS" pitchFamily="34" charset="-120"/>
              </a:rPr>
              <a:t>≈ 01.01.2027</a:t>
            </a:r>
            <a:endParaRPr lang="en-US" sz="1300" dirty="0"/>
          </a:p>
          <a:p>
            <a:pPr algn="ctr" indent="0" marL="0">
              <a:lnSpc>
                <a:spcPts val="1600"/>
              </a:lnSpc>
              <a:buNone/>
            </a:pPr>
            <a:r>
              <a:rPr lang="en-US" sz="1300" b="1" dirty="0">
                <a:solidFill>
                  <a:srgbClr val="FFFFFF"/>
                </a:solidFill>
                <a:latin typeface="Trebuchet MS" pitchFamily="34" charset="0"/>
                <a:ea typeface="Trebuchet MS" pitchFamily="34" charset="-122"/>
                <a:cs typeface="Trebuchet MS" pitchFamily="34" charset="-120"/>
              </a:rPr>
              <a:t>Stufe 2</a:t>
            </a:r>
            <a:endParaRPr lang="en-US" sz="1300" dirty="0"/>
          </a:p>
        </p:txBody>
      </p:sp>
      <p:sp>
        <p:nvSpPr>
          <p:cNvPr id="11" name="Shape 9"/>
          <p:cNvSpPr/>
          <p:nvPr/>
        </p:nvSpPr>
        <p:spPr>
          <a:xfrm>
            <a:off x="2814523" y="2615184"/>
            <a:ext cx="2064715" cy="2395728"/>
          </a:xfrm>
          <a:prstGeom prst="roundRect">
            <a:avLst>
              <a:gd name="adj" fmla="val 3986"/>
            </a:avLst>
          </a:prstGeom>
          <a:solidFill>
            <a:srgbClr val="F5F6F3"/>
          </a:solidFill>
          <a:ln/>
        </p:spPr>
      </p:sp>
      <p:sp>
        <p:nvSpPr>
          <p:cNvPr id="12" name="Text 10"/>
          <p:cNvSpPr/>
          <p:nvPr/>
        </p:nvSpPr>
        <p:spPr>
          <a:xfrm>
            <a:off x="2997403"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Rechenregeln neu</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Ausweisrecht neu</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NWG-Sanierungspflicht</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Solarpflicht + GEIG</a:t>
            </a:r>
            <a:endParaRPr lang="en-US" sz="1050" dirty="0"/>
          </a:p>
        </p:txBody>
      </p:sp>
      <p:sp>
        <p:nvSpPr>
          <p:cNvPr id="13" name="Shape 11"/>
          <p:cNvSpPr/>
          <p:nvPr/>
        </p:nvSpPr>
        <p:spPr>
          <a:xfrm>
            <a:off x="5062118" y="1810512"/>
            <a:ext cx="2064715" cy="694944"/>
          </a:xfrm>
          <a:prstGeom prst="roundRect">
            <a:avLst>
              <a:gd name="adj" fmla="val 10526"/>
            </a:avLst>
          </a:prstGeom>
          <a:solidFill>
            <a:srgbClr val="BFDCC4"/>
          </a:solidFill>
          <a:ln/>
        </p:spPr>
      </p:sp>
      <p:sp>
        <p:nvSpPr>
          <p:cNvPr id="14" name="Text 12"/>
          <p:cNvSpPr/>
          <p:nvPr/>
        </p:nvSpPr>
        <p:spPr>
          <a:xfrm>
            <a:off x="5135270"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01.01.2028</a:t>
            </a:r>
            <a:endParaRPr lang="en-US" sz="1300" dirty="0"/>
          </a:p>
        </p:txBody>
      </p:sp>
      <p:sp>
        <p:nvSpPr>
          <p:cNvPr id="15" name="Shape 13"/>
          <p:cNvSpPr/>
          <p:nvPr/>
        </p:nvSpPr>
        <p:spPr>
          <a:xfrm>
            <a:off x="5062118" y="2615184"/>
            <a:ext cx="2064715" cy="2395728"/>
          </a:xfrm>
          <a:prstGeom prst="roundRect">
            <a:avLst>
              <a:gd name="adj" fmla="val 3986"/>
            </a:avLst>
          </a:prstGeom>
          <a:solidFill>
            <a:srgbClr val="F5F6F3"/>
          </a:solidFill>
          <a:ln/>
        </p:spPr>
      </p:sp>
      <p:sp>
        <p:nvSpPr>
          <p:cNvPr id="16" name="Text 14"/>
          <p:cNvSpPr/>
          <p:nvPr/>
        </p:nvSpPr>
        <p:spPr>
          <a:xfrm>
            <a:off x="5244998"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Nullemission neue</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öventliche NWG</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CO₂ + Netzentgelte</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hälftig</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THG-Bericht ab</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1.000 m²</a:t>
            </a:r>
            <a:endParaRPr lang="en-US" sz="1050" dirty="0"/>
          </a:p>
        </p:txBody>
      </p:sp>
      <p:sp>
        <p:nvSpPr>
          <p:cNvPr id="17" name="Shape 15"/>
          <p:cNvSpPr/>
          <p:nvPr/>
        </p:nvSpPr>
        <p:spPr>
          <a:xfrm>
            <a:off x="7309714" y="1810512"/>
            <a:ext cx="2064715" cy="694944"/>
          </a:xfrm>
          <a:prstGeom prst="roundRect">
            <a:avLst>
              <a:gd name="adj" fmla="val 10526"/>
            </a:avLst>
          </a:prstGeom>
          <a:solidFill>
            <a:srgbClr val="BFDCC4"/>
          </a:solidFill>
          <a:ln/>
        </p:spPr>
      </p:sp>
      <p:sp>
        <p:nvSpPr>
          <p:cNvPr id="18" name="Text 16"/>
          <p:cNvSpPr/>
          <p:nvPr/>
        </p:nvSpPr>
        <p:spPr>
          <a:xfrm>
            <a:off x="7382866"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01.01.2029</a:t>
            </a:r>
            <a:endParaRPr lang="en-US" sz="1300" dirty="0"/>
          </a:p>
        </p:txBody>
      </p:sp>
      <p:sp>
        <p:nvSpPr>
          <p:cNvPr id="19" name="Shape 17"/>
          <p:cNvSpPr/>
          <p:nvPr/>
        </p:nvSpPr>
        <p:spPr>
          <a:xfrm>
            <a:off x="7309714" y="2615184"/>
            <a:ext cx="2064715" cy="2395728"/>
          </a:xfrm>
          <a:prstGeom prst="roundRect">
            <a:avLst>
              <a:gd name="adj" fmla="val 3986"/>
            </a:avLst>
          </a:prstGeom>
          <a:solidFill>
            <a:srgbClr val="F5F6F3"/>
          </a:solidFill>
          <a:ln/>
        </p:spPr>
      </p:sp>
      <p:sp>
        <p:nvSpPr>
          <p:cNvPr id="20" name="Text 18"/>
          <p:cNvSpPr/>
          <p:nvPr/>
        </p:nvSpPr>
        <p:spPr>
          <a:xfrm>
            <a:off x="7492594"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Bio-Anteil 10 % für</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neue fossile Kessel</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Brennstoffkosten</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hälftig</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Gebäudeautomation</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bis Ende 2029</a:t>
            </a:r>
            <a:endParaRPr lang="en-US" sz="1050" dirty="0"/>
          </a:p>
        </p:txBody>
      </p:sp>
      <p:sp>
        <p:nvSpPr>
          <p:cNvPr id="21" name="Shape 19"/>
          <p:cNvSpPr/>
          <p:nvPr/>
        </p:nvSpPr>
        <p:spPr>
          <a:xfrm>
            <a:off x="9557309" y="1810512"/>
            <a:ext cx="2064715" cy="694944"/>
          </a:xfrm>
          <a:prstGeom prst="roundRect">
            <a:avLst>
              <a:gd name="adj" fmla="val 10526"/>
            </a:avLst>
          </a:prstGeom>
          <a:solidFill>
            <a:srgbClr val="BFDCC4"/>
          </a:solidFill>
          <a:ln/>
        </p:spPr>
      </p:sp>
      <p:sp>
        <p:nvSpPr>
          <p:cNvPr id="22" name="Text 20"/>
          <p:cNvSpPr/>
          <p:nvPr/>
        </p:nvSpPr>
        <p:spPr>
          <a:xfrm>
            <a:off x="9630461"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01.01.2030</a:t>
            </a:r>
            <a:endParaRPr lang="en-US" sz="1300" dirty="0"/>
          </a:p>
        </p:txBody>
      </p:sp>
      <p:sp>
        <p:nvSpPr>
          <p:cNvPr id="23" name="Shape 21"/>
          <p:cNvSpPr/>
          <p:nvPr/>
        </p:nvSpPr>
        <p:spPr>
          <a:xfrm>
            <a:off x="9557309" y="2615184"/>
            <a:ext cx="2064715" cy="2395728"/>
          </a:xfrm>
          <a:prstGeom prst="roundRect">
            <a:avLst>
              <a:gd name="adj" fmla="val 3986"/>
            </a:avLst>
          </a:prstGeom>
          <a:solidFill>
            <a:srgbClr val="F5F6F3"/>
          </a:solidFill>
          <a:ln/>
        </p:spPr>
      </p:sp>
      <p:sp>
        <p:nvSpPr>
          <p:cNvPr id="24" name="Text 22"/>
          <p:cNvSpPr/>
          <p:nvPr/>
        </p:nvSpPr>
        <p:spPr>
          <a:xfrm>
            <a:off x="9740189"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Nullemission alle</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Neubauten</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Referenz-fp 0,70</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NWG max. 3,5 ×</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Referenz</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Solarpflicht neue WG</a:t>
            </a:r>
            <a:endParaRPr lang="en-US" sz="1050" dirty="0"/>
          </a:p>
        </p:txBody>
      </p:sp>
      <p:sp>
        <p:nvSpPr>
          <p:cNvPr id="25" name="Shape 23"/>
          <p:cNvSpPr/>
          <p:nvPr/>
        </p:nvSpPr>
        <p:spPr>
          <a:xfrm>
            <a:off x="566928" y="5175504"/>
            <a:ext cx="11055096" cy="566928"/>
          </a:xfrm>
          <a:prstGeom prst="roundRect">
            <a:avLst>
              <a:gd name="adj" fmla="val 14516"/>
            </a:avLst>
          </a:prstGeom>
          <a:solidFill>
            <a:srgbClr val="FFF6E0"/>
          </a:solidFill>
          <a:ln w="12700">
            <a:solidFill>
              <a:srgbClr val="E8CC8A"/>
            </a:solidFill>
            <a:prstDash val="solid"/>
          </a:ln>
        </p:spPr>
      </p:sp>
      <p:sp>
        <p:nvSpPr>
          <p:cNvPr id="26" name="Text 24"/>
          <p:cNvSpPr/>
          <p:nvPr/>
        </p:nvSpPr>
        <p:spPr>
          <a:xfrm>
            <a:off x="768096" y="5230368"/>
            <a:ext cx="10652760" cy="457200"/>
          </a:xfrm>
          <a:prstGeom prst="rect">
            <a:avLst/>
          </a:prstGeom>
          <a:noFill/>
          <a:ln/>
        </p:spPr>
        <p:txBody>
          <a:bodyPr wrap="square" lIns="0" tIns="0" rIns="0" bIns="0" rtlCol="0" anchor="ctr"/>
          <a:lstStyle/>
          <a:p>
            <a:pPr indent="0" marL="0">
              <a:buNone/>
            </a:pPr>
            <a:r>
              <a:rPr lang="en-US" sz="1200" b="1" dirty="0">
                <a:solidFill>
                  <a:srgbClr val="8A6100"/>
                </a:solidFill>
                <a:latin typeface="Calibri" pitchFamily="34" charset="0"/>
                <a:ea typeface="Calibri" pitchFamily="34" charset="-122"/>
                <a:cs typeface="Calibri" pitchFamily="34" charset="-120"/>
              </a:rPr>
              <a:t>Danach:  </a:t>
            </a:r>
            <a:pPr indent="0" marL="0">
              <a:buNone/>
            </a:pPr>
            <a:r>
              <a:rPr lang="en-US" sz="1200" dirty="0">
                <a:solidFill>
                  <a:srgbClr val="1A1819"/>
                </a:solidFill>
                <a:latin typeface="Calibri" pitchFamily="34" charset="0"/>
                <a:ea typeface="Calibri" pitchFamily="34" charset="-122"/>
                <a:cs typeface="Calibri" pitchFamily="34" charset="-120"/>
              </a:rPr>
              <a:t>2033 zweite NWG-Stufe  ·  2035 Bio-Anteil 30 %  ·  2040 Bio-Anteil 60 %  ·  2045 Brennstoffe klimaneutral über die Lieferantenquote</a:t>
            </a:r>
            <a:endParaRPr lang="en-US" sz="1200" dirty="0"/>
          </a:p>
        </p:txBody>
      </p:sp>
      <p:sp>
        <p:nvSpPr>
          <p:cNvPr id="28" name="Text 2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Artikel 9 des Änderungsgesetzes · BT-Drs. 21/7009, S. 159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AB STUFE 2 (≈ 01.01.2027)</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Ab 2027 rechnen wir anders</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Neue Norm, neue Bezugsfläche. Betrifft jede Bilanz und jeden Ausweis, den wir danach ausstellen.</a:t>
            </a:r>
            <a:endParaRPr lang="en-US" sz="1400" dirty="0"/>
          </a:p>
        </p:txBody>
      </p:sp>
      <p:sp>
        <p:nvSpPr>
          <p:cNvPr id="5" name="Shape 3"/>
          <p:cNvSpPr/>
          <p:nvPr/>
        </p:nvSpPr>
        <p:spPr>
          <a:xfrm>
            <a:off x="566928" y="1828800"/>
            <a:ext cx="5372100" cy="2212848"/>
          </a:xfrm>
          <a:prstGeom prst="roundRect">
            <a:avLst>
              <a:gd name="adj" fmla="val 3719"/>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59536" y="2011680"/>
            <a:ext cx="3657600"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Die Norm</a:t>
            </a:r>
            <a:endParaRPr lang="en-US" sz="1700" dirty="0"/>
          </a:p>
        </p:txBody>
      </p:sp>
      <p:sp>
        <p:nvSpPr>
          <p:cNvPr id="7" name="Text 5"/>
          <p:cNvSpPr/>
          <p:nvPr/>
        </p:nvSpPr>
        <p:spPr>
          <a:xfrm>
            <a:off x="896112" y="2395728"/>
            <a:ext cx="4713732" cy="148132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DIN/TS 18599:2025-10 wird das einzige Bilanzierungsverfahren</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DIN V 4701-10 und das alte Modellgebäudeverfahren entfallen</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Nutzungsprofile rutschen von Tabelle 5 in Tabelle 6</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U-Wert-Normen aktualisiert (DIN 4108-4, DIN EN ISO 6946)</a:t>
            </a:r>
            <a:endParaRPr lang="en-US" sz="1150" dirty="0"/>
          </a:p>
        </p:txBody>
      </p:sp>
      <p:sp>
        <p:nvSpPr>
          <p:cNvPr id="8" name="Shape 6"/>
          <p:cNvSpPr/>
          <p:nvPr/>
        </p:nvSpPr>
        <p:spPr>
          <a:xfrm>
            <a:off x="6249924" y="1828800"/>
            <a:ext cx="5372100" cy="2212848"/>
          </a:xfrm>
          <a:prstGeom prst="roundRect">
            <a:avLst>
              <a:gd name="adj" fmla="val 3719"/>
            </a:avLst>
          </a:prstGeom>
          <a:solidFill>
            <a:srgbClr val="F5F6F3"/>
          </a:solidFill>
          <a:ln/>
          <a:effectLst>
            <a:outerShdw sx="100000" sy="100000" kx="0" ky="0" algn="bl" rotWithShape="0" blurRad="127000" dist="25400" dir="5400000">
              <a:srgbClr val="000000">
                <a:alpha val="7000"/>
              </a:srgbClr>
            </a:outerShdw>
          </a:effectLst>
        </p:spPr>
      </p:sp>
      <p:sp>
        <p:nvSpPr>
          <p:cNvPr id="9" name="Text 7"/>
          <p:cNvSpPr/>
          <p:nvPr/>
        </p:nvSpPr>
        <p:spPr>
          <a:xfrm>
            <a:off x="6542532" y="2011680"/>
            <a:ext cx="3657600"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Die Bezugsfläche</a:t>
            </a:r>
            <a:endParaRPr lang="en-US" sz="1700" dirty="0"/>
          </a:p>
        </p:txBody>
      </p:sp>
      <p:sp>
        <p:nvSpPr>
          <p:cNvPr id="10" name="Text 8"/>
          <p:cNvSpPr/>
          <p:nvPr/>
        </p:nvSpPr>
        <p:spPr>
          <a:xfrm>
            <a:off x="6579108" y="2395728"/>
            <a:ext cx="4713732" cy="148132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Bisher Wohngebäude: AN = 0,32 · Ve - eine Rechengröße, meist größer als die echte Wohnfläche</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Bisher Nichtwohngebäude: Nettogrundfläche</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Neu für beide: „Nutzfläche" = die tatsächlich beheizte oder gekühlte Nettoraumfläche nach DIN 277:2021-08</a:t>
            </a:r>
            <a:endParaRPr lang="en-US" sz="1150" dirty="0"/>
          </a:p>
        </p:txBody>
      </p:sp>
      <p:sp>
        <p:nvSpPr>
          <p:cNvPr id="11" name="Shape 9"/>
          <p:cNvSpPr/>
          <p:nvPr/>
        </p:nvSpPr>
        <p:spPr>
          <a:xfrm>
            <a:off x="566928" y="4224528"/>
            <a:ext cx="11055096" cy="1024128"/>
          </a:xfrm>
          <a:prstGeom prst="roundRect">
            <a:avLst>
              <a:gd name="adj" fmla="val 8036"/>
            </a:avLst>
          </a:prstGeom>
          <a:solidFill>
            <a:srgbClr val="1A1819"/>
          </a:solidFill>
          <a:ln/>
        </p:spPr>
      </p:sp>
      <p:sp>
        <p:nvSpPr>
          <p:cNvPr id="12" name="Text 10"/>
          <p:cNvSpPr/>
          <p:nvPr/>
        </p:nvSpPr>
        <p:spPr>
          <a:xfrm>
            <a:off x="859536" y="4352544"/>
            <a:ext cx="10469880" cy="274320"/>
          </a:xfrm>
          <a:prstGeom prst="rect">
            <a:avLst/>
          </a:prstGeom>
          <a:noFill/>
          <a:ln/>
        </p:spPr>
        <p:txBody>
          <a:bodyPr wrap="square" lIns="0" tIns="0" rIns="0" bIns="0" rtlCol="0" anchor="ctr"/>
          <a:lstStyle/>
          <a:p>
            <a:pPr indent="0" marL="0">
              <a:buNone/>
            </a:pPr>
            <a:r>
              <a:rPr lang="en-US" sz="1500" b="1" dirty="0">
                <a:solidFill>
                  <a:srgbClr val="58B264"/>
                </a:solidFill>
                <a:latin typeface="Trebuchet MS" pitchFamily="34" charset="0"/>
                <a:ea typeface="Trebuchet MS" pitchFamily="34" charset="-122"/>
                <a:cs typeface="Trebuchet MS" pitchFamily="34" charset="-120"/>
              </a:rPr>
              <a:t>Die Folge - und unsere wichtigste Kundenbotschaft</a:t>
            </a:r>
            <a:endParaRPr lang="en-US" sz="1500" dirty="0"/>
          </a:p>
        </p:txBody>
      </p:sp>
      <p:sp>
        <p:nvSpPr>
          <p:cNvPr id="13" name="Text 11"/>
          <p:cNvSpPr/>
          <p:nvPr/>
        </p:nvSpPr>
        <p:spPr>
          <a:xfrm>
            <a:off x="859536" y="4645152"/>
            <a:ext cx="10469880" cy="475488"/>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Alle kWh/m²-Kennwerte verschieben sich systematisch. Alte und neue Ausweise sind nicht mehr direkt vergleichbar. Das müssen wir aktiv erklären, bevor der Kunde es selbst merkt und uns einen Rechenfehler unterstellt.</a:t>
            </a:r>
            <a:endParaRPr lang="en-US" sz="1250" dirty="0"/>
          </a:p>
        </p:txBody>
      </p:sp>
      <p:sp>
        <p:nvSpPr>
          <p:cNvPr id="14" name="Shape 12"/>
          <p:cNvSpPr/>
          <p:nvPr/>
        </p:nvSpPr>
        <p:spPr>
          <a:xfrm>
            <a:off x="566928" y="5431536"/>
            <a:ext cx="11055096" cy="658368"/>
          </a:xfrm>
          <a:prstGeom prst="roundRect">
            <a:avLst>
              <a:gd name="adj" fmla="val 12500"/>
            </a:avLst>
          </a:prstGeom>
          <a:solidFill>
            <a:srgbClr val="EDF5EE"/>
          </a:solidFill>
          <a:ln/>
        </p:spPr>
      </p:sp>
      <p:sp>
        <p:nvSpPr>
          <p:cNvPr id="15" name="Text 13"/>
          <p:cNvSpPr/>
          <p:nvPr/>
        </p:nvSpPr>
        <p:spPr>
          <a:xfrm>
            <a:off x="841248" y="5431536"/>
            <a:ext cx="10506456" cy="658368"/>
          </a:xfrm>
          <a:prstGeom prst="rect">
            <a:avLst/>
          </a:prstGeom>
          <a:noFill/>
          <a:ln/>
        </p:spPr>
        <p:txBody>
          <a:bodyPr wrap="square" lIns="0" tIns="0" rIns="0" bIns="0" rtlCol="0" anchor="ctr"/>
          <a:lstStyle/>
          <a:p>
            <a:pPr indent="0" marL="0">
              <a:buNone/>
            </a:pPr>
            <a:r>
              <a:rPr lang="en-US" sz="1250" b="1" dirty="0">
                <a:solidFill>
                  <a:srgbClr val="2E7D3A"/>
                </a:solidFill>
                <a:latin typeface="Calibri" pitchFamily="34" charset="0"/>
                <a:ea typeface="Calibri" pitchFamily="34" charset="-122"/>
                <a:cs typeface="Calibri" pitchFamily="34" charset="-120"/>
              </a:rPr>
              <a:t>Was wir vorbereiten:  </a:t>
            </a:r>
            <a:pPr indent="0" marL="0">
              <a:buNone/>
            </a:pPr>
            <a:r>
              <a:rPr lang="en-US" sz="1250" dirty="0">
                <a:solidFill>
                  <a:srgbClr val="1A1819"/>
                </a:solidFill>
                <a:latin typeface="Calibri" pitchFamily="34" charset="0"/>
                <a:ea typeface="Calibri" pitchFamily="34" charset="-122"/>
                <a:cs typeface="Calibri" pitchFamily="34" charset="-120"/>
              </a:rPr>
              <a:t>Software-Update Hottgenroth rechtzeitig einspielen. Projekte mit Fertigstellung ab 2027 schon jetzt vorausschauend kalkulieren.</a:t>
            </a:r>
            <a:endParaRPr lang="en-US" sz="1250" dirty="0"/>
          </a:p>
        </p:txBody>
      </p:sp>
      <p:sp>
        <p:nvSpPr>
          <p:cNvPr id="17" name="Text 14"/>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20-30 und § 3 Nr. 26 GModG · Artikel 2, Stufe 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GEIG</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Ladeinfrastruktur: wer muss wann verkabeln?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Gilt ab Stufe 2. Bei Neubau, großer Renovierung und Dachsanierung früh mitdenken.</a:t>
            </a:r>
            <a:endParaRPr lang="en-US" sz="1400" dirty="0"/>
          </a:p>
        </p:txBody>
      </p:sp>
      <p:sp>
        <p:nvSpPr>
          <p:cNvPr id="5" name="Shape 3"/>
          <p:cNvSpPr/>
          <p:nvPr/>
        </p:nvSpPr>
        <p:spPr>
          <a:xfrm>
            <a:off x="566928" y="1847088"/>
            <a:ext cx="11055096" cy="822960"/>
          </a:xfrm>
          <a:prstGeom prst="roundRect">
            <a:avLst>
              <a:gd name="adj" fmla="val 10000"/>
            </a:avLst>
          </a:prstGeom>
          <a:solidFill>
            <a:srgbClr val="F5F6F3"/>
          </a:solidFill>
          <a:ln/>
          <a:effectLst>
            <a:outerShdw sx="100000" sy="100000" kx="0" ky="0" algn="bl" rotWithShape="0" blurRad="127000" dist="25400" dir="5400000">
              <a:srgbClr val="000000">
                <a:alpha val="7000"/>
              </a:srgbClr>
            </a:outerShdw>
          </a:effectLst>
        </p:spPr>
      </p:sp>
      <p:sp>
        <p:nvSpPr>
          <p:cNvPr id="6" name="Shape 4"/>
          <p:cNvSpPr/>
          <p:nvPr/>
        </p:nvSpPr>
        <p:spPr>
          <a:xfrm>
            <a:off x="841248" y="2075688"/>
            <a:ext cx="365760" cy="365760"/>
          </a:xfrm>
          <a:prstGeom prst="ellipse">
            <a:avLst/>
          </a:prstGeom>
          <a:solidFill>
            <a:srgbClr val="58B264"/>
          </a:solidFill>
          <a:ln/>
        </p:spPr>
      </p:sp>
      <p:sp>
        <p:nvSpPr>
          <p:cNvPr id="7" name="Text 5"/>
          <p:cNvSpPr/>
          <p:nvPr/>
        </p:nvSpPr>
        <p:spPr>
          <a:xfrm>
            <a:off x="841248" y="20756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71600" y="1938528"/>
            <a:ext cx="3108960"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Neubau Wohngebäude</a:t>
            </a:r>
            <a:endParaRPr lang="en-US" sz="1450" dirty="0"/>
          </a:p>
        </p:txBody>
      </p:sp>
      <p:sp>
        <p:nvSpPr>
          <p:cNvPr id="9" name="Text 7"/>
          <p:cNvSpPr/>
          <p:nvPr/>
        </p:nvSpPr>
        <p:spPr>
          <a:xfrm>
            <a:off x="4544568" y="1938528"/>
            <a:ext cx="2377440" cy="310896"/>
          </a:xfrm>
          <a:prstGeom prst="rect">
            <a:avLst/>
          </a:prstGeom>
          <a:noFill/>
          <a:ln/>
        </p:spPr>
        <p:txBody>
          <a:bodyPr wrap="square" lIns="0" tIns="0" rIns="0" bIns="0" rtlCol="0" anchor="ctr"/>
          <a:lstStyle/>
          <a:p>
            <a:pPr indent="0" marL="0">
              <a:buNone/>
            </a:pPr>
            <a:r>
              <a:rPr lang="en-US" sz="1200" b="1" dirty="0">
                <a:solidFill>
                  <a:srgbClr val="2E7D3A"/>
                </a:solidFill>
                <a:latin typeface="Calibri" pitchFamily="34" charset="0"/>
                <a:ea typeface="Calibri" pitchFamily="34" charset="-122"/>
                <a:cs typeface="Calibri" pitchFamily="34" charset="-120"/>
              </a:rPr>
              <a:t>mehr als 3 Stellplätze</a:t>
            </a:r>
            <a:endParaRPr lang="en-US" sz="1200" dirty="0"/>
          </a:p>
        </p:txBody>
      </p:sp>
      <p:sp>
        <p:nvSpPr>
          <p:cNvPr id="10" name="Text 8"/>
          <p:cNvSpPr/>
          <p:nvPr/>
        </p:nvSpPr>
        <p:spPr>
          <a:xfrm>
            <a:off x="1371600" y="2249424"/>
            <a:ext cx="9957816" cy="329184"/>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50 % vorverkabeln, mindestens 1 Ladepunkt</a:t>
            </a:r>
            <a:endParaRPr lang="en-US" sz="1150" dirty="0"/>
          </a:p>
        </p:txBody>
      </p:sp>
      <p:sp>
        <p:nvSpPr>
          <p:cNvPr id="11" name="Shape 9"/>
          <p:cNvSpPr/>
          <p:nvPr/>
        </p:nvSpPr>
        <p:spPr>
          <a:xfrm>
            <a:off x="566928" y="2743200"/>
            <a:ext cx="11055096" cy="822960"/>
          </a:xfrm>
          <a:prstGeom prst="roundRect">
            <a:avLst>
              <a:gd name="adj" fmla="val 10000"/>
            </a:avLst>
          </a:prstGeom>
          <a:solidFill>
            <a:srgbClr val="F5F6F3"/>
          </a:solidFill>
          <a:ln/>
          <a:effectLst>
            <a:outerShdw sx="100000" sy="100000" kx="0" ky="0" algn="bl" rotWithShape="0" blurRad="127000" dist="25400" dir="5400000">
              <a:srgbClr val="000000">
                <a:alpha val="7000"/>
              </a:srgbClr>
            </a:outerShdw>
          </a:effectLst>
        </p:spPr>
      </p:sp>
      <p:sp>
        <p:nvSpPr>
          <p:cNvPr id="12" name="Shape 10"/>
          <p:cNvSpPr/>
          <p:nvPr/>
        </p:nvSpPr>
        <p:spPr>
          <a:xfrm>
            <a:off x="841248" y="2971800"/>
            <a:ext cx="365760" cy="365760"/>
          </a:xfrm>
          <a:prstGeom prst="ellipse">
            <a:avLst/>
          </a:prstGeom>
          <a:solidFill>
            <a:srgbClr val="58B264"/>
          </a:solidFill>
          <a:ln/>
        </p:spPr>
      </p:sp>
      <p:sp>
        <p:nvSpPr>
          <p:cNvPr id="13" name="Text 11"/>
          <p:cNvSpPr/>
          <p:nvPr/>
        </p:nvSpPr>
        <p:spPr>
          <a:xfrm>
            <a:off x="841248" y="2971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371600" y="2834640"/>
            <a:ext cx="3108960"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Neubau Nichtwohngebäude</a:t>
            </a:r>
            <a:endParaRPr lang="en-US" sz="1450" dirty="0"/>
          </a:p>
        </p:txBody>
      </p:sp>
      <p:sp>
        <p:nvSpPr>
          <p:cNvPr id="15" name="Text 13"/>
          <p:cNvSpPr/>
          <p:nvPr/>
        </p:nvSpPr>
        <p:spPr>
          <a:xfrm>
            <a:off x="4544568" y="2834640"/>
            <a:ext cx="2377440" cy="310896"/>
          </a:xfrm>
          <a:prstGeom prst="rect">
            <a:avLst/>
          </a:prstGeom>
          <a:noFill/>
          <a:ln/>
        </p:spPr>
        <p:txBody>
          <a:bodyPr wrap="square" lIns="0" tIns="0" rIns="0" bIns="0" rtlCol="0" anchor="ctr"/>
          <a:lstStyle/>
          <a:p>
            <a:pPr indent="0" marL="0">
              <a:buNone/>
            </a:pPr>
            <a:r>
              <a:rPr lang="en-US" sz="1200" b="1" dirty="0">
                <a:solidFill>
                  <a:srgbClr val="2E7D3A"/>
                </a:solidFill>
                <a:latin typeface="Calibri" pitchFamily="34" charset="0"/>
                <a:ea typeface="Calibri" pitchFamily="34" charset="-122"/>
                <a:cs typeface="Calibri" pitchFamily="34" charset="-120"/>
              </a:rPr>
              <a:t>mehr als 5 Stellplätze</a:t>
            </a:r>
            <a:endParaRPr lang="en-US" sz="1200" dirty="0"/>
          </a:p>
        </p:txBody>
      </p:sp>
      <p:sp>
        <p:nvSpPr>
          <p:cNvPr id="16" name="Text 14"/>
          <p:cNvSpPr/>
          <p:nvPr/>
        </p:nvSpPr>
        <p:spPr>
          <a:xfrm>
            <a:off x="1371600" y="3145536"/>
            <a:ext cx="9957816" cy="329184"/>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50 % vorverkabeln, 1 Ladepunkt je 5. Stellplatz</a:t>
            </a:r>
            <a:endParaRPr lang="en-US" sz="1150" dirty="0"/>
          </a:p>
        </p:txBody>
      </p:sp>
      <p:sp>
        <p:nvSpPr>
          <p:cNvPr id="17" name="Shape 15"/>
          <p:cNvSpPr/>
          <p:nvPr/>
        </p:nvSpPr>
        <p:spPr>
          <a:xfrm>
            <a:off x="566928" y="3639312"/>
            <a:ext cx="11055096" cy="822960"/>
          </a:xfrm>
          <a:prstGeom prst="roundRect">
            <a:avLst>
              <a:gd name="adj" fmla="val 10000"/>
            </a:avLst>
          </a:prstGeom>
          <a:solidFill>
            <a:srgbClr val="F5F6F3"/>
          </a:solidFill>
          <a:ln/>
          <a:effectLst>
            <a:outerShdw sx="100000" sy="100000" kx="0" ky="0" algn="bl" rotWithShape="0" blurRad="127000" dist="25400" dir="5400000">
              <a:srgbClr val="000000">
                <a:alpha val="7000"/>
              </a:srgbClr>
            </a:outerShdw>
          </a:effectLst>
        </p:spPr>
      </p:sp>
      <p:sp>
        <p:nvSpPr>
          <p:cNvPr id="18" name="Shape 16"/>
          <p:cNvSpPr/>
          <p:nvPr/>
        </p:nvSpPr>
        <p:spPr>
          <a:xfrm>
            <a:off x="841248" y="3867912"/>
            <a:ext cx="365760" cy="365760"/>
          </a:xfrm>
          <a:prstGeom prst="ellipse">
            <a:avLst/>
          </a:prstGeom>
          <a:solidFill>
            <a:srgbClr val="58B264"/>
          </a:solidFill>
          <a:ln/>
        </p:spPr>
      </p:sp>
      <p:sp>
        <p:nvSpPr>
          <p:cNvPr id="19" name="Text 17"/>
          <p:cNvSpPr/>
          <p:nvPr/>
        </p:nvSpPr>
        <p:spPr>
          <a:xfrm>
            <a:off x="841248" y="38679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371600" y="3730752"/>
            <a:ext cx="3108960"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Große Renovierung</a:t>
            </a:r>
            <a:endParaRPr lang="en-US" sz="1450" dirty="0"/>
          </a:p>
        </p:txBody>
      </p:sp>
      <p:sp>
        <p:nvSpPr>
          <p:cNvPr id="21" name="Text 19"/>
          <p:cNvSpPr/>
          <p:nvPr/>
        </p:nvSpPr>
        <p:spPr>
          <a:xfrm>
            <a:off x="4544568" y="3730752"/>
            <a:ext cx="2377440" cy="310896"/>
          </a:xfrm>
          <a:prstGeom prst="rect">
            <a:avLst/>
          </a:prstGeom>
          <a:noFill/>
          <a:ln/>
        </p:spPr>
        <p:txBody>
          <a:bodyPr wrap="square" lIns="0" tIns="0" rIns="0" bIns="0" rtlCol="0" anchor="ctr"/>
          <a:lstStyle/>
          <a:p>
            <a:pPr indent="0" marL="0">
              <a:buNone/>
            </a:pPr>
            <a:r>
              <a:rPr lang="en-US" sz="1200" b="1" dirty="0">
                <a:solidFill>
                  <a:srgbClr val="2E7D3A"/>
                </a:solidFill>
                <a:latin typeface="Calibri" pitchFamily="34" charset="0"/>
                <a:ea typeface="Calibri" pitchFamily="34" charset="-122"/>
                <a:cs typeface="Calibri" pitchFamily="34" charset="-120"/>
              </a:rPr>
              <a:t>WG über 3 / NWG über 5</a:t>
            </a:r>
            <a:endParaRPr lang="en-US" sz="1200" dirty="0"/>
          </a:p>
        </p:txBody>
      </p:sp>
      <p:sp>
        <p:nvSpPr>
          <p:cNvPr id="22" name="Text 20"/>
          <p:cNvSpPr/>
          <p:nvPr/>
        </p:nvSpPr>
        <p:spPr>
          <a:xfrm>
            <a:off x="1371600" y="4041648"/>
            <a:ext cx="9957816" cy="329184"/>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wie Neubau, wenn Parkplatz oder Elektrik betroffen sind</a:t>
            </a:r>
            <a:endParaRPr lang="en-US" sz="1150" dirty="0"/>
          </a:p>
        </p:txBody>
      </p:sp>
      <p:sp>
        <p:nvSpPr>
          <p:cNvPr id="23" name="Shape 21"/>
          <p:cNvSpPr/>
          <p:nvPr/>
        </p:nvSpPr>
        <p:spPr>
          <a:xfrm>
            <a:off x="566928" y="4535424"/>
            <a:ext cx="11055096" cy="822960"/>
          </a:xfrm>
          <a:prstGeom prst="roundRect">
            <a:avLst>
              <a:gd name="adj" fmla="val 10000"/>
            </a:avLst>
          </a:prstGeom>
          <a:solidFill>
            <a:srgbClr val="EDF5EE"/>
          </a:solidFill>
          <a:ln/>
          <a:effectLst>
            <a:outerShdw sx="100000" sy="100000" kx="0" ky="0" algn="bl" rotWithShape="0" blurRad="127000" dist="25400" dir="5400000">
              <a:srgbClr val="000000">
                <a:alpha val="7000"/>
              </a:srgbClr>
            </a:outerShdw>
          </a:effectLst>
        </p:spPr>
      </p:sp>
      <p:sp>
        <p:nvSpPr>
          <p:cNvPr id="24" name="Shape 22"/>
          <p:cNvSpPr/>
          <p:nvPr/>
        </p:nvSpPr>
        <p:spPr>
          <a:xfrm>
            <a:off x="841248" y="4764024"/>
            <a:ext cx="365760" cy="365760"/>
          </a:xfrm>
          <a:prstGeom prst="ellipse">
            <a:avLst/>
          </a:prstGeom>
          <a:solidFill>
            <a:srgbClr val="2E7D3A"/>
          </a:solidFill>
          <a:ln/>
        </p:spPr>
      </p:sp>
      <p:sp>
        <p:nvSpPr>
          <p:cNvPr id="25" name="Text 23"/>
          <p:cNvSpPr/>
          <p:nvPr/>
        </p:nvSpPr>
        <p:spPr>
          <a:xfrm>
            <a:off x="841248" y="4764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1371600" y="4626864"/>
            <a:ext cx="3108960"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Bestand Nichtwohngebäude</a:t>
            </a:r>
            <a:endParaRPr lang="en-US" sz="1450" dirty="0"/>
          </a:p>
        </p:txBody>
      </p:sp>
      <p:sp>
        <p:nvSpPr>
          <p:cNvPr id="27" name="Text 25"/>
          <p:cNvSpPr/>
          <p:nvPr/>
        </p:nvSpPr>
        <p:spPr>
          <a:xfrm>
            <a:off x="4544568" y="4626864"/>
            <a:ext cx="2377440" cy="310896"/>
          </a:xfrm>
          <a:prstGeom prst="rect">
            <a:avLst/>
          </a:prstGeom>
          <a:noFill/>
          <a:ln/>
        </p:spPr>
        <p:txBody>
          <a:bodyPr wrap="square" lIns="0" tIns="0" rIns="0" bIns="0" rtlCol="0" anchor="ctr"/>
          <a:lstStyle/>
          <a:p>
            <a:pPr indent="0" marL="0">
              <a:buNone/>
            </a:pPr>
            <a:r>
              <a:rPr lang="en-US" sz="1200" b="1" dirty="0">
                <a:solidFill>
                  <a:srgbClr val="2E7D3A"/>
                </a:solidFill>
                <a:latin typeface="Calibri" pitchFamily="34" charset="0"/>
                <a:ea typeface="Calibri" pitchFamily="34" charset="-122"/>
                <a:cs typeface="Calibri" pitchFamily="34" charset="-120"/>
              </a:rPr>
              <a:t>mehr als 20 Stellplätze</a:t>
            </a:r>
            <a:endParaRPr lang="en-US" sz="1200" dirty="0"/>
          </a:p>
        </p:txBody>
      </p:sp>
      <p:sp>
        <p:nvSpPr>
          <p:cNvPr id="28" name="Text 26"/>
          <p:cNvSpPr/>
          <p:nvPr/>
        </p:nvSpPr>
        <p:spPr>
          <a:xfrm>
            <a:off x="1371600" y="4937760"/>
            <a:ext cx="9957816" cy="329184"/>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ab 01.01.2027: 1 Ladepunkt je 10 Stellplätze oder 50 % Leitungsinfrastruktur</a:t>
            </a:r>
            <a:endParaRPr lang="en-US" sz="1150" dirty="0"/>
          </a:p>
        </p:txBody>
      </p:sp>
      <p:sp>
        <p:nvSpPr>
          <p:cNvPr id="29" name="Shape 27"/>
          <p:cNvSpPr/>
          <p:nvPr/>
        </p:nvSpPr>
        <p:spPr>
          <a:xfrm>
            <a:off x="566928" y="5468112"/>
            <a:ext cx="11055096" cy="658368"/>
          </a:xfrm>
          <a:prstGeom prst="roundRect">
            <a:avLst>
              <a:gd name="adj" fmla="val 12500"/>
            </a:avLst>
          </a:prstGeom>
          <a:solidFill>
            <a:srgbClr val="FFF6E0"/>
          </a:solidFill>
          <a:ln w="12700">
            <a:solidFill>
              <a:srgbClr val="E8CC8A"/>
            </a:solidFill>
            <a:prstDash val="solid"/>
          </a:ln>
        </p:spPr>
      </p:sp>
      <p:sp>
        <p:nvSpPr>
          <p:cNvPr id="30" name="Text 28"/>
          <p:cNvSpPr/>
          <p:nvPr/>
        </p:nvSpPr>
        <p:spPr>
          <a:xfrm>
            <a:off x="768096" y="5522976"/>
            <a:ext cx="10652760" cy="548640"/>
          </a:xfrm>
          <a:prstGeom prst="rect">
            <a:avLst/>
          </a:prstGeom>
          <a:noFill/>
          <a:ln/>
        </p:spPr>
        <p:txBody>
          <a:bodyPr wrap="square" lIns="0" tIns="0" rIns="0" bIns="0" rtlCol="0" anchor="ctr"/>
          <a:lstStyle/>
          <a:p>
            <a:pPr indent="0" marL="0">
              <a:buNone/>
            </a:pPr>
            <a:r>
              <a:rPr lang="en-US" sz="1200" b="1" dirty="0">
                <a:solidFill>
                  <a:srgbClr val="8A6100"/>
                </a:solidFill>
                <a:latin typeface="Calibri" pitchFamily="34" charset="0"/>
                <a:ea typeface="Calibri" pitchFamily="34" charset="-122"/>
                <a:cs typeface="Calibri" pitchFamily="34" charset="-120"/>
              </a:rPr>
              <a:t>Der häufigste Fehler:  </a:t>
            </a:r>
            <a:pPr indent="0" marL="0">
              <a:buNone/>
            </a:pPr>
            <a:r>
              <a:rPr lang="en-US" sz="1200" dirty="0">
                <a:solidFill>
                  <a:srgbClr val="1A1819"/>
                </a:solidFill>
                <a:latin typeface="Calibri" pitchFamily="34" charset="0"/>
                <a:ea typeface="Calibri" pitchFamily="34" charset="-122"/>
                <a:cs typeface="Calibri" pitchFamily="34" charset="-120"/>
              </a:rPr>
              <a:t>„Vorverkabeln" heißt anschlussfertig bis zum Endpunkt. Reine Leerrohre oder Kabelkanäle genügen ausdrücklich nicht. Neue Ladepunkte müssen außerdem intelligentes Laden beherrschen.</a:t>
            </a:r>
            <a:endParaRPr lang="en-US" sz="1200" dirty="0"/>
          </a:p>
        </p:txBody>
      </p:sp>
      <p:sp>
        <p:nvSpPr>
          <p:cNvPr id="32" name="Text 29"/>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GEIG in der Fassung von Artikel 7 des Änderungsgesetzes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FÖRDERUNG</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Laden im Mehrparteienhaus - das Fenster schließt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Bundesprogramm des Verkehrsministeriums, 500 Mio. € Volumen. Genau die Zielgruppe, die wir ohnehin beraten.</a:t>
            </a:r>
            <a:endParaRPr lang="en-US" sz="1400" dirty="0"/>
          </a:p>
        </p:txBody>
      </p:sp>
      <p:sp>
        <p:nvSpPr>
          <p:cNvPr id="5" name="Shape 3"/>
          <p:cNvSpPr/>
          <p:nvPr/>
        </p:nvSpPr>
        <p:spPr>
          <a:xfrm>
            <a:off x="566928" y="1810512"/>
            <a:ext cx="3246120" cy="1554480"/>
          </a:xfrm>
          <a:prstGeom prst="roundRect">
            <a:avLst>
              <a:gd name="adj" fmla="val 5294"/>
            </a:avLst>
          </a:prstGeom>
          <a:solidFill>
            <a:srgbClr val="1A1819"/>
          </a:solidFill>
          <a:ln/>
        </p:spPr>
      </p:sp>
      <p:sp>
        <p:nvSpPr>
          <p:cNvPr id="6" name="Text 4"/>
          <p:cNvSpPr/>
          <p:nvPr/>
        </p:nvSpPr>
        <p:spPr>
          <a:xfrm>
            <a:off x="841248" y="1956816"/>
            <a:ext cx="2743200" cy="237744"/>
          </a:xfrm>
          <a:prstGeom prst="rect">
            <a:avLst/>
          </a:prstGeom>
          <a:noFill/>
          <a:ln/>
        </p:spPr>
        <p:txBody>
          <a:bodyPr wrap="square" lIns="0" tIns="0" rIns="0" bIns="0" rtlCol="0" anchor="ctr"/>
          <a:lstStyle/>
          <a:p>
            <a:pPr indent="0" marL="0">
              <a:buNone/>
            </a:pPr>
            <a:r>
              <a:rPr lang="en-US" sz="1000" b="1" spc="140" kern="0" dirty="0">
                <a:solidFill>
                  <a:srgbClr val="BFDCC4"/>
                </a:solidFill>
                <a:latin typeface="Calibri" pitchFamily="34" charset="0"/>
                <a:ea typeface="Calibri" pitchFamily="34" charset="-122"/>
                <a:cs typeface="Calibri" pitchFamily="34" charset="-120"/>
              </a:rPr>
              <a:t>ANTRAGSFRIST</a:t>
            </a:r>
            <a:endParaRPr lang="en-US" sz="1000" dirty="0"/>
          </a:p>
        </p:txBody>
      </p:sp>
      <p:sp>
        <p:nvSpPr>
          <p:cNvPr id="7" name="Text 5"/>
          <p:cNvSpPr/>
          <p:nvPr/>
        </p:nvSpPr>
        <p:spPr>
          <a:xfrm>
            <a:off x="841248" y="2212848"/>
            <a:ext cx="2743200" cy="566928"/>
          </a:xfrm>
          <a:prstGeom prst="rect">
            <a:avLst/>
          </a:prstGeom>
          <a:noFill/>
          <a:ln/>
        </p:spPr>
        <p:txBody>
          <a:bodyPr wrap="square" lIns="0" tIns="0" rIns="0" bIns="0" rtlCol="0" anchor="ctr"/>
          <a:lstStyle/>
          <a:p>
            <a:pPr indent="0" marL="0">
              <a:buNone/>
            </a:pPr>
            <a:r>
              <a:rPr lang="en-US" sz="3400" b="1" dirty="0">
                <a:solidFill>
                  <a:srgbClr val="58B264"/>
                </a:solidFill>
                <a:latin typeface="Trebuchet MS" pitchFamily="34" charset="0"/>
                <a:ea typeface="Trebuchet MS" pitchFamily="34" charset="-122"/>
                <a:cs typeface="Trebuchet MS" pitchFamily="34" charset="-120"/>
              </a:rPr>
              <a:t>10.11.2026</a:t>
            </a:r>
            <a:endParaRPr lang="en-US" sz="3400" dirty="0"/>
          </a:p>
        </p:txBody>
      </p:sp>
      <p:sp>
        <p:nvSpPr>
          <p:cNvPr id="8" name="Text 6"/>
          <p:cNvSpPr/>
          <p:nvPr/>
        </p:nvSpPr>
        <p:spPr>
          <a:xfrm>
            <a:off x="841248" y="2798064"/>
            <a:ext cx="2724912" cy="457200"/>
          </a:xfrm>
          <a:prstGeom prst="rect">
            <a:avLst/>
          </a:prstGeom>
          <a:noFill/>
          <a:ln/>
        </p:spPr>
        <p:txBody>
          <a:bodyPr wrap="square" lIns="0" tIns="0" rIns="0" bIns="0" rtlCol="0" anchor="t"/>
          <a:lstStyle/>
          <a:p>
            <a:pPr indent="0" marL="0">
              <a:lnSpc>
                <a:spcPts val="1400"/>
              </a:lnSpc>
              <a:buNone/>
            </a:pPr>
            <a:r>
              <a:rPr lang="en-US" sz="1100" dirty="0">
                <a:solidFill>
                  <a:srgbClr val="C9D2CA"/>
                </a:solidFill>
                <a:latin typeface="Calibri" pitchFamily="34" charset="0"/>
                <a:ea typeface="Calibri" pitchFamily="34" charset="-122"/>
                <a:cs typeface="Calibri" pitchFamily="34" charset="-120"/>
              </a:rPr>
              <a:t>Anträge laufen seit 15.04.2026. Danach ist das Programm zu.</a:t>
            </a:r>
            <a:endParaRPr lang="en-US" sz="1100" dirty="0"/>
          </a:p>
        </p:txBody>
      </p:sp>
      <p:sp>
        <p:nvSpPr>
          <p:cNvPr id="9" name="Shape 7"/>
          <p:cNvSpPr/>
          <p:nvPr/>
        </p:nvSpPr>
        <p:spPr>
          <a:xfrm>
            <a:off x="4087368" y="1810512"/>
            <a:ext cx="2377440"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10" name="Text 8"/>
          <p:cNvSpPr/>
          <p:nvPr/>
        </p:nvSpPr>
        <p:spPr>
          <a:xfrm>
            <a:off x="4306824" y="2011680"/>
            <a:ext cx="1938528" cy="438912"/>
          </a:xfrm>
          <a:prstGeom prst="rect">
            <a:avLst/>
          </a:prstGeom>
          <a:noFill/>
          <a:ln/>
        </p:spPr>
        <p:txBody>
          <a:bodyPr wrap="square" lIns="0" tIns="0" rIns="0" bIns="0" rtlCol="0" anchor="ctr"/>
          <a:lstStyle/>
          <a:p>
            <a:pPr indent="0" marL="0">
              <a:buNone/>
            </a:pPr>
            <a:r>
              <a:rPr lang="en-US" sz="2300" b="1" dirty="0">
                <a:solidFill>
                  <a:srgbClr val="2E7D3A"/>
                </a:solidFill>
                <a:latin typeface="Trebuchet MS" pitchFamily="34" charset="0"/>
                <a:ea typeface="Trebuchet MS" pitchFamily="34" charset="-122"/>
                <a:cs typeface="Trebuchet MS" pitchFamily="34" charset="-120"/>
              </a:rPr>
              <a:t>bis 1.300 €</a:t>
            </a:r>
            <a:endParaRPr lang="en-US" sz="2300" dirty="0"/>
          </a:p>
        </p:txBody>
      </p:sp>
      <p:sp>
        <p:nvSpPr>
          <p:cNvPr id="11" name="Text 9"/>
          <p:cNvSpPr/>
          <p:nvPr/>
        </p:nvSpPr>
        <p:spPr>
          <a:xfrm>
            <a:off x="4306824" y="2505456"/>
            <a:ext cx="1956816" cy="676656"/>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je Stellplatz, ohne installierte Wallbox</a:t>
            </a:r>
            <a:endParaRPr lang="en-US" sz="1150" dirty="0"/>
          </a:p>
        </p:txBody>
      </p:sp>
      <p:sp>
        <p:nvSpPr>
          <p:cNvPr id="12" name="Shape 10"/>
          <p:cNvSpPr/>
          <p:nvPr/>
        </p:nvSpPr>
        <p:spPr>
          <a:xfrm>
            <a:off x="6665976" y="1810512"/>
            <a:ext cx="2377440"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13" name="Text 11"/>
          <p:cNvSpPr/>
          <p:nvPr/>
        </p:nvSpPr>
        <p:spPr>
          <a:xfrm>
            <a:off x="6885432" y="2011680"/>
            <a:ext cx="1938528" cy="438912"/>
          </a:xfrm>
          <a:prstGeom prst="rect">
            <a:avLst/>
          </a:prstGeom>
          <a:noFill/>
          <a:ln/>
        </p:spPr>
        <p:txBody>
          <a:bodyPr wrap="square" lIns="0" tIns="0" rIns="0" bIns="0" rtlCol="0" anchor="ctr"/>
          <a:lstStyle/>
          <a:p>
            <a:pPr indent="0" marL="0">
              <a:buNone/>
            </a:pPr>
            <a:r>
              <a:rPr lang="en-US" sz="2300" b="1" dirty="0">
                <a:solidFill>
                  <a:srgbClr val="2E7D3A"/>
                </a:solidFill>
                <a:latin typeface="Trebuchet MS" pitchFamily="34" charset="0"/>
                <a:ea typeface="Trebuchet MS" pitchFamily="34" charset="-122"/>
                <a:cs typeface="Trebuchet MS" pitchFamily="34" charset="-120"/>
              </a:rPr>
              <a:t>bis 1.500 €</a:t>
            </a:r>
            <a:endParaRPr lang="en-US" sz="2300" dirty="0"/>
          </a:p>
        </p:txBody>
      </p:sp>
      <p:sp>
        <p:nvSpPr>
          <p:cNvPr id="14" name="Text 12"/>
          <p:cNvSpPr/>
          <p:nvPr/>
        </p:nvSpPr>
        <p:spPr>
          <a:xfrm>
            <a:off x="6885432" y="2505456"/>
            <a:ext cx="1956816" cy="676656"/>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je Stellplatz mit installierter Wallbox</a:t>
            </a:r>
            <a:endParaRPr lang="en-US" sz="1150" dirty="0"/>
          </a:p>
        </p:txBody>
      </p:sp>
      <p:sp>
        <p:nvSpPr>
          <p:cNvPr id="15" name="Shape 13"/>
          <p:cNvSpPr/>
          <p:nvPr/>
        </p:nvSpPr>
        <p:spPr>
          <a:xfrm>
            <a:off x="9244584" y="1810512"/>
            <a:ext cx="2377440" cy="1554480"/>
          </a:xfrm>
          <a:prstGeom prst="roundRect">
            <a:avLst>
              <a:gd name="adj" fmla="val 5294"/>
            </a:avLst>
          </a:prstGeom>
          <a:solidFill>
            <a:srgbClr val="EDF5EE"/>
          </a:solidFill>
          <a:ln/>
          <a:effectLst>
            <a:outerShdw sx="100000" sy="100000" kx="0" ky="0" algn="bl" rotWithShape="0" blurRad="127000" dist="25400" dir="5400000">
              <a:srgbClr val="000000">
                <a:alpha val="7000"/>
              </a:srgbClr>
            </a:outerShdw>
          </a:effectLst>
        </p:spPr>
      </p:sp>
      <p:sp>
        <p:nvSpPr>
          <p:cNvPr id="16" name="Text 14"/>
          <p:cNvSpPr/>
          <p:nvPr/>
        </p:nvSpPr>
        <p:spPr>
          <a:xfrm>
            <a:off x="9464040" y="2011680"/>
            <a:ext cx="1938528" cy="438912"/>
          </a:xfrm>
          <a:prstGeom prst="rect">
            <a:avLst/>
          </a:prstGeom>
          <a:noFill/>
          <a:ln/>
        </p:spPr>
        <p:txBody>
          <a:bodyPr wrap="square" lIns="0" tIns="0" rIns="0" bIns="0" rtlCol="0" anchor="ctr"/>
          <a:lstStyle/>
          <a:p>
            <a:pPr indent="0" marL="0">
              <a:buNone/>
            </a:pPr>
            <a:r>
              <a:rPr lang="en-US" sz="2300" b="1" dirty="0">
                <a:solidFill>
                  <a:srgbClr val="2E7D3A"/>
                </a:solidFill>
                <a:latin typeface="Trebuchet MS" pitchFamily="34" charset="0"/>
                <a:ea typeface="Trebuchet MS" pitchFamily="34" charset="-122"/>
                <a:cs typeface="Trebuchet MS" pitchFamily="34" charset="-120"/>
              </a:rPr>
              <a:t>bis 2.000 €</a:t>
            </a:r>
            <a:endParaRPr lang="en-US" sz="2300" dirty="0"/>
          </a:p>
        </p:txBody>
      </p:sp>
      <p:sp>
        <p:nvSpPr>
          <p:cNvPr id="17" name="Text 15"/>
          <p:cNvSpPr/>
          <p:nvPr/>
        </p:nvSpPr>
        <p:spPr>
          <a:xfrm>
            <a:off x="9464040" y="2505456"/>
            <a:ext cx="1956816" cy="676656"/>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je Stellplatz mit bidirektionaler Wallbox</a:t>
            </a:r>
            <a:endParaRPr lang="en-US" sz="1150" dirty="0"/>
          </a:p>
        </p:txBody>
      </p:sp>
      <p:sp>
        <p:nvSpPr>
          <p:cNvPr id="18" name="Shape 16"/>
          <p:cNvSpPr/>
          <p:nvPr/>
        </p:nvSpPr>
        <p:spPr>
          <a:xfrm>
            <a:off x="566928" y="3566160"/>
            <a:ext cx="5372100" cy="1920240"/>
          </a:xfrm>
          <a:prstGeom prst="roundRect">
            <a:avLst>
              <a:gd name="adj" fmla="val 4286"/>
            </a:avLst>
          </a:prstGeom>
          <a:solidFill>
            <a:srgbClr val="F5F6F3"/>
          </a:solidFill>
          <a:ln/>
          <a:effectLst>
            <a:outerShdw sx="100000" sy="100000" kx="0" ky="0" algn="bl" rotWithShape="0" blurRad="127000" dist="25400" dir="5400000">
              <a:srgbClr val="000000">
                <a:alpha val="7000"/>
              </a:srgbClr>
            </a:outerShdw>
          </a:effectLst>
        </p:spPr>
      </p:sp>
      <p:sp>
        <p:nvSpPr>
          <p:cNvPr id="19" name="Text 17"/>
          <p:cNvSpPr/>
          <p:nvPr/>
        </p:nvSpPr>
        <p:spPr>
          <a:xfrm>
            <a:off x="859536" y="3730752"/>
            <a:ext cx="4114800" cy="292608"/>
          </a:xfrm>
          <a:prstGeom prst="rect">
            <a:avLst/>
          </a:prstGeom>
          <a:noFill/>
          <a:ln/>
        </p:spPr>
        <p:txBody>
          <a:bodyPr wrap="square" lIns="0" tIns="0" rIns="0" bIns="0" rtlCol="0" anchor="ctr"/>
          <a:lstStyle/>
          <a:p>
            <a:pPr indent="0" marL="0">
              <a:buNone/>
            </a:pPr>
            <a:r>
              <a:rPr lang="en-US" sz="1600" b="1" dirty="0">
                <a:solidFill>
                  <a:srgbClr val="2E7D3A"/>
                </a:solidFill>
                <a:latin typeface="Trebuchet MS" pitchFamily="34" charset="0"/>
                <a:ea typeface="Trebuchet MS" pitchFamily="34" charset="-122"/>
                <a:cs typeface="Trebuchet MS" pitchFamily="34" charset="-120"/>
              </a:rPr>
              <a:t>Voraussetzungen</a:t>
            </a:r>
            <a:endParaRPr lang="en-US" sz="1600" dirty="0"/>
          </a:p>
        </p:txBody>
      </p:sp>
      <p:sp>
        <p:nvSpPr>
          <p:cNvPr id="20" name="Text 18"/>
          <p:cNvSpPr/>
          <p:nvPr/>
        </p:nvSpPr>
        <p:spPr>
          <a:xfrm>
            <a:off x="896112" y="4078224"/>
            <a:ext cx="4713732" cy="12801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819"/>
                </a:solidFill>
                <a:latin typeface="Calibri" pitchFamily="34" charset="0"/>
                <a:ea typeface="Calibri" pitchFamily="34" charset="-122"/>
                <a:cs typeface="Calibri" pitchFamily="34" charset="-120"/>
              </a:rPr>
              <a:t>Mindestens 20 % der vorhandenen Stellplätze werden vorverkabelt</a:t>
            </a:r>
            <a:endParaRPr lang="en-US" sz="1200" dirty="0"/>
          </a:p>
          <a:p>
            <a:pPr marL="342900" indent="-342900">
              <a:spcAft>
                <a:spcPts val="800"/>
              </a:spcAft>
              <a:buSzPct val="100000"/>
              <a:buChar char="•"/>
            </a:pPr>
            <a:r>
              <a:rPr lang="en-US" sz="1200" dirty="0">
                <a:solidFill>
                  <a:srgbClr val="1A1819"/>
                </a:solidFill>
                <a:latin typeface="Calibri" pitchFamily="34" charset="0"/>
                <a:ea typeface="Calibri" pitchFamily="34" charset="-122"/>
                <a:cs typeface="Calibri" pitchFamily="34" charset="-120"/>
              </a:rPr>
              <a:t>Mindestens 6 Stellplätze werden elektrifiziert</a:t>
            </a:r>
            <a:endParaRPr lang="en-US" sz="1200" dirty="0"/>
          </a:p>
          <a:p>
            <a:pPr marL="342900" indent="-342900">
              <a:spcAft>
                <a:spcPts val="800"/>
              </a:spcAft>
              <a:buSzPct val="100000"/>
              <a:buChar char="•"/>
            </a:pPr>
            <a:r>
              <a:rPr lang="en-US" sz="1200" dirty="0">
                <a:solidFill>
                  <a:srgbClr val="1A1819"/>
                </a:solidFill>
                <a:latin typeface="Calibri" pitchFamily="34" charset="0"/>
                <a:ea typeface="Calibri" pitchFamily="34" charset="-122"/>
                <a:cs typeface="Calibri" pitchFamily="34" charset="-120"/>
              </a:rPr>
              <a:t>Der laufende Betrieb erfolgt mit erneuerbarem Strom</a:t>
            </a:r>
            <a:endParaRPr lang="en-US" sz="1200" dirty="0"/>
          </a:p>
        </p:txBody>
      </p:sp>
      <p:sp>
        <p:nvSpPr>
          <p:cNvPr id="21" name="Shape 19"/>
          <p:cNvSpPr/>
          <p:nvPr/>
        </p:nvSpPr>
        <p:spPr>
          <a:xfrm>
            <a:off x="6249924" y="3566160"/>
            <a:ext cx="5372100" cy="1920240"/>
          </a:xfrm>
          <a:prstGeom prst="roundRect">
            <a:avLst>
              <a:gd name="adj" fmla="val 4286"/>
            </a:avLst>
          </a:prstGeom>
          <a:solidFill>
            <a:srgbClr val="EDF5EE"/>
          </a:solidFill>
          <a:ln/>
        </p:spPr>
      </p:sp>
      <p:sp>
        <p:nvSpPr>
          <p:cNvPr id="22" name="Text 20"/>
          <p:cNvSpPr/>
          <p:nvPr/>
        </p:nvSpPr>
        <p:spPr>
          <a:xfrm>
            <a:off x="6542532" y="3730752"/>
            <a:ext cx="4114800" cy="292608"/>
          </a:xfrm>
          <a:prstGeom prst="rect">
            <a:avLst/>
          </a:prstGeom>
          <a:noFill/>
          <a:ln/>
        </p:spPr>
        <p:txBody>
          <a:bodyPr wrap="square" lIns="0" tIns="0" rIns="0" bIns="0" rtlCol="0" anchor="ctr"/>
          <a:lstStyle/>
          <a:p>
            <a:pPr indent="0" marL="0">
              <a:buNone/>
            </a:pPr>
            <a:r>
              <a:rPr lang="en-US" sz="1600" b="1" dirty="0">
                <a:solidFill>
                  <a:srgbClr val="2E7D3A"/>
                </a:solidFill>
                <a:latin typeface="Trebuchet MS" pitchFamily="34" charset="0"/>
                <a:ea typeface="Trebuchet MS" pitchFamily="34" charset="-122"/>
                <a:cs typeface="Trebuchet MS" pitchFamily="34" charset="-120"/>
              </a:rPr>
              <a:t>Wer beantragen darf</a:t>
            </a:r>
            <a:endParaRPr lang="en-US" sz="1600" dirty="0"/>
          </a:p>
        </p:txBody>
      </p:sp>
      <p:sp>
        <p:nvSpPr>
          <p:cNvPr id="23" name="Text 21"/>
          <p:cNvSpPr/>
          <p:nvPr/>
        </p:nvSpPr>
        <p:spPr>
          <a:xfrm>
            <a:off x="6579108" y="4078224"/>
            <a:ext cx="4713732" cy="12801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819"/>
                </a:solidFill>
                <a:latin typeface="Calibri" pitchFamily="34" charset="0"/>
                <a:ea typeface="Calibri" pitchFamily="34" charset="-122"/>
                <a:cs typeface="Calibri" pitchFamily="34" charset="-120"/>
              </a:rPr>
              <a:t>Wohnungseigentümergemeinschaften, Vermieter und kleine Unternehmen</a:t>
            </a:r>
            <a:endParaRPr lang="en-US" sz="1200" dirty="0"/>
          </a:p>
          <a:p>
            <a:pPr marL="342900" indent="-342900">
              <a:spcAft>
                <a:spcPts val="800"/>
              </a:spcAft>
              <a:buSzPct val="100000"/>
              <a:buChar char="•"/>
            </a:pPr>
            <a:r>
              <a:rPr lang="en-US" sz="1200" dirty="0">
                <a:solidFill>
                  <a:srgbClr val="1A1819"/>
                </a:solidFill>
                <a:latin typeface="Calibri" pitchFamily="34" charset="0"/>
                <a:ea typeface="Calibri" pitchFamily="34" charset="-122"/>
                <a:cs typeface="Calibri" pitchFamily="34" charset="-120"/>
              </a:rPr>
              <a:t>Gefördert werden Wallbox, Elektroinstallation, Netzanschluss und bauliche Maßnahmen</a:t>
            </a:r>
            <a:endParaRPr lang="en-US" sz="1200" dirty="0"/>
          </a:p>
          <a:p>
            <a:pPr marL="342900" indent="-342900">
              <a:spcAft>
                <a:spcPts val="800"/>
              </a:spcAft>
              <a:buSzPct val="100000"/>
              <a:buChar char="•"/>
            </a:pPr>
            <a:r>
              <a:rPr lang="en-US" sz="1200" dirty="0">
                <a:solidFill>
                  <a:srgbClr val="1A1819"/>
                </a:solidFill>
                <a:latin typeface="Calibri" pitchFamily="34" charset="0"/>
                <a:ea typeface="Calibri" pitchFamily="34" charset="-122"/>
                <a:cs typeface="Calibri" pitchFamily="34" charset="-120"/>
              </a:rPr>
              <a:t>Kombinierbar mit KfW- und Landesförderung, solange die Summe die förderfähigen Gesamtkosten nicht übersteigt</a:t>
            </a:r>
            <a:endParaRPr lang="en-US" sz="1200" dirty="0"/>
          </a:p>
        </p:txBody>
      </p:sp>
      <p:sp>
        <p:nvSpPr>
          <p:cNvPr id="24" name="Shape 22"/>
          <p:cNvSpPr/>
          <p:nvPr/>
        </p:nvSpPr>
        <p:spPr>
          <a:xfrm>
            <a:off x="566928" y="5669280"/>
            <a:ext cx="11055096" cy="548640"/>
          </a:xfrm>
          <a:prstGeom prst="roundRect">
            <a:avLst>
              <a:gd name="adj" fmla="val 15000"/>
            </a:avLst>
          </a:prstGeom>
          <a:solidFill>
            <a:srgbClr val="FFF6E0"/>
          </a:solidFill>
          <a:ln w="12700">
            <a:solidFill>
              <a:srgbClr val="E8CC8A"/>
            </a:solidFill>
            <a:prstDash val="solid"/>
          </a:ln>
        </p:spPr>
      </p:sp>
      <p:sp>
        <p:nvSpPr>
          <p:cNvPr id="25" name="Text 23"/>
          <p:cNvSpPr/>
          <p:nvPr/>
        </p:nvSpPr>
        <p:spPr>
          <a:xfrm>
            <a:off x="768096" y="5724144"/>
            <a:ext cx="10652760" cy="438912"/>
          </a:xfrm>
          <a:prstGeom prst="rect">
            <a:avLst/>
          </a:prstGeom>
          <a:noFill/>
          <a:ln/>
        </p:spPr>
        <p:txBody>
          <a:bodyPr wrap="square" lIns="0" tIns="0" rIns="0" bIns="0" rtlCol="0" anchor="ctr"/>
          <a:lstStyle/>
          <a:p>
            <a:pPr indent="0" marL="0">
              <a:buNone/>
            </a:pPr>
            <a:r>
              <a:rPr lang="en-US" sz="1200" b="1" dirty="0">
                <a:solidFill>
                  <a:srgbClr val="8A6100"/>
                </a:solidFill>
                <a:latin typeface="Calibri" pitchFamily="34" charset="0"/>
                <a:ea typeface="Calibri" pitchFamily="34" charset="-122"/>
                <a:cs typeface="Calibri" pitchFamily="34" charset="-120"/>
              </a:rPr>
              <a:t>Für uns:  </a:t>
            </a:r>
            <a:pPr indent="0" marL="0">
              <a:buNone/>
            </a:pPr>
            <a:r>
              <a:rPr lang="en-US" sz="1200" dirty="0">
                <a:solidFill>
                  <a:srgbClr val="1A1819"/>
                </a:solidFill>
                <a:latin typeface="Calibri" pitchFamily="34" charset="0"/>
                <a:ea typeface="Calibri" pitchFamily="34" charset="-122"/>
                <a:cs typeface="Calibri" pitchFamily="34" charset="-120"/>
              </a:rPr>
              <a:t>Jede WEG und jeder Vermieter mit Stellplätzen im Bestand ist ein Kandidat. Bitte in laufenden Beratungen aktiv ansprechen - drei Monate bleiben.</a:t>
            </a:r>
            <a:endParaRPr lang="en-US" sz="1200" dirty="0"/>
          </a:p>
        </p:txBody>
      </p:sp>
      <p:sp>
        <p:nvSpPr>
          <p:cNvPr id="27" name="Text 24"/>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Bundesprogramm „Laden im Mehrparteienhaus" (BMV) · Antragszeitraum 15.04. bis 10.11.2026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ÜBERBLICK</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Der Fristenkalender bis 2045</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Zum Fotografieren. Grün hinterlegt ist alles, was uns in den nächsten 18 Monaten operativ betrifft.</a:t>
            </a:r>
            <a:endParaRPr lang="en-US" sz="1400" dirty="0"/>
          </a:p>
        </p:txBody>
      </p:sp>
      <p:sp>
        <p:nvSpPr>
          <p:cNvPr id="5" name="Shape 3"/>
          <p:cNvSpPr/>
          <p:nvPr/>
        </p:nvSpPr>
        <p:spPr>
          <a:xfrm>
            <a:off x="566928" y="1810512"/>
            <a:ext cx="5372100" cy="502920"/>
          </a:xfrm>
          <a:prstGeom prst="roundRect">
            <a:avLst>
              <a:gd name="adj" fmla="val 9091"/>
            </a:avLst>
          </a:prstGeom>
          <a:solidFill>
            <a:srgbClr val="EDF5EE"/>
          </a:solidFill>
          <a:ln/>
        </p:spPr>
      </p:sp>
      <p:sp>
        <p:nvSpPr>
          <p:cNvPr id="6" name="Text 4"/>
          <p:cNvSpPr/>
          <p:nvPr/>
        </p:nvSpPr>
        <p:spPr>
          <a:xfrm>
            <a:off x="749808" y="1810512"/>
            <a:ext cx="1170432" cy="502920"/>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10.11.2026</a:t>
            </a:r>
            <a:endParaRPr lang="en-US" sz="1150" dirty="0"/>
          </a:p>
        </p:txBody>
      </p:sp>
      <p:sp>
        <p:nvSpPr>
          <p:cNvPr id="7" name="Text 5"/>
          <p:cNvSpPr/>
          <p:nvPr/>
        </p:nvSpPr>
        <p:spPr>
          <a:xfrm>
            <a:off x="1975104" y="1810512"/>
            <a:ext cx="3762756" cy="502920"/>
          </a:xfrm>
          <a:prstGeom prst="rect">
            <a:avLst/>
          </a:prstGeom>
          <a:noFill/>
          <a:ln/>
        </p:spPr>
        <p:txBody>
          <a:bodyPr wrap="square" lIns="0" tIns="0" rIns="0" bIns="0" rtlCol="0" anchor="ctr"/>
          <a:lstStyle/>
          <a:p>
            <a:pPr indent="0" marL="0">
              <a:buNone/>
            </a:pPr>
            <a:r>
              <a:rPr lang="en-US" sz="1050" dirty="0">
                <a:solidFill>
                  <a:srgbClr val="1A1819"/>
                </a:solidFill>
                <a:latin typeface="Calibri" pitchFamily="34" charset="0"/>
                <a:ea typeface="Calibri" pitchFamily="34" charset="-122"/>
                <a:cs typeface="Calibri" pitchFamily="34" charset="-120"/>
              </a:rPr>
              <a:t>Letzter Tag für Anträge „Laden im Mehrparteienhaus"</a:t>
            </a:r>
            <a:endParaRPr lang="en-US" sz="1050" dirty="0"/>
          </a:p>
        </p:txBody>
      </p:sp>
      <p:sp>
        <p:nvSpPr>
          <p:cNvPr id="8" name="Shape 6"/>
          <p:cNvSpPr/>
          <p:nvPr/>
        </p:nvSpPr>
        <p:spPr>
          <a:xfrm>
            <a:off x="566928" y="2372868"/>
            <a:ext cx="5372100" cy="502920"/>
          </a:xfrm>
          <a:prstGeom prst="roundRect">
            <a:avLst>
              <a:gd name="adj" fmla="val 9091"/>
            </a:avLst>
          </a:prstGeom>
          <a:solidFill>
            <a:srgbClr val="EDF5EE"/>
          </a:solidFill>
          <a:ln/>
        </p:spPr>
      </p:sp>
      <p:sp>
        <p:nvSpPr>
          <p:cNvPr id="9" name="Text 7"/>
          <p:cNvSpPr/>
          <p:nvPr/>
        </p:nvSpPr>
        <p:spPr>
          <a:xfrm>
            <a:off x="749808" y="2372868"/>
            <a:ext cx="1170432" cy="502920"/>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 01.01.27</a:t>
            </a:r>
            <a:endParaRPr lang="en-US" sz="1150" dirty="0"/>
          </a:p>
        </p:txBody>
      </p:sp>
      <p:sp>
        <p:nvSpPr>
          <p:cNvPr id="10" name="Text 8"/>
          <p:cNvSpPr/>
          <p:nvPr/>
        </p:nvSpPr>
        <p:spPr>
          <a:xfrm>
            <a:off x="1975104" y="2372868"/>
            <a:ext cx="3762756" cy="502920"/>
          </a:xfrm>
          <a:prstGeom prst="rect">
            <a:avLst/>
          </a:prstGeom>
          <a:noFill/>
          <a:ln/>
        </p:spPr>
        <p:txBody>
          <a:bodyPr wrap="square" lIns="0" tIns="0" rIns="0" bIns="0" rtlCol="0" anchor="ctr"/>
          <a:lstStyle/>
          <a:p>
            <a:pPr indent="0" marL="0">
              <a:buNone/>
            </a:pPr>
            <a:r>
              <a:rPr lang="en-US" sz="1050" dirty="0">
                <a:solidFill>
                  <a:srgbClr val="1A1819"/>
                </a:solidFill>
                <a:latin typeface="Calibri" pitchFamily="34" charset="0"/>
                <a:ea typeface="Calibri" pitchFamily="34" charset="-122"/>
                <a:cs typeface="Calibri" pitchFamily="34" charset="-120"/>
              </a:rPr>
              <a:t>Stufe 2: neue Rechenregeln, Ausweisrecht, NWG-Pflicht, Solarpflicht, GEIG</a:t>
            </a:r>
            <a:endParaRPr lang="en-US" sz="1050" dirty="0"/>
          </a:p>
        </p:txBody>
      </p:sp>
      <p:sp>
        <p:nvSpPr>
          <p:cNvPr id="11" name="Shape 9"/>
          <p:cNvSpPr/>
          <p:nvPr/>
        </p:nvSpPr>
        <p:spPr>
          <a:xfrm>
            <a:off x="566928" y="2935224"/>
            <a:ext cx="5372100" cy="502920"/>
          </a:xfrm>
          <a:prstGeom prst="roundRect">
            <a:avLst>
              <a:gd name="adj" fmla="val 9091"/>
            </a:avLst>
          </a:prstGeom>
          <a:solidFill>
            <a:srgbClr val="EDF5EE"/>
          </a:solidFill>
          <a:ln/>
        </p:spPr>
      </p:sp>
      <p:sp>
        <p:nvSpPr>
          <p:cNvPr id="12" name="Text 10"/>
          <p:cNvSpPr/>
          <p:nvPr/>
        </p:nvSpPr>
        <p:spPr>
          <a:xfrm>
            <a:off x="749808" y="2935224"/>
            <a:ext cx="1170432" cy="502920"/>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01.01.2027</a:t>
            </a:r>
            <a:endParaRPr lang="en-US" sz="1150" dirty="0"/>
          </a:p>
        </p:txBody>
      </p:sp>
      <p:sp>
        <p:nvSpPr>
          <p:cNvPr id="13" name="Text 11"/>
          <p:cNvSpPr/>
          <p:nvPr/>
        </p:nvSpPr>
        <p:spPr>
          <a:xfrm>
            <a:off x="1975104" y="2935224"/>
            <a:ext cx="3762756" cy="502920"/>
          </a:xfrm>
          <a:prstGeom prst="rect">
            <a:avLst/>
          </a:prstGeom>
          <a:noFill/>
          <a:ln/>
        </p:spPr>
        <p:txBody>
          <a:bodyPr wrap="square" lIns="0" tIns="0" rIns="0" bIns="0" rtlCol="0" anchor="ctr"/>
          <a:lstStyle/>
          <a:p>
            <a:pPr indent="0" marL="0">
              <a:buNone/>
            </a:pPr>
            <a:r>
              <a:rPr lang="en-US" sz="1050" dirty="0">
                <a:solidFill>
                  <a:srgbClr val="1A1819"/>
                </a:solidFill>
                <a:latin typeface="Calibri" pitchFamily="34" charset="0"/>
                <a:ea typeface="Calibri" pitchFamily="34" charset="-122"/>
                <a:cs typeface="Calibri" pitchFamily="34" charset="-120"/>
              </a:rPr>
              <a:t>GEIG Bestands-NWG über 20 Stellplätze · Solarpflicht neue NWG über 250 m²</a:t>
            </a:r>
            <a:endParaRPr lang="en-US" sz="1050" dirty="0"/>
          </a:p>
        </p:txBody>
      </p:sp>
      <p:sp>
        <p:nvSpPr>
          <p:cNvPr id="14" name="Shape 12"/>
          <p:cNvSpPr/>
          <p:nvPr/>
        </p:nvSpPr>
        <p:spPr>
          <a:xfrm>
            <a:off x="566928" y="3497580"/>
            <a:ext cx="5372100" cy="502920"/>
          </a:xfrm>
          <a:prstGeom prst="roundRect">
            <a:avLst>
              <a:gd name="adj" fmla="val 9091"/>
            </a:avLst>
          </a:prstGeom>
          <a:solidFill>
            <a:srgbClr val="EDF5EE"/>
          </a:solidFill>
          <a:ln/>
        </p:spPr>
      </p:sp>
      <p:sp>
        <p:nvSpPr>
          <p:cNvPr id="15" name="Text 13"/>
          <p:cNvSpPr/>
          <p:nvPr/>
        </p:nvSpPr>
        <p:spPr>
          <a:xfrm>
            <a:off x="749808" y="3497580"/>
            <a:ext cx="1170432" cy="502920"/>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30.09.2027</a:t>
            </a:r>
            <a:endParaRPr lang="en-US" sz="1150" dirty="0"/>
          </a:p>
        </p:txBody>
      </p:sp>
      <p:sp>
        <p:nvSpPr>
          <p:cNvPr id="16" name="Text 14"/>
          <p:cNvSpPr/>
          <p:nvPr/>
        </p:nvSpPr>
        <p:spPr>
          <a:xfrm>
            <a:off x="1975104" y="3497580"/>
            <a:ext cx="3762756" cy="502920"/>
          </a:xfrm>
          <a:prstGeom prst="rect">
            <a:avLst/>
          </a:prstGeom>
          <a:noFill/>
          <a:ln/>
        </p:spPr>
        <p:txBody>
          <a:bodyPr wrap="square" lIns="0" tIns="0" rIns="0" bIns="0" rtlCol="0" anchor="ctr"/>
          <a:lstStyle/>
          <a:p>
            <a:pPr indent="0" marL="0">
              <a:buNone/>
            </a:pPr>
            <a:r>
              <a:rPr lang="en-US" sz="1050" dirty="0">
                <a:solidFill>
                  <a:srgbClr val="1A1819"/>
                </a:solidFill>
                <a:latin typeface="Calibri" pitchFamily="34" charset="0"/>
                <a:ea typeface="Calibri" pitchFamily="34" charset="-122"/>
                <a:cs typeface="Calibri" pitchFamily="34" charset="-120"/>
              </a:rPr>
              <a:t>Heizungscheck für Anlagen von vor 10/2009 abgeschlossen</a:t>
            </a:r>
            <a:endParaRPr lang="en-US" sz="1050" dirty="0"/>
          </a:p>
        </p:txBody>
      </p:sp>
      <p:sp>
        <p:nvSpPr>
          <p:cNvPr id="17" name="Shape 15"/>
          <p:cNvSpPr/>
          <p:nvPr/>
        </p:nvSpPr>
        <p:spPr>
          <a:xfrm>
            <a:off x="566928" y="4059936"/>
            <a:ext cx="5372100" cy="502920"/>
          </a:xfrm>
          <a:prstGeom prst="roundRect">
            <a:avLst>
              <a:gd name="adj" fmla="val 9091"/>
            </a:avLst>
          </a:prstGeom>
          <a:solidFill>
            <a:srgbClr val="F5F6F3"/>
          </a:solidFill>
          <a:ln/>
        </p:spPr>
      </p:sp>
      <p:sp>
        <p:nvSpPr>
          <p:cNvPr id="18" name="Text 16"/>
          <p:cNvSpPr/>
          <p:nvPr/>
        </p:nvSpPr>
        <p:spPr>
          <a:xfrm>
            <a:off x="749808" y="4059936"/>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01.01.2028</a:t>
            </a:r>
            <a:endParaRPr lang="en-US" sz="1150" dirty="0"/>
          </a:p>
        </p:txBody>
      </p:sp>
      <p:sp>
        <p:nvSpPr>
          <p:cNvPr id="19" name="Text 17"/>
          <p:cNvSpPr/>
          <p:nvPr/>
        </p:nvSpPr>
        <p:spPr>
          <a:xfrm>
            <a:off x="1975104" y="4059936"/>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Nullemission neue öffentliche NWG · CO₂ und Netzentgelte hälftig</a:t>
            </a:r>
            <a:endParaRPr lang="en-US" sz="1050" dirty="0"/>
          </a:p>
        </p:txBody>
      </p:sp>
      <p:sp>
        <p:nvSpPr>
          <p:cNvPr id="20" name="Shape 18"/>
          <p:cNvSpPr/>
          <p:nvPr/>
        </p:nvSpPr>
        <p:spPr>
          <a:xfrm>
            <a:off x="566928" y="4622292"/>
            <a:ext cx="5372100" cy="502920"/>
          </a:xfrm>
          <a:prstGeom prst="roundRect">
            <a:avLst>
              <a:gd name="adj" fmla="val 9091"/>
            </a:avLst>
          </a:prstGeom>
          <a:solidFill>
            <a:srgbClr val="F5F6F3"/>
          </a:solidFill>
          <a:ln/>
        </p:spPr>
      </p:sp>
      <p:sp>
        <p:nvSpPr>
          <p:cNvPr id="21" name="Text 19"/>
          <p:cNvSpPr/>
          <p:nvPr/>
        </p:nvSpPr>
        <p:spPr>
          <a:xfrm>
            <a:off x="749808" y="4622292"/>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01.01.2029</a:t>
            </a:r>
            <a:endParaRPr lang="en-US" sz="1150" dirty="0"/>
          </a:p>
        </p:txBody>
      </p:sp>
      <p:sp>
        <p:nvSpPr>
          <p:cNvPr id="22" name="Text 20"/>
          <p:cNvSpPr/>
          <p:nvPr/>
        </p:nvSpPr>
        <p:spPr>
          <a:xfrm>
            <a:off x="1975104" y="4622292"/>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Bio-Anteil 10 % · Brennstoffkosten-Teilung · Solar öffentliche NWG über 750 m²</a:t>
            </a:r>
            <a:endParaRPr lang="en-US" sz="1050" dirty="0"/>
          </a:p>
        </p:txBody>
      </p:sp>
      <p:sp>
        <p:nvSpPr>
          <p:cNvPr id="23" name="Shape 21"/>
          <p:cNvSpPr/>
          <p:nvPr/>
        </p:nvSpPr>
        <p:spPr>
          <a:xfrm>
            <a:off x="566928" y="5184648"/>
            <a:ext cx="5372100" cy="502920"/>
          </a:xfrm>
          <a:prstGeom prst="roundRect">
            <a:avLst>
              <a:gd name="adj" fmla="val 9091"/>
            </a:avLst>
          </a:prstGeom>
          <a:solidFill>
            <a:srgbClr val="F5F6F3"/>
          </a:solidFill>
          <a:ln/>
        </p:spPr>
      </p:sp>
      <p:sp>
        <p:nvSpPr>
          <p:cNvPr id="24" name="Text 22"/>
          <p:cNvSpPr/>
          <p:nvPr/>
        </p:nvSpPr>
        <p:spPr>
          <a:xfrm>
            <a:off x="749808" y="5184648"/>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31.12.2029</a:t>
            </a:r>
            <a:endParaRPr lang="en-US" sz="1150" dirty="0"/>
          </a:p>
        </p:txBody>
      </p:sp>
      <p:sp>
        <p:nvSpPr>
          <p:cNvPr id="25" name="Text 23"/>
          <p:cNvSpPr/>
          <p:nvPr/>
        </p:nvSpPr>
        <p:spPr>
          <a:xfrm>
            <a:off x="1975104" y="5184648"/>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Gebäudeautomation und Beleuchtungssteuerung NWG über 70 kW nachgerüstet</a:t>
            </a:r>
            <a:endParaRPr lang="en-US" sz="1050" dirty="0"/>
          </a:p>
        </p:txBody>
      </p:sp>
      <p:sp>
        <p:nvSpPr>
          <p:cNvPr id="26" name="Shape 24"/>
          <p:cNvSpPr/>
          <p:nvPr/>
        </p:nvSpPr>
        <p:spPr>
          <a:xfrm>
            <a:off x="6249924" y="1810512"/>
            <a:ext cx="5372100" cy="502920"/>
          </a:xfrm>
          <a:prstGeom prst="roundRect">
            <a:avLst>
              <a:gd name="adj" fmla="val 9091"/>
            </a:avLst>
          </a:prstGeom>
          <a:solidFill>
            <a:srgbClr val="F5F6F3"/>
          </a:solidFill>
          <a:ln/>
        </p:spPr>
      </p:sp>
      <p:sp>
        <p:nvSpPr>
          <p:cNvPr id="27" name="Text 25"/>
          <p:cNvSpPr/>
          <p:nvPr/>
        </p:nvSpPr>
        <p:spPr>
          <a:xfrm>
            <a:off x="6432804" y="1810512"/>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01.01.2030</a:t>
            </a:r>
            <a:endParaRPr lang="en-US" sz="1150" dirty="0"/>
          </a:p>
        </p:txBody>
      </p:sp>
      <p:sp>
        <p:nvSpPr>
          <p:cNvPr id="28" name="Text 26"/>
          <p:cNvSpPr/>
          <p:nvPr/>
        </p:nvSpPr>
        <p:spPr>
          <a:xfrm>
            <a:off x="7658100" y="1810512"/>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Nullemission alle Neubauten · NWG höchstens 3,5 × Referenz · Solarpflicht Wohngebäude</a:t>
            </a:r>
            <a:endParaRPr lang="en-US" sz="1050" dirty="0"/>
          </a:p>
        </p:txBody>
      </p:sp>
      <p:sp>
        <p:nvSpPr>
          <p:cNvPr id="29" name="Shape 27"/>
          <p:cNvSpPr/>
          <p:nvPr/>
        </p:nvSpPr>
        <p:spPr>
          <a:xfrm>
            <a:off x="6249924" y="2372868"/>
            <a:ext cx="5372100" cy="502920"/>
          </a:xfrm>
          <a:prstGeom prst="roundRect">
            <a:avLst>
              <a:gd name="adj" fmla="val 9091"/>
            </a:avLst>
          </a:prstGeom>
          <a:solidFill>
            <a:srgbClr val="F5F6F3"/>
          </a:solidFill>
          <a:ln/>
        </p:spPr>
      </p:sp>
      <p:sp>
        <p:nvSpPr>
          <p:cNvPr id="30" name="Text 28"/>
          <p:cNvSpPr/>
          <p:nvPr/>
        </p:nvSpPr>
        <p:spPr>
          <a:xfrm>
            <a:off x="6432804" y="2372868"/>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01.01.2031</a:t>
            </a:r>
            <a:endParaRPr lang="en-US" sz="1150" dirty="0"/>
          </a:p>
        </p:txBody>
      </p:sp>
      <p:sp>
        <p:nvSpPr>
          <p:cNvPr id="31" name="Text 29"/>
          <p:cNvSpPr/>
          <p:nvPr/>
        </p:nvSpPr>
        <p:spPr>
          <a:xfrm>
            <a:off x="7658100" y="2372868"/>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Solarpflicht Bestand: öffentliche NWG über 250 m²</a:t>
            </a:r>
            <a:endParaRPr lang="en-US" sz="1050" dirty="0"/>
          </a:p>
        </p:txBody>
      </p:sp>
      <p:sp>
        <p:nvSpPr>
          <p:cNvPr id="32" name="Shape 30"/>
          <p:cNvSpPr/>
          <p:nvPr/>
        </p:nvSpPr>
        <p:spPr>
          <a:xfrm>
            <a:off x="6249924" y="2935224"/>
            <a:ext cx="5372100" cy="502920"/>
          </a:xfrm>
          <a:prstGeom prst="roundRect">
            <a:avLst>
              <a:gd name="adj" fmla="val 9091"/>
            </a:avLst>
          </a:prstGeom>
          <a:solidFill>
            <a:srgbClr val="F5F6F3"/>
          </a:solidFill>
          <a:ln/>
        </p:spPr>
      </p:sp>
      <p:sp>
        <p:nvSpPr>
          <p:cNvPr id="33" name="Text 31"/>
          <p:cNvSpPr/>
          <p:nvPr/>
        </p:nvSpPr>
        <p:spPr>
          <a:xfrm>
            <a:off x="6432804" y="2935224"/>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01.01.2033</a:t>
            </a:r>
            <a:endParaRPr lang="en-US" sz="1150" dirty="0"/>
          </a:p>
        </p:txBody>
      </p:sp>
      <p:sp>
        <p:nvSpPr>
          <p:cNvPr id="34" name="Text 32"/>
          <p:cNvSpPr/>
          <p:nvPr/>
        </p:nvSpPr>
        <p:spPr>
          <a:xfrm>
            <a:off x="7658100" y="2935224"/>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NWG-Bestand höchstens 2,95 × Referenz - mindestens Klasse E</a:t>
            </a:r>
            <a:endParaRPr lang="en-US" sz="1050" dirty="0"/>
          </a:p>
        </p:txBody>
      </p:sp>
      <p:sp>
        <p:nvSpPr>
          <p:cNvPr id="35" name="Shape 33"/>
          <p:cNvSpPr/>
          <p:nvPr/>
        </p:nvSpPr>
        <p:spPr>
          <a:xfrm>
            <a:off x="6249924" y="3497580"/>
            <a:ext cx="5372100" cy="502920"/>
          </a:xfrm>
          <a:prstGeom prst="roundRect">
            <a:avLst>
              <a:gd name="adj" fmla="val 9091"/>
            </a:avLst>
          </a:prstGeom>
          <a:solidFill>
            <a:srgbClr val="F5F6F3"/>
          </a:solidFill>
          <a:ln/>
        </p:spPr>
      </p:sp>
      <p:sp>
        <p:nvSpPr>
          <p:cNvPr id="36" name="Text 34"/>
          <p:cNvSpPr/>
          <p:nvPr/>
        </p:nvSpPr>
        <p:spPr>
          <a:xfrm>
            <a:off x="6432804" y="3497580"/>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31.12.2034</a:t>
            </a:r>
            <a:endParaRPr lang="en-US" sz="1150" dirty="0"/>
          </a:p>
        </p:txBody>
      </p:sp>
      <p:sp>
        <p:nvSpPr>
          <p:cNvPr id="37" name="Text 35"/>
          <p:cNvSpPr/>
          <p:nvPr/>
        </p:nvSpPr>
        <p:spPr>
          <a:xfrm>
            <a:off x="7658100" y="3497580"/>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Ende der Ersatzerfüllung über Solarthermie und Lüftungs-Wärmerückgewinnung</a:t>
            </a:r>
            <a:endParaRPr lang="en-US" sz="1050" dirty="0"/>
          </a:p>
        </p:txBody>
      </p:sp>
      <p:sp>
        <p:nvSpPr>
          <p:cNvPr id="38" name="Shape 36"/>
          <p:cNvSpPr/>
          <p:nvPr/>
        </p:nvSpPr>
        <p:spPr>
          <a:xfrm>
            <a:off x="6249924" y="4059936"/>
            <a:ext cx="5372100" cy="502920"/>
          </a:xfrm>
          <a:prstGeom prst="roundRect">
            <a:avLst>
              <a:gd name="adj" fmla="val 9091"/>
            </a:avLst>
          </a:prstGeom>
          <a:solidFill>
            <a:srgbClr val="F5F6F3"/>
          </a:solidFill>
          <a:ln/>
        </p:spPr>
      </p:sp>
      <p:sp>
        <p:nvSpPr>
          <p:cNvPr id="39" name="Text 37"/>
          <p:cNvSpPr/>
          <p:nvPr/>
        </p:nvSpPr>
        <p:spPr>
          <a:xfrm>
            <a:off x="6432804" y="4059936"/>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2035 / 2040</a:t>
            </a:r>
            <a:endParaRPr lang="en-US" sz="1150" dirty="0"/>
          </a:p>
        </p:txBody>
      </p:sp>
      <p:sp>
        <p:nvSpPr>
          <p:cNvPr id="40" name="Text 38"/>
          <p:cNvSpPr/>
          <p:nvPr/>
        </p:nvSpPr>
        <p:spPr>
          <a:xfrm>
            <a:off x="7658100" y="4059936"/>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Bio-Anteil 30 % · Bio-Anteil 60 %</a:t>
            </a:r>
            <a:endParaRPr lang="en-US" sz="1050" dirty="0"/>
          </a:p>
        </p:txBody>
      </p:sp>
      <p:sp>
        <p:nvSpPr>
          <p:cNvPr id="41" name="Shape 39"/>
          <p:cNvSpPr/>
          <p:nvPr/>
        </p:nvSpPr>
        <p:spPr>
          <a:xfrm>
            <a:off x="6249924" y="4622292"/>
            <a:ext cx="5372100" cy="502920"/>
          </a:xfrm>
          <a:prstGeom prst="roundRect">
            <a:avLst>
              <a:gd name="adj" fmla="val 9091"/>
            </a:avLst>
          </a:prstGeom>
          <a:solidFill>
            <a:srgbClr val="F5F6F3"/>
          </a:solidFill>
          <a:ln/>
        </p:spPr>
      </p:sp>
      <p:sp>
        <p:nvSpPr>
          <p:cNvPr id="42" name="Text 40"/>
          <p:cNvSpPr/>
          <p:nvPr/>
        </p:nvSpPr>
        <p:spPr>
          <a:xfrm>
            <a:off x="6432804" y="4622292"/>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2045</a:t>
            </a:r>
            <a:endParaRPr lang="en-US" sz="1150" dirty="0"/>
          </a:p>
        </p:txBody>
      </p:sp>
      <p:sp>
        <p:nvSpPr>
          <p:cNvPr id="43" name="Text 41"/>
          <p:cNvSpPr/>
          <p:nvPr/>
        </p:nvSpPr>
        <p:spPr>
          <a:xfrm>
            <a:off x="7658100" y="4622292"/>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Brennstoffe klimaneutral über die Quote der Lieferanten</a:t>
            </a:r>
            <a:endParaRPr lang="en-US" sz="1050" dirty="0"/>
          </a:p>
        </p:txBody>
      </p:sp>
      <p:sp>
        <p:nvSpPr>
          <p:cNvPr id="45" name="Text 42"/>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GModG Artikel 9 und Einzelvorschriften · Förderprogramm BMV</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819"/>
        </a:solidFill>
      </p:bgPr>
    </p:bg>
    <p:spTree>
      <p:nvGrpSpPr>
        <p:cNvPr id="1" name=""/>
        <p:cNvGrpSpPr/>
        <p:nvPr/>
      </p:nvGrpSpPr>
      <p:grpSpPr>
        <a:xfrm>
          <a:off x="0" y="0"/>
          <a:ext cx="0" cy="0"/>
          <a:chOff x="0" y="0"/>
          <a:chExt cx="0" cy="0"/>
        </a:xfrm>
      </p:grpSpPr>
      <p:sp>
        <p:nvSpPr>
          <p:cNvPr id="2" name="Shape 0"/>
          <p:cNvSpPr/>
          <p:nvPr/>
        </p:nvSpPr>
        <p:spPr>
          <a:xfrm>
            <a:off x="9354312" y="-1371600"/>
            <a:ext cx="4572000" cy="4572000"/>
          </a:xfrm>
          <a:prstGeom prst="ellipse">
            <a:avLst/>
          </a:prstGeom>
          <a:solidFill>
            <a:srgbClr val="256A30"/>
          </a:solidFill>
          <a:ln/>
        </p:spPr>
      </p:sp>
      <p:sp>
        <p:nvSpPr>
          <p:cNvPr id="3" name="Shape 1"/>
          <p:cNvSpPr/>
          <p:nvPr/>
        </p:nvSpPr>
        <p:spPr>
          <a:xfrm>
            <a:off x="10725912" y="3566160"/>
            <a:ext cx="2377440" cy="2377440"/>
          </a:xfrm>
          <a:prstGeom prst="ellipse">
            <a:avLst/>
          </a:prstGeom>
          <a:solidFill>
            <a:srgbClr val="2E7D3A"/>
          </a:solidFill>
          <a:ln/>
        </p:spPr>
      </p:sp>
      <p:sp>
        <p:nvSpPr>
          <p:cNvPr id="4" name="Text 2"/>
          <p:cNvSpPr/>
          <p:nvPr/>
        </p:nvSpPr>
        <p:spPr>
          <a:xfrm>
            <a:off x="566928" y="1417320"/>
            <a:ext cx="2011680" cy="1371600"/>
          </a:xfrm>
          <a:prstGeom prst="rect">
            <a:avLst/>
          </a:prstGeom>
          <a:noFill/>
          <a:ln/>
        </p:spPr>
        <p:txBody>
          <a:bodyPr wrap="square" lIns="0" tIns="0" rIns="0" bIns="0" rtlCol="0" anchor="ctr"/>
          <a:lstStyle/>
          <a:p>
            <a:pPr indent="0" marL="0">
              <a:buNone/>
            </a:pPr>
            <a:r>
              <a:rPr lang="en-US" sz="8400" b="1" dirty="0">
                <a:solidFill>
                  <a:srgbClr val="58B264"/>
                </a:solidFill>
                <a:latin typeface="Trebuchet MS" pitchFamily="34" charset="0"/>
                <a:ea typeface="Trebuchet MS" pitchFamily="34" charset="-122"/>
                <a:cs typeface="Trebuchet MS" pitchFamily="34" charset="-120"/>
              </a:rPr>
              <a:t>02</a:t>
            </a:r>
            <a:endParaRPr lang="en-US" sz="8400" dirty="0"/>
          </a:p>
        </p:txBody>
      </p:sp>
      <p:sp>
        <p:nvSpPr>
          <p:cNvPr id="5" name="Text 3"/>
          <p:cNvSpPr/>
          <p:nvPr/>
        </p:nvSpPr>
        <p:spPr>
          <a:xfrm>
            <a:off x="566928" y="2788920"/>
            <a:ext cx="7498080" cy="274320"/>
          </a:xfrm>
          <a:prstGeom prst="rect">
            <a:avLst/>
          </a:prstGeom>
          <a:noFill/>
          <a:ln/>
        </p:spPr>
        <p:txBody>
          <a:bodyPr wrap="square" lIns="0" tIns="0" rIns="0" bIns="0" rtlCol="0" anchor="ctr"/>
          <a:lstStyle/>
          <a:p>
            <a:pPr indent="0" marL="0">
              <a:buNone/>
            </a:pPr>
            <a:r>
              <a:rPr lang="en-US" sz="1100" b="1" spc="180" kern="0" dirty="0">
                <a:solidFill>
                  <a:srgbClr val="BFDCC4"/>
                </a:solidFill>
                <a:latin typeface="Calibri" pitchFamily="34" charset="0"/>
                <a:ea typeface="Calibri" pitchFamily="34" charset="-122"/>
                <a:cs typeface="Calibri" pitchFamily="34" charset="-120"/>
              </a:rPr>
              <a:t>KAPITEL 2 · PRAXIS, MARKT UND WERKZEUGE</a:t>
            </a:r>
            <a:endParaRPr lang="en-US" sz="1100" dirty="0"/>
          </a:p>
        </p:txBody>
      </p:sp>
      <p:sp>
        <p:nvSpPr>
          <p:cNvPr id="6" name="Text 4"/>
          <p:cNvSpPr/>
          <p:nvPr/>
        </p:nvSpPr>
        <p:spPr>
          <a:xfrm>
            <a:off x="566928" y="3072384"/>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Was wir daraus machen.</a:t>
            </a:r>
            <a:endParaRPr lang="en-US" sz="3800" dirty="0"/>
          </a:p>
        </p:txBody>
      </p:sp>
      <p:sp>
        <p:nvSpPr>
          <p:cNvPr id="7" name="Text 5"/>
          <p:cNvSpPr/>
          <p:nvPr/>
        </p:nvSpPr>
        <p:spPr>
          <a:xfrm>
            <a:off x="612648" y="4114800"/>
            <a:ext cx="7315200" cy="137160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Ein Merksatz zu Förderanträgen, der uns Ärger erspart</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Neue Preise, neue Sichtbarkeit, neue Werkzeuge</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Und ein neuer Standort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2 · FÖRDERPRAXIS</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Der Merksatz aus dem Sanierungs-Chat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Von David, diese Woche - und er hat recht. Ab sofort bitte Standard bei allen Anträgen.</a:t>
            </a:r>
            <a:endParaRPr lang="en-US" sz="1400" dirty="0"/>
          </a:p>
        </p:txBody>
      </p:sp>
      <p:sp>
        <p:nvSpPr>
          <p:cNvPr id="5" name="Shape 3"/>
          <p:cNvSpPr/>
          <p:nvPr/>
        </p:nvSpPr>
        <p:spPr>
          <a:xfrm>
            <a:off x="566928" y="1828800"/>
            <a:ext cx="11055096" cy="1417320"/>
          </a:xfrm>
          <a:prstGeom prst="roundRect">
            <a:avLst>
              <a:gd name="adj" fmla="val 5806"/>
            </a:avLst>
          </a:prstGeom>
          <a:solidFill>
            <a:srgbClr val="1A1819"/>
          </a:solidFill>
          <a:ln/>
        </p:spPr>
      </p:sp>
      <p:sp>
        <p:nvSpPr>
          <p:cNvPr id="6" name="Text 4"/>
          <p:cNvSpPr/>
          <p:nvPr/>
        </p:nvSpPr>
        <p:spPr>
          <a:xfrm>
            <a:off x="950976" y="1828800"/>
            <a:ext cx="10287000" cy="1417320"/>
          </a:xfrm>
          <a:prstGeom prst="rect">
            <a:avLst/>
          </a:prstGeom>
          <a:noFill/>
          <a:ln/>
        </p:spPr>
        <p:txBody>
          <a:bodyPr wrap="square" lIns="0" tIns="0" rIns="0" bIns="0" rtlCol="0" anchor="ctr"/>
          <a:lstStyle/>
          <a:p>
            <a:pPr indent="0" marL="0">
              <a:lnSpc>
                <a:spcPts val="3200"/>
              </a:lnSpc>
              <a:buNone/>
            </a:pPr>
            <a:r>
              <a:rPr lang="en-US" sz="2100" i="1" dirty="0">
                <a:solidFill>
                  <a:srgbClr val="FFFFFF"/>
                </a:solidFill>
                <a:latin typeface="Trebuchet MS" pitchFamily="34" charset="0"/>
                <a:ea typeface="Trebuchet MS" pitchFamily="34" charset="-122"/>
                <a:cs typeface="Trebuchet MS" pitchFamily="34" charset="-120"/>
              </a:rPr>
              <a:t>„Plant ausreichend Puffer in den Anträgen und BzAs ein.</a:t>
            </a:r>
            <a:endParaRPr lang="en-US" sz="2100" dirty="0"/>
          </a:p>
          <a:p>
            <a:pPr indent="0" marL="0">
              <a:lnSpc>
                <a:spcPts val="3200"/>
              </a:lnSpc>
              <a:buNone/>
            </a:pPr>
            <a:r>
              <a:rPr lang="en-US" sz="2100" i="1" dirty="0">
                <a:solidFill>
                  <a:srgbClr val="FFFFFF"/>
                </a:solidFill>
                <a:latin typeface="Trebuchet MS" pitchFamily="34" charset="0"/>
                <a:ea typeface="Trebuchet MS" pitchFamily="34" charset="-122"/>
                <a:cs typeface="Trebuchet MS" pitchFamily="34" charset="-120"/>
              </a:rPr>
              <a:t>Wir haben ja keinen Nachteil, wenn da mehr drinsteht."</a:t>
            </a:r>
            <a:endParaRPr lang="en-US" sz="2100" dirty="0"/>
          </a:p>
        </p:txBody>
      </p:sp>
      <p:sp>
        <p:nvSpPr>
          <p:cNvPr id="7" name="Text 5"/>
          <p:cNvSpPr/>
          <p:nvPr/>
        </p:nvSpPr>
        <p:spPr>
          <a:xfrm>
            <a:off x="566928" y="3529584"/>
            <a:ext cx="5486400" cy="310896"/>
          </a:xfrm>
          <a:prstGeom prst="rect">
            <a:avLst/>
          </a:prstGeom>
          <a:noFill/>
          <a:ln/>
        </p:spPr>
        <p:txBody>
          <a:bodyPr wrap="square" lIns="0" tIns="0" rIns="0" bIns="0" rtlCol="0" anchor="ctr"/>
          <a:lstStyle/>
          <a:p>
            <a:pPr indent="0" marL="0">
              <a:buNone/>
            </a:pPr>
            <a:r>
              <a:rPr lang="en-US" sz="1700" b="1" dirty="0">
                <a:solidFill>
                  <a:srgbClr val="1A1819"/>
                </a:solidFill>
                <a:latin typeface="Trebuchet MS" pitchFamily="34" charset="0"/>
                <a:ea typeface="Trebuchet MS" pitchFamily="34" charset="-122"/>
                <a:cs typeface="Trebuchet MS" pitchFamily="34" charset="-120"/>
              </a:rPr>
              <a:t>Das Rechenbeispiel</a:t>
            </a:r>
            <a:endParaRPr lang="en-US" sz="1700" dirty="0"/>
          </a:p>
        </p:txBody>
      </p:sp>
      <p:sp>
        <p:nvSpPr>
          <p:cNvPr id="8" name="Shape 6"/>
          <p:cNvSpPr/>
          <p:nvPr/>
        </p:nvSpPr>
        <p:spPr>
          <a:xfrm>
            <a:off x="566928" y="3950208"/>
            <a:ext cx="5748650" cy="585216"/>
          </a:xfrm>
          <a:prstGeom prst="roundRect">
            <a:avLst>
              <a:gd name="adj" fmla="val 9375"/>
            </a:avLst>
          </a:prstGeom>
          <a:solidFill>
            <a:srgbClr val="F5F6F3"/>
          </a:solidFill>
          <a:ln/>
        </p:spPr>
      </p:sp>
      <p:sp>
        <p:nvSpPr>
          <p:cNvPr id="9" name="Text 7"/>
          <p:cNvSpPr/>
          <p:nvPr/>
        </p:nvSpPr>
        <p:spPr>
          <a:xfrm>
            <a:off x="804672" y="3950208"/>
            <a:ext cx="3051170" cy="585216"/>
          </a:xfrm>
          <a:prstGeom prst="rect">
            <a:avLst/>
          </a:prstGeom>
          <a:noFill/>
          <a:ln/>
        </p:spPr>
        <p:txBody>
          <a:bodyPr wrap="square" lIns="0" tIns="0" rIns="0" bIns="0" rtlCol="0" anchor="ctr"/>
          <a:lstStyle/>
          <a:p>
            <a:pPr indent="0" marL="0">
              <a:buNone/>
            </a:pPr>
            <a:r>
              <a:rPr lang="en-US" sz="1200" dirty="0">
                <a:solidFill>
                  <a:srgbClr val="1A1819"/>
                </a:solidFill>
                <a:latin typeface="Calibri" pitchFamily="34" charset="0"/>
                <a:ea typeface="Calibri" pitchFamily="34" charset="-122"/>
                <a:cs typeface="Calibri" pitchFamily="34" charset="-120"/>
              </a:rPr>
              <a:t>Angebot Heizungsbauer</a:t>
            </a:r>
            <a:endParaRPr lang="en-US" sz="1200" dirty="0"/>
          </a:p>
        </p:txBody>
      </p:sp>
      <p:sp>
        <p:nvSpPr>
          <p:cNvPr id="10" name="Text 8"/>
          <p:cNvSpPr/>
          <p:nvPr/>
        </p:nvSpPr>
        <p:spPr>
          <a:xfrm>
            <a:off x="4029578" y="3950208"/>
            <a:ext cx="2048256" cy="585216"/>
          </a:xfrm>
          <a:prstGeom prst="rect">
            <a:avLst/>
          </a:prstGeom>
          <a:noFill/>
          <a:ln/>
        </p:spPr>
        <p:txBody>
          <a:bodyPr wrap="square" lIns="0" tIns="0" rIns="0" bIns="0" rtlCol="0" anchor="ctr"/>
          <a:lstStyle/>
          <a:p>
            <a:pPr algn="r" indent="0" marL="0">
              <a:buNone/>
            </a:pPr>
            <a:r>
              <a:rPr lang="en-US" sz="1500" b="1" dirty="0">
                <a:solidFill>
                  <a:srgbClr val="5B685D"/>
                </a:solidFill>
                <a:latin typeface="Trebuchet MS" pitchFamily="34" charset="0"/>
                <a:ea typeface="Trebuchet MS" pitchFamily="34" charset="-122"/>
                <a:cs typeface="Trebuchet MS" pitchFamily="34" charset="-120"/>
              </a:rPr>
              <a:t>33.278 €</a:t>
            </a:r>
            <a:endParaRPr lang="en-US" sz="1500" dirty="0"/>
          </a:p>
        </p:txBody>
      </p:sp>
      <p:sp>
        <p:nvSpPr>
          <p:cNvPr id="11" name="Shape 9"/>
          <p:cNvSpPr/>
          <p:nvPr/>
        </p:nvSpPr>
        <p:spPr>
          <a:xfrm>
            <a:off x="566928" y="4608576"/>
            <a:ext cx="5748650" cy="585216"/>
          </a:xfrm>
          <a:prstGeom prst="roundRect">
            <a:avLst>
              <a:gd name="adj" fmla="val 9375"/>
            </a:avLst>
          </a:prstGeom>
          <a:solidFill>
            <a:srgbClr val="F5F6F3"/>
          </a:solidFill>
          <a:ln/>
        </p:spPr>
      </p:sp>
      <p:sp>
        <p:nvSpPr>
          <p:cNvPr id="12" name="Text 10"/>
          <p:cNvSpPr/>
          <p:nvPr/>
        </p:nvSpPr>
        <p:spPr>
          <a:xfrm>
            <a:off x="804672" y="4608576"/>
            <a:ext cx="3051170" cy="585216"/>
          </a:xfrm>
          <a:prstGeom prst="rect">
            <a:avLst/>
          </a:prstGeom>
          <a:noFill/>
          <a:ln/>
        </p:spPr>
        <p:txBody>
          <a:bodyPr wrap="square" lIns="0" tIns="0" rIns="0" bIns="0" rtlCol="0" anchor="ctr"/>
          <a:lstStyle/>
          <a:p>
            <a:pPr indent="0" marL="0">
              <a:buNone/>
            </a:pPr>
            <a:r>
              <a:rPr lang="en-US" sz="1200" dirty="0">
                <a:solidFill>
                  <a:srgbClr val="1A1819"/>
                </a:solidFill>
                <a:latin typeface="Calibri" pitchFamily="34" charset="0"/>
                <a:ea typeface="Calibri" pitchFamily="34" charset="-122"/>
                <a:cs typeface="Calibri" pitchFamily="34" charset="-120"/>
              </a:rPr>
              <a:t>Nicht so: BzA bei 2 WE</a:t>
            </a:r>
            <a:endParaRPr lang="en-US" sz="1200" dirty="0"/>
          </a:p>
        </p:txBody>
      </p:sp>
      <p:sp>
        <p:nvSpPr>
          <p:cNvPr id="13" name="Text 11"/>
          <p:cNvSpPr/>
          <p:nvPr/>
        </p:nvSpPr>
        <p:spPr>
          <a:xfrm>
            <a:off x="4029578" y="4608576"/>
            <a:ext cx="2048256" cy="585216"/>
          </a:xfrm>
          <a:prstGeom prst="rect">
            <a:avLst/>
          </a:prstGeom>
          <a:noFill/>
          <a:ln/>
        </p:spPr>
        <p:txBody>
          <a:bodyPr wrap="square" lIns="0" tIns="0" rIns="0" bIns="0" rtlCol="0" anchor="ctr"/>
          <a:lstStyle/>
          <a:p>
            <a:pPr algn="r" indent="0" marL="0">
              <a:buNone/>
            </a:pPr>
            <a:r>
              <a:rPr lang="en-US" sz="1500" b="1" dirty="0">
                <a:solidFill>
                  <a:srgbClr val="B5544D"/>
                </a:solidFill>
                <a:latin typeface="Trebuchet MS" pitchFamily="34" charset="0"/>
                <a:ea typeface="Trebuchet MS" pitchFamily="34" charset="-122"/>
                <a:cs typeface="Trebuchet MS" pitchFamily="34" charset="-120"/>
              </a:rPr>
              <a:t>35.000 €</a:t>
            </a:r>
            <a:endParaRPr lang="en-US" sz="1500" dirty="0"/>
          </a:p>
        </p:txBody>
      </p:sp>
      <p:sp>
        <p:nvSpPr>
          <p:cNvPr id="14" name="Shape 12"/>
          <p:cNvSpPr/>
          <p:nvPr/>
        </p:nvSpPr>
        <p:spPr>
          <a:xfrm>
            <a:off x="566928" y="5266944"/>
            <a:ext cx="5748650" cy="585216"/>
          </a:xfrm>
          <a:prstGeom prst="roundRect">
            <a:avLst>
              <a:gd name="adj" fmla="val 9375"/>
            </a:avLst>
          </a:prstGeom>
          <a:solidFill>
            <a:srgbClr val="EDF5EE"/>
          </a:solidFill>
          <a:ln/>
        </p:spPr>
      </p:sp>
      <p:sp>
        <p:nvSpPr>
          <p:cNvPr id="15" name="Text 13"/>
          <p:cNvSpPr/>
          <p:nvPr/>
        </p:nvSpPr>
        <p:spPr>
          <a:xfrm>
            <a:off x="804672" y="5266944"/>
            <a:ext cx="3051170" cy="585216"/>
          </a:xfrm>
          <a:prstGeom prst="rect">
            <a:avLst/>
          </a:prstGeom>
          <a:noFill/>
          <a:ln/>
        </p:spPr>
        <p:txBody>
          <a:bodyPr wrap="square" lIns="0" tIns="0" rIns="0" bIns="0" rtlCol="0" anchor="ctr"/>
          <a:lstStyle/>
          <a:p>
            <a:pPr indent="0" marL="0">
              <a:buNone/>
            </a:pPr>
            <a:r>
              <a:rPr lang="en-US" sz="1200" dirty="0">
                <a:solidFill>
                  <a:srgbClr val="1A1819"/>
                </a:solidFill>
                <a:latin typeface="Calibri" pitchFamily="34" charset="0"/>
                <a:ea typeface="Calibri" pitchFamily="34" charset="-122"/>
                <a:cs typeface="Calibri" pitchFamily="34" charset="-120"/>
              </a:rPr>
              <a:t>Sondern: BzA bei 2 WE</a:t>
            </a:r>
            <a:endParaRPr lang="en-US" sz="1200" dirty="0"/>
          </a:p>
        </p:txBody>
      </p:sp>
      <p:sp>
        <p:nvSpPr>
          <p:cNvPr id="16" name="Text 14"/>
          <p:cNvSpPr/>
          <p:nvPr/>
        </p:nvSpPr>
        <p:spPr>
          <a:xfrm>
            <a:off x="4029578" y="5266944"/>
            <a:ext cx="2048256" cy="585216"/>
          </a:xfrm>
          <a:prstGeom prst="rect">
            <a:avLst/>
          </a:prstGeom>
          <a:noFill/>
          <a:ln/>
        </p:spPr>
        <p:txBody>
          <a:bodyPr wrap="square" lIns="0" tIns="0" rIns="0" bIns="0" rtlCol="0" anchor="ctr"/>
          <a:lstStyle/>
          <a:p>
            <a:pPr algn="r" indent="0" marL="0">
              <a:buNone/>
            </a:pPr>
            <a:r>
              <a:rPr lang="en-US" sz="1500" b="1" dirty="0">
                <a:solidFill>
                  <a:srgbClr val="2E7D3A"/>
                </a:solidFill>
                <a:latin typeface="Trebuchet MS" pitchFamily="34" charset="0"/>
                <a:ea typeface="Trebuchet MS" pitchFamily="34" charset="-122"/>
                <a:cs typeface="Trebuchet MS" pitchFamily="34" charset="-120"/>
              </a:rPr>
              <a:t>42.000 - 45.000 €</a:t>
            </a:r>
            <a:endParaRPr lang="en-US" sz="1500" dirty="0"/>
          </a:p>
        </p:txBody>
      </p:sp>
      <p:sp>
        <p:nvSpPr>
          <p:cNvPr id="17" name="Shape 15"/>
          <p:cNvSpPr/>
          <p:nvPr/>
        </p:nvSpPr>
        <p:spPr>
          <a:xfrm>
            <a:off x="6647231" y="3529584"/>
            <a:ext cx="4974793" cy="2377440"/>
          </a:xfrm>
          <a:prstGeom prst="roundRect">
            <a:avLst>
              <a:gd name="adj" fmla="val 3462"/>
            </a:avLst>
          </a:prstGeom>
          <a:solidFill>
            <a:srgbClr val="F5F6F3"/>
          </a:solidFill>
          <a:ln/>
          <a:effectLst>
            <a:outerShdw sx="100000" sy="100000" kx="0" ky="0" algn="bl" rotWithShape="0" blurRad="127000" dist="25400" dir="5400000">
              <a:srgbClr val="000000">
                <a:alpha val="7000"/>
              </a:srgbClr>
            </a:outerShdw>
          </a:effectLst>
        </p:spPr>
      </p:sp>
      <p:sp>
        <p:nvSpPr>
          <p:cNvPr id="18" name="Text 16"/>
          <p:cNvSpPr/>
          <p:nvPr/>
        </p:nvSpPr>
        <p:spPr>
          <a:xfrm>
            <a:off x="6921551" y="3694176"/>
            <a:ext cx="4426153" cy="292608"/>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Warum das wichtig ist</a:t>
            </a:r>
            <a:endParaRPr lang="en-US" sz="1500" dirty="0"/>
          </a:p>
        </p:txBody>
      </p:sp>
      <p:sp>
        <p:nvSpPr>
          <p:cNvPr id="19" name="Text 17"/>
          <p:cNvSpPr/>
          <p:nvPr/>
        </p:nvSpPr>
        <p:spPr>
          <a:xfrm>
            <a:off x="6958127" y="4059936"/>
            <a:ext cx="4353001" cy="1700784"/>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1A1819"/>
                </a:solidFill>
                <a:latin typeface="Calibri" pitchFamily="34" charset="0"/>
                <a:ea typeface="Calibri" pitchFamily="34" charset="-122"/>
                <a:cs typeface="Calibri" pitchFamily="34" charset="-120"/>
              </a:rPr>
              <a:t>Ein zu knapp bemessener Antrag wird zum Problem, sobald die Kosten steigen - und sie steigen fast immer.</a:t>
            </a:r>
            <a:endParaRPr lang="en-US" sz="1150" dirty="0"/>
          </a:p>
          <a:p>
            <a:pPr marL="342900" indent="-342900">
              <a:spcAft>
                <a:spcPts val="900"/>
              </a:spcAft>
              <a:buSzPct val="100000"/>
              <a:buChar char="•"/>
            </a:pPr>
            <a:r>
              <a:rPr lang="en-US" sz="1150" dirty="0">
                <a:solidFill>
                  <a:srgbClr val="1A1819"/>
                </a:solidFill>
                <a:latin typeface="Calibri" pitchFamily="34" charset="0"/>
                <a:ea typeface="Calibri" pitchFamily="34" charset="-122"/>
                <a:cs typeface="Calibri" pitchFamily="34" charset="-120"/>
              </a:rPr>
              <a:t>Ein höherer Ansatz kostet uns nichts. Abgerechnet wird ohnehin nach tatsächlichem Aufwand.</a:t>
            </a:r>
            <a:endParaRPr lang="en-US" sz="1150" dirty="0"/>
          </a:p>
          <a:p>
            <a:pPr marL="342900" indent="-342900">
              <a:spcAft>
                <a:spcPts val="900"/>
              </a:spcAft>
              <a:buSzPct val="100000"/>
              <a:buChar char="•"/>
            </a:pPr>
            <a:r>
              <a:rPr lang="en-US" sz="1150" dirty="0">
                <a:solidFill>
                  <a:srgbClr val="1A1819"/>
                </a:solidFill>
                <a:latin typeface="Calibri" pitchFamily="34" charset="0"/>
                <a:ea typeface="Calibri" pitchFamily="34" charset="-122"/>
                <a:cs typeface="Calibri" pitchFamily="34" charset="-120"/>
              </a:rPr>
              <a:t>Nachträgliche Korrekturen kosten Zeit, Nerven und im Zweifel das Vertrauen des Kunden.</a:t>
            </a:r>
            <a:endParaRPr lang="en-US" sz="1150" dirty="0"/>
          </a:p>
        </p:txBody>
      </p:sp>
      <p:sp>
        <p:nvSpPr>
          <p:cNvPr id="21" name="Text 18"/>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Sanierungs-Chat, 06.08.2026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2 · WERKZEUGE</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Neue Preisliste und neuer Preisrechner</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Beides liegt in Teams und ist ab sofort die verbindliche Grundlage für Angebote.</a:t>
            </a:r>
            <a:endParaRPr lang="en-US" sz="1400" dirty="0"/>
          </a:p>
        </p:txBody>
      </p:sp>
      <p:sp>
        <p:nvSpPr>
          <p:cNvPr id="5" name="Shape 3"/>
          <p:cNvSpPr/>
          <p:nvPr/>
        </p:nvSpPr>
        <p:spPr>
          <a:xfrm>
            <a:off x="566928" y="1874520"/>
            <a:ext cx="5372100" cy="2606040"/>
          </a:xfrm>
          <a:prstGeom prst="roundRect">
            <a:avLst>
              <a:gd name="adj" fmla="val 3158"/>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77824" y="2084832"/>
            <a:ext cx="4206240" cy="365760"/>
          </a:xfrm>
          <a:prstGeom prst="rect">
            <a:avLst/>
          </a:prstGeom>
          <a:noFill/>
          <a:ln/>
        </p:spPr>
        <p:txBody>
          <a:bodyPr wrap="square" lIns="0" tIns="0" rIns="0" bIns="0" rtlCol="0" anchor="ctr"/>
          <a:lstStyle/>
          <a:p>
            <a:pPr indent="0" marL="0">
              <a:buNone/>
            </a:pPr>
            <a:r>
              <a:rPr lang="en-US" sz="2100" b="1" dirty="0">
                <a:solidFill>
                  <a:srgbClr val="2E7D3A"/>
                </a:solidFill>
                <a:latin typeface="Trebuchet MS" pitchFamily="34" charset="0"/>
                <a:ea typeface="Trebuchet MS" pitchFamily="34" charset="-122"/>
                <a:cs typeface="Trebuchet MS" pitchFamily="34" charset="-120"/>
              </a:rPr>
              <a:t>Preisliste 2026</a:t>
            </a:r>
            <a:endParaRPr lang="en-US" sz="2100" dirty="0"/>
          </a:p>
        </p:txBody>
      </p:sp>
      <p:sp>
        <p:nvSpPr>
          <p:cNvPr id="7" name="Text 5"/>
          <p:cNvSpPr/>
          <p:nvPr/>
        </p:nvSpPr>
        <p:spPr>
          <a:xfrm>
            <a:off x="914400" y="2523744"/>
            <a:ext cx="4677156" cy="1755648"/>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Gültig ab 01.01.2026, alle Preise inklusive Mehrwertsteuer</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Enthält jeweils den Eigenanteil des Kunden - das erspart die Rückfrage im Gespräch</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Liegt als Excel und als PDF vor</a:t>
            </a:r>
            <a:endParaRPr lang="en-US" sz="1250" dirty="0"/>
          </a:p>
        </p:txBody>
      </p:sp>
      <p:sp>
        <p:nvSpPr>
          <p:cNvPr id="8" name="Shape 6"/>
          <p:cNvSpPr/>
          <p:nvPr/>
        </p:nvSpPr>
        <p:spPr>
          <a:xfrm>
            <a:off x="6249924" y="1874520"/>
            <a:ext cx="5372100" cy="2606040"/>
          </a:xfrm>
          <a:prstGeom prst="roundRect">
            <a:avLst>
              <a:gd name="adj" fmla="val 3158"/>
            </a:avLst>
          </a:prstGeom>
          <a:solidFill>
            <a:srgbClr val="EDF5EE"/>
          </a:solidFill>
          <a:ln/>
        </p:spPr>
      </p:sp>
      <p:sp>
        <p:nvSpPr>
          <p:cNvPr id="9" name="Text 7"/>
          <p:cNvSpPr/>
          <p:nvPr/>
        </p:nvSpPr>
        <p:spPr>
          <a:xfrm>
            <a:off x="6560820" y="2084832"/>
            <a:ext cx="4206240" cy="365760"/>
          </a:xfrm>
          <a:prstGeom prst="rect">
            <a:avLst/>
          </a:prstGeom>
          <a:noFill/>
          <a:ln/>
        </p:spPr>
        <p:txBody>
          <a:bodyPr wrap="square" lIns="0" tIns="0" rIns="0" bIns="0" rtlCol="0" anchor="ctr"/>
          <a:lstStyle/>
          <a:p>
            <a:pPr indent="0" marL="0">
              <a:buNone/>
            </a:pPr>
            <a:r>
              <a:rPr lang="en-US" sz="2100" b="1" dirty="0">
                <a:solidFill>
                  <a:srgbClr val="2E7D3A"/>
                </a:solidFill>
                <a:latin typeface="Trebuchet MS" pitchFamily="34" charset="0"/>
                <a:ea typeface="Trebuchet MS" pitchFamily="34" charset="-122"/>
                <a:cs typeface="Trebuchet MS" pitchFamily="34" charset="-120"/>
              </a:rPr>
              <a:t>Preisrechner</a:t>
            </a:r>
            <a:endParaRPr lang="en-US" sz="2100" dirty="0"/>
          </a:p>
        </p:txBody>
      </p:sp>
      <p:sp>
        <p:nvSpPr>
          <p:cNvPr id="10" name="Text 8"/>
          <p:cNvSpPr/>
          <p:nvPr/>
        </p:nvSpPr>
        <p:spPr>
          <a:xfrm>
            <a:off x="6597396" y="2523744"/>
            <a:ext cx="4677156" cy="1755648"/>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Positionen anklicken, Summe rechnet sich automatisch</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Positionen „nach Aufwand" sind bewusst nicht in der Summe enthalten</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Gedacht für das Gespräch am Tisch und für schnelle Auskünfte am Telefon</a:t>
            </a:r>
            <a:endParaRPr lang="en-US" sz="1250" dirty="0"/>
          </a:p>
        </p:txBody>
      </p:sp>
      <p:sp>
        <p:nvSpPr>
          <p:cNvPr id="11" name="Shape 9"/>
          <p:cNvSpPr/>
          <p:nvPr/>
        </p:nvSpPr>
        <p:spPr>
          <a:xfrm>
            <a:off x="566928" y="4754880"/>
            <a:ext cx="11055096" cy="1005840"/>
          </a:xfrm>
          <a:prstGeom prst="roundRect">
            <a:avLst>
              <a:gd name="adj" fmla="val 8182"/>
            </a:avLst>
          </a:prstGeom>
          <a:solidFill>
            <a:srgbClr val="1A1819"/>
          </a:solidFill>
          <a:ln/>
        </p:spPr>
      </p:sp>
      <p:sp>
        <p:nvSpPr>
          <p:cNvPr id="12" name="Text 10"/>
          <p:cNvSpPr/>
          <p:nvPr/>
        </p:nvSpPr>
        <p:spPr>
          <a:xfrm>
            <a:off x="859536" y="4864608"/>
            <a:ext cx="10469880" cy="274320"/>
          </a:xfrm>
          <a:prstGeom prst="rect">
            <a:avLst/>
          </a:prstGeom>
          <a:noFill/>
          <a:ln/>
        </p:spPr>
        <p:txBody>
          <a:bodyPr wrap="square" lIns="0" tIns="0" rIns="0" bIns="0" rtlCol="0" anchor="ctr"/>
          <a:lstStyle/>
          <a:p>
            <a:pPr indent="0" marL="0">
              <a:buNone/>
            </a:pPr>
            <a:r>
              <a:rPr lang="en-US" sz="1500" b="1" dirty="0">
                <a:solidFill>
                  <a:srgbClr val="58B264"/>
                </a:solidFill>
                <a:latin typeface="Trebuchet MS" pitchFamily="34" charset="0"/>
                <a:ea typeface="Trebuchet MS" pitchFamily="34" charset="-122"/>
                <a:cs typeface="Trebuchet MS" pitchFamily="34" charset="-120"/>
              </a:rPr>
              <a:t>Zwei Bitten</a:t>
            </a:r>
            <a:endParaRPr lang="en-US" sz="1500" dirty="0"/>
          </a:p>
        </p:txBody>
      </p:sp>
      <p:sp>
        <p:nvSpPr>
          <p:cNvPr id="13" name="Text 11"/>
          <p:cNvSpPr/>
          <p:nvPr/>
        </p:nvSpPr>
        <p:spPr>
          <a:xfrm>
            <a:off x="859536" y="5138928"/>
            <a:ext cx="10469880" cy="493776"/>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Erstens: Bitte keine alten Preislisten mehr verwenden - auch nicht die ausgedruckte in der Schublade. Zweitens: Wenn euch beim Arbeiten mit dem Rechner etwas fehlt oder falsch erscheint, sagt Bescheid. Er lässt sich schnell anpassen.</a:t>
            </a:r>
            <a:endParaRPr lang="en-US" sz="1250" dirty="0"/>
          </a:p>
        </p:txBody>
      </p:sp>
      <p:sp>
        <p:nvSpPr>
          <p:cNvPr id="15" name="Text 12"/>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WERKE_Preisliste_2026 · WERKE_Preisrechner · beide in Teams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2 · AUSSENWIRKUNG</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Wir waren sichtbar wie selten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Und das mitten in der Sommerpause.</a:t>
            </a:r>
            <a:endParaRPr lang="en-US" sz="1400" dirty="0"/>
          </a:p>
        </p:txBody>
      </p:sp>
      <p:sp>
        <p:nvSpPr>
          <p:cNvPr id="5" name="Shape 3"/>
          <p:cNvSpPr/>
          <p:nvPr/>
        </p:nvSpPr>
        <p:spPr>
          <a:xfrm>
            <a:off x="566928" y="1847088"/>
            <a:ext cx="5390388"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6" name="Shape 4"/>
          <p:cNvSpPr/>
          <p:nvPr/>
        </p:nvSpPr>
        <p:spPr>
          <a:xfrm>
            <a:off x="822960" y="2066544"/>
            <a:ext cx="1051560" cy="310896"/>
          </a:xfrm>
          <a:prstGeom prst="roundRect">
            <a:avLst>
              <a:gd name="adj" fmla="val 50000"/>
            </a:avLst>
          </a:prstGeom>
          <a:solidFill>
            <a:srgbClr val="BFDCC4"/>
          </a:solidFill>
          <a:ln/>
        </p:spPr>
      </p:sp>
      <p:sp>
        <p:nvSpPr>
          <p:cNvPr id="7" name="Text 5"/>
          <p:cNvSpPr/>
          <p:nvPr/>
        </p:nvSpPr>
        <p:spPr>
          <a:xfrm>
            <a:off x="822960" y="2066544"/>
            <a:ext cx="1051560" cy="310896"/>
          </a:xfrm>
          <a:prstGeom prst="rect">
            <a:avLst/>
          </a:prstGeom>
          <a:noFill/>
          <a:ln/>
        </p:spPr>
        <p:txBody>
          <a:bodyPr wrap="square" lIns="0" tIns="0" rIns="0" bIns="0" rtlCol="0" anchor="ctr"/>
          <a:lstStyle/>
          <a:p>
            <a:pPr algn="ctr" indent="0" marL="0">
              <a:buNone/>
            </a:pPr>
            <a:r>
              <a:rPr lang="en-US" sz="1050" b="1" dirty="0">
                <a:solidFill>
                  <a:srgbClr val="1A1819"/>
                </a:solidFill>
                <a:latin typeface="Calibri" pitchFamily="34" charset="0"/>
                <a:ea typeface="Calibri" pitchFamily="34" charset="-122"/>
                <a:cs typeface="Calibri" pitchFamily="34" charset="-120"/>
              </a:rPr>
              <a:t>16.07.</a:t>
            </a:r>
            <a:endParaRPr lang="en-US" sz="1050" dirty="0"/>
          </a:p>
        </p:txBody>
      </p:sp>
      <p:sp>
        <p:nvSpPr>
          <p:cNvPr id="8" name="Text 6"/>
          <p:cNvSpPr/>
          <p:nvPr/>
        </p:nvSpPr>
        <p:spPr>
          <a:xfrm>
            <a:off x="822960" y="2468880"/>
            <a:ext cx="4878324" cy="347472"/>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Webinar KfW und BAFA</a:t>
            </a:r>
            <a:endParaRPr lang="en-US" sz="1600" dirty="0"/>
          </a:p>
        </p:txBody>
      </p:sp>
      <p:sp>
        <p:nvSpPr>
          <p:cNvPr id="9" name="Text 7"/>
          <p:cNvSpPr/>
          <p:nvPr/>
        </p:nvSpPr>
        <p:spPr>
          <a:xfrm>
            <a:off x="822960" y="2816352"/>
            <a:ext cx="4896612" cy="493776"/>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Neue Förderbedingungen 2026 - direkt vor der Sommerpause. Mit Steffi.</a:t>
            </a:r>
            <a:endParaRPr lang="en-US" sz="1100" dirty="0"/>
          </a:p>
        </p:txBody>
      </p:sp>
      <p:sp>
        <p:nvSpPr>
          <p:cNvPr id="10" name="Shape 8"/>
          <p:cNvSpPr/>
          <p:nvPr/>
        </p:nvSpPr>
        <p:spPr>
          <a:xfrm>
            <a:off x="6231636" y="1847088"/>
            <a:ext cx="5390388"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11" name="Shape 9"/>
          <p:cNvSpPr/>
          <p:nvPr/>
        </p:nvSpPr>
        <p:spPr>
          <a:xfrm>
            <a:off x="6487668" y="2066544"/>
            <a:ext cx="1051560" cy="310896"/>
          </a:xfrm>
          <a:prstGeom prst="roundRect">
            <a:avLst>
              <a:gd name="adj" fmla="val 50000"/>
            </a:avLst>
          </a:prstGeom>
          <a:solidFill>
            <a:srgbClr val="58B264"/>
          </a:solidFill>
          <a:ln/>
        </p:spPr>
      </p:sp>
      <p:sp>
        <p:nvSpPr>
          <p:cNvPr id="12" name="Text 10"/>
          <p:cNvSpPr/>
          <p:nvPr/>
        </p:nvSpPr>
        <p:spPr>
          <a:xfrm>
            <a:off x="6487668" y="2066544"/>
            <a:ext cx="10515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20.07.</a:t>
            </a:r>
            <a:endParaRPr lang="en-US" sz="1050" dirty="0"/>
          </a:p>
        </p:txBody>
      </p:sp>
      <p:sp>
        <p:nvSpPr>
          <p:cNvPr id="13" name="Text 11"/>
          <p:cNvSpPr/>
          <p:nvPr/>
        </p:nvSpPr>
        <p:spPr>
          <a:xfrm>
            <a:off x="6487668" y="2468880"/>
            <a:ext cx="4878324" cy="347472"/>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Webinar GModG</a:t>
            </a:r>
            <a:endParaRPr lang="en-US" sz="1600" dirty="0"/>
          </a:p>
        </p:txBody>
      </p:sp>
      <p:sp>
        <p:nvSpPr>
          <p:cNvPr id="14" name="Text 12"/>
          <p:cNvSpPr/>
          <p:nvPr/>
        </p:nvSpPr>
        <p:spPr>
          <a:xfrm>
            <a:off x="6487668" y="2816352"/>
            <a:ext cx="4896612" cy="493776"/>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„Was sich jetzt ändert" - erster Durchlauf mit Chiara und Steffi.</a:t>
            </a:r>
            <a:endParaRPr lang="en-US" sz="1100" dirty="0"/>
          </a:p>
        </p:txBody>
      </p:sp>
      <p:sp>
        <p:nvSpPr>
          <p:cNvPr id="15" name="Shape 13"/>
          <p:cNvSpPr/>
          <p:nvPr/>
        </p:nvSpPr>
        <p:spPr>
          <a:xfrm>
            <a:off x="566928" y="3602736"/>
            <a:ext cx="5390388"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16" name="Shape 14"/>
          <p:cNvSpPr/>
          <p:nvPr/>
        </p:nvSpPr>
        <p:spPr>
          <a:xfrm>
            <a:off x="822960" y="3822192"/>
            <a:ext cx="1051560" cy="310896"/>
          </a:xfrm>
          <a:prstGeom prst="roundRect">
            <a:avLst>
              <a:gd name="adj" fmla="val 50000"/>
            </a:avLst>
          </a:prstGeom>
          <a:solidFill>
            <a:srgbClr val="58B264"/>
          </a:solidFill>
          <a:ln/>
        </p:spPr>
      </p:sp>
      <p:sp>
        <p:nvSpPr>
          <p:cNvPr id="17" name="Text 15"/>
          <p:cNvSpPr/>
          <p:nvPr/>
        </p:nvSpPr>
        <p:spPr>
          <a:xfrm>
            <a:off x="822960" y="3822192"/>
            <a:ext cx="10515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03.08.</a:t>
            </a:r>
            <a:endParaRPr lang="en-US" sz="1050" dirty="0"/>
          </a:p>
        </p:txBody>
      </p:sp>
      <p:sp>
        <p:nvSpPr>
          <p:cNvPr id="18" name="Text 16"/>
          <p:cNvSpPr/>
          <p:nvPr/>
        </p:nvSpPr>
        <p:spPr>
          <a:xfrm>
            <a:off x="822960" y="4224528"/>
            <a:ext cx="4878324" cy="347472"/>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Webinar GModG, zweiter Durchlauf</a:t>
            </a:r>
            <a:endParaRPr lang="en-US" sz="1600" dirty="0"/>
          </a:p>
        </p:txBody>
      </p:sp>
      <p:sp>
        <p:nvSpPr>
          <p:cNvPr id="19" name="Text 17"/>
          <p:cNvSpPr/>
          <p:nvPr/>
        </p:nvSpPr>
        <p:spPr>
          <a:xfrm>
            <a:off x="822960" y="4572000"/>
            <a:ext cx="4896612" cy="493776"/>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Teilnehmer aus dem Handwerk: Holz-Striewe, WW Energie, Dehrendorf, CH-PB.</a:t>
            </a:r>
            <a:endParaRPr lang="en-US" sz="1100" dirty="0"/>
          </a:p>
        </p:txBody>
      </p:sp>
      <p:sp>
        <p:nvSpPr>
          <p:cNvPr id="20" name="Shape 18"/>
          <p:cNvSpPr/>
          <p:nvPr/>
        </p:nvSpPr>
        <p:spPr>
          <a:xfrm>
            <a:off x="6231636" y="3602736"/>
            <a:ext cx="5390388"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21" name="Shape 19"/>
          <p:cNvSpPr/>
          <p:nvPr/>
        </p:nvSpPr>
        <p:spPr>
          <a:xfrm>
            <a:off x="6487668" y="3822192"/>
            <a:ext cx="1051560" cy="310896"/>
          </a:xfrm>
          <a:prstGeom prst="roundRect">
            <a:avLst>
              <a:gd name="adj" fmla="val 50000"/>
            </a:avLst>
          </a:prstGeom>
          <a:solidFill>
            <a:srgbClr val="2E7D3A"/>
          </a:solidFill>
          <a:ln/>
        </p:spPr>
      </p:sp>
      <p:sp>
        <p:nvSpPr>
          <p:cNvPr id="22" name="Text 20"/>
          <p:cNvSpPr/>
          <p:nvPr/>
        </p:nvSpPr>
        <p:spPr>
          <a:xfrm>
            <a:off x="6487668" y="3822192"/>
            <a:ext cx="10515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06.08.</a:t>
            </a:r>
            <a:endParaRPr lang="en-US" sz="1050" dirty="0"/>
          </a:p>
        </p:txBody>
      </p:sp>
      <p:sp>
        <p:nvSpPr>
          <p:cNvPr id="23" name="Text 21"/>
          <p:cNvSpPr/>
          <p:nvPr/>
        </p:nvSpPr>
        <p:spPr>
          <a:xfrm>
            <a:off x="6487668" y="4224528"/>
            <a:ext cx="4878324" cy="347472"/>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WDR Ostwestfalen-Lippe</a:t>
            </a:r>
            <a:endParaRPr lang="en-US" sz="1600" dirty="0"/>
          </a:p>
        </p:txBody>
      </p:sp>
      <p:sp>
        <p:nvSpPr>
          <p:cNvPr id="24" name="Text 22"/>
          <p:cNvSpPr/>
          <p:nvPr/>
        </p:nvSpPr>
        <p:spPr>
          <a:xfrm>
            <a:off x="6487668" y="4572000"/>
            <a:ext cx="4896612" cy="493776"/>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Beitrag über das Kühlen mit der Wärmepumpe im Sommer, Kreis Höxter - mit Zitat von uns.</a:t>
            </a:r>
            <a:endParaRPr lang="en-US" sz="1100" dirty="0"/>
          </a:p>
        </p:txBody>
      </p:sp>
      <p:sp>
        <p:nvSpPr>
          <p:cNvPr id="25" name="Shape 23"/>
          <p:cNvSpPr/>
          <p:nvPr/>
        </p:nvSpPr>
        <p:spPr>
          <a:xfrm>
            <a:off x="566928" y="5413248"/>
            <a:ext cx="11055096" cy="658368"/>
          </a:xfrm>
          <a:prstGeom prst="roundRect">
            <a:avLst>
              <a:gd name="adj" fmla="val 12500"/>
            </a:avLst>
          </a:prstGeom>
          <a:solidFill>
            <a:srgbClr val="EDF5EE"/>
          </a:solidFill>
          <a:ln/>
        </p:spPr>
      </p:sp>
      <p:sp>
        <p:nvSpPr>
          <p:cNvPr id="26" name="Text 24"/>
          <p:cNvSpPr/>
          <p:nvPr/>
        </p:nvSpPr>
        <p:spPr>
          <a:xfrm>
            <a:off x="841248" y="5413248"/>
            <a:ext cx="10506456" cy="658368"/>
          </a:xfrm>
          <a:prstGeom prst="rect">
            <a:avLst/>
          </a:prstGeom>
          <a:noFill/>
          <a:ln/>
        </p:spPr>
        <p:txBody>
          <a:bodyPr wrap="square" lIns="0" tIns="0" rIns="0" bIns="0" rtlCol="0" anchor="ctr"/>
          <a:lstStyle/>
          <a:p>
            <a:pPr indent="0" marL="0">
              <a:buNone/>
            </a:pPr>
            <a:r>
              <a:rPr lang="en-US" sz="1250" b="1" dirty="0">
                <a:solidFill>
                  <a:srgbClr val="2E7D3A"/>
                </a:solidFill>
                <a:latin typeface="Calibri" pitchFamily="34" charset="0"/>
                <a:ea typeface="Calibri" pitchFamily="34" charset="-122"/>
                <a:cs typeface="Calibri" pitchFamily="34" charset="-120"/>
              </a:rPr>
              <a:t>Das ist unser Vorsprung.  </a:t>
            </a:r>
            <a:pPr indent="0" marL="0">
              <a:buNone/>
            </a:pPr>
            <a:r>
              <a:rPr lang="en-US" sz="1250" dirty="0">
                <a:solidFill>
                  <a:srgbClr val="1A1819"/>
                </a:solidFill>
                <a:latin typeface="Calibri" pitchFamily="34" charset="0"/>
                <a:ea typeface="Calibri" pitchFamily="34" charset="-122"/>
                <a:cs typeface="Calibri" pitchFamily="34" charset="-120"/>
              </a:rPr>
              <a:t>Wenn ihr im Kundengespräch oder im Netzwerk Fragen zum GModG bekommt: Ihr könnt antworten. Andere lesen das Gesetz noch.</a:t>
            </a:r>
            <a:endParaRPr lang="en-US" sz="1250" dirty="0"/>
          </a:p>
        </p:txBody>
      </p:sp>
      <p:sp>
        <p:nvSpPr>
          <p:cNvPr id="28" name="Text 2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Kalender und Teams-Chats, 16.07. bis 06.08.2026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2 · WERKZEUGE</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KI ist bei uns im Alltag angekommen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Was in den letzten drei Wochen damit entstanden ist - alles echte Arbeitsergebnisse, keine Spielerei.</a:t>
            </a:r>
            <a:endParaRPr lang="en-US" sz="1400" dirty="0"/>
          </a:p>
        </p:txBody>
      </p:sp>
      <p:sp>
        <p:nvSpPr>
          <p:cNvPr id="5" name="Shape 3"/>
          <p:cNvSpPr/>
          <p:nvPr/>
        </p:nvSpPr>
        <p:spPr>
          <a:xfrm>
            <a:off x="566928" y="1847088"/>
            <a:ext cx="2612898" cy="1463040"/>
          </a:xfrm>
          <a:prstGeom prst="roundRect">
            <a:avLst>
              <a:gd name="adj" fmla="val 5625"/>
            </a:avLst>
          </a:prstGeom>
          <a:solidFill>
            <a:srgbClr val="EDF5EE"/>
          </a:solidFill>
          <a:ln/>
          <a:effectLst>
            <a:outerShdw sx="100000" sy="100000" kx="0" ky="0" algn="bl" rotWithShape="0" blurRad="127000" dist="25400" dir="5400000">
              <a:srgbClr val="000000">
                <a:alpha val="7000"/>
              </a:srgbClr>
            </a:outerShdw>
          </a:effectLst>
        </p:spPr>
      </p:sp>
      <p:sp>
        <p:nvSpPr>
          <p:cNvPr id="6" name="Shape 4"/>
          <p:cNvSpPr/>
          <p:nvPr/>
        </p:nvSpPr>
        <p:spPr>
          <a:xfrm>
            <a:off x="786384" y="2048256"/>
            <a:ext cx="365760" cy="365760"/>
          </a:xfrm>
          <a:prstGeom prst="ellipse">
            <a:avLst/>
          </a:prstGeom>
          <a:solidFill>
            <a:srgbClr val="2E7D3A"/>
          </a:solidFill>
          <a:ln/>
        </p:spPr>
      </p:sp>
      <p:sp>
        <p:nvSpPr>
          <p:cNvPr id="7" name="Text 5"/>
          <p:cNvSpPr/>
          <p:nvPr/>
        </p:nvSpPr>
        <p:spPr>
          <a:xfrm>
            <a:off x="786384" y="2048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86384" y="2505456"/>
            <a:ext cx="2173986"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Preisrechner</a:t>
            </a:r>
            <a:endParaRPr lang="en-US" sz="1450" dirty="0"/>
          </a:p>
        </p:txBody>
      </p:sp>
      <p:sp>
        <p:nvSpPr>
          <p:cNvPr id="9" name="Text 7"/>
          <p:cNvSpPr/>
          <p:nvPr/>
        </p:nvSpPr>
        <p:spPr>
          <a:xfrm>
            <a:off x="786384" y="2816352"/>
            <a:ext cx="2192274" cy="438912"/>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Aus der Preisliste 2026 gebaut, sofort einsatzbereit</a:t>
            </a:r>
            <a:endParaRPr lang="en-US" sz="1050" dirty="0"/>
          </a:p>
        </p:txBody>
      </p:sp>
      <p:sp>
        <p:nvSpPr>
          <p:cNvPr id="10" name="Shape 8"/>
          <p:cNvSpPr/>
          <p:nvPr/>
        </p:nvSpPr>
        <p:spPr>
          <a:xfrm>
            <a:off x="3380994" y="1847088"/>
            <a:ext cx="2612898" cy="1463040"/>
          </a:xfrm>
          <a:prstGeom prst="roundRect">
            <a:avLst>
              <a:gd name="adj" fmla="val 5625"/>
            </a:avLst>
          </a:prstGeom>
          <a:solidFill>
            <a:srgbClr val="F5F6F3"/>
          </a:solidFill>
          <a:ln/>
          <a:effectLst>
            <a:outerShdw sx="100000" sy="100000" kx="0" ky="0" algn="bl" rotWithShape="0" blurRad="127000" dist="25400" dir="5400000">
              <a:srgbClr val="000000">
                <a:alpha val="7000"/>
              </a:srgbClr>
            </a:outerShdw>
          </a:effectLst>
        </p:spPr>
      </p:sp>
      <p:sp>
        <p:nvSpPr>
          <p:cNvPr id="11" name="Shape 9"/>
          <p:cNvSpPr/>
          <p:nvPr/>
        </p:nvSpPr>
        <p:spPr>
          <a:xfrm>
            <a:off x="3600450" y="2048256"/>
            <a:ext cx="365760" cy="365760"/>
          </a:xfrm>
          <a:prstGeom prst="ellipse">
            <a:avLst/>
          </a:prstGeom>
          <a:solidFill>
            <a:srgbClr val="58B264"/>
          </a:solidFill>
          <a:ln/>
        </p:spPr>
      </p:sp>
      <p:sp>
        <p:nvSpPr>
          <p:cNvPr id="12" name="Text 10"/>
          <p:cNvSpPr/>
          <p:nvPr/>
        </p:nvSpPr>
        <p:spPr>
          <a:xfrm>
            <a:off x="3600450" y="2048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600450" y="2505456"/>
            <a:ext cx="2173986"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Sanierungsratgeber</a:t>
            </a:r>
            <a:endParaRPr lang="en-US" sz="1450" dirty="0"/>
          </a:p>
        </p:txBody>
      </p:sp>
      <p:sp>
        <p:nvSpPr>
          <p:cNvPr id="14" name="Text 12"/>
          <p:cNvSpPr/>
          <p:nvPr/>
        </p:nvSpPr>
        <p:spPr>
          <a:xfrm>
            <a:off x="3600450" y="2816352"/>
            <a:ext cx="2192274" cy="438912"/>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Wird auf den neuen Rechtsstand gebracht</a:t>
            </a:r>
            <a:endParaRPr lang="en-US" sz="1050" dirty="0"/>
          </a:p>
        </p:txBody>
      </p:sp>
      <p:sp>
        <p:nvSpPr>
          <p:cNvPr id="15" name="Shape 13"/>
          <p:cNvSpPr/>
          <p:nvPr/>
        </p:nvSpPr>
        <p:spPr>
          <a:xfrm>
            <a:off x="6195060" y="1847088"/>
            <a:ext cx="2612898" cy="1463040"/>
          </a:xfrm>
          <a:prstGeom prst="roundRect">
            <a:avLst>
              <a:gd name="adj" fmla="val 5625"/>
            </a:avLst>
          </a:prstGeom>
          <a:solidFill>
            <a:srgbClr val="F5F6F3"/>
          </a:solidFill>
          <a:ln/>
          <a:effectLst>
            <a:outerShdw sx="100000" sy="100000" kx="0" ky="0" algn="bl" rotWithShape="0" blurRad="127000" dist="25400" dir="5400000">
              <a:srgbClr val="000000">
                <a:alpha val="7000"/>
              </a:srgbClr>
            </a:outerShdw>
          </a:effectLst>
        </p:spPr>
      </p:sp>
      <p:sp>
        <p:nvSpPr>
          <p:cNvPr id="16" name="Shape 14"/>
          <p:cNvSpPr/>
          <p:nvPr/>
        </p:nvSpPr>
        <p:spPr>
          <a:xfrm>
            <a:off x="6414516" y="2048256"/>
            <a:ext cx="365760" cy="365760"/>
          </a:xfrm>
          <a:prstGeom prst="ellipse">
            <a:avLst/>
          </a:prstGeom>
          <a:solidFill>
            <a:srgbClr val="58B264"/>
          </a:solidFill>
          <a:ln/>
        </p:spPr>
      </p:sp>
      <p:sp>
        <p:nvSpPr>
          <p:cNvPr id="17" name="Text 15"/>
          <p:cNvSpPr/>
          <p:nvPr/>
        </p:nvSpPr>
        <p:spPr>
          <a:xfrm>
            <a:off x="6414516" y="2048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414516" y="2505456"/>
            <a:ext cx="2173986"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Design System</a:t>
            </a:r>
            <a:endParaRPr lang="en-US" sz="1450" dirty="0"/>
          </a:p>
        </p:txBody>
      </p:sp>
      <p:sp>
        <p:nvSpPr>
          <p:cNvPr id="19" name="Text 17"/>
          <p:cNvSpPr/>
          <p:nvPr/>
        </p:nvSpPr>
        <p:spPr>
          <a:xfrm>
            <a:off x="6414516" y="2816352"/>
            <a:ext cx="2192274" cy="438912"/>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Grafiken im WERK.E-Look, ohne Layout-Arbeit</a:t>
            </a:r>
            <a:endParaRPr lang="en-US" sz="1050" dirty="0"/>
          </a:p>
        </p:txBody>
      </p:sp>
      <p:sp>
        <p:nvSpPr>
          <p:cNvPr id="20" name="Shape 18"/>
          <p:cNvSpPr/>
          <p:nvPr/>
        </p:nvSpPr>
        <p:spPr>
          <a:xfrm>
            <a:off x="9009126" y="1847088"/>
            <a:ext cx="2612898" cy="1463040"/>
          </a:xfrm>
          <a:prstGeom prst="roundRect">
            <a:avLst>
              <a:gd name="adj" fmla="val 5625"/>
            </a:avLst>
          </a:prstGeom>
          <a:solidFill>
            <a:srgbClr val="F5F6F3"/>
          </a:solidFill>
          <a:ln/>
          <a:effectLst>
            <a:outerShdw sx="100000" sy="100000" kx="0" ky="0" algn="bl" rotWithShape="0" blurRad="127000" dist="25400" dir="5400000">
              <a:srgbClr val="000000">
                <a:alpha val="7000"/>
              </a:srgbClr>
            </a:outerShdw>
          </a:effectLst>
        </p:spPr>
      </p:sp>
      <p:sp>
        <p:nvSpPr>
          <p:cNvPr id="21" name="Shape 19"/>
          <p:cNvSpPr/>
          <p:nvPr/>
        </p:nvSpPr>
        <p:spPr>
          <a:xfrm>
            <a:off x="9228582" y="2048256"/>
            <a:ext cx="365760" cy="365760"/>
          </a:xfrm>
          <a:prstGeom prst="ellipse">
            <a:avLst/>
          </a:prstGeom>
          <a:solidFill>
            <a:srgbClr val="58B264"/>
          </a:solidFill>
          <a:ln/>
        </p:spPr>
      </p:sp>
      <p:sp>
        <p:nvSpPr>
          <p:cNvPr id="22" name="Text 20"/>
          <p:cNvSpPr/>
          <p:nvPr/>
        </p:nvSpPr>
        <p:spPr>
          <a:xfrm>
            <a:off x="9228582" y="2048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228582" y="2505456"/>
            <a:ext cx="2173986"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Social Media</a:t>
            </a:r>
            <a:endParaRPr lang="en-US" sz="1450" dirty="0"/>
          </a:p>
        </p:txBody>
      </p:sp>
      <p:sp>
        <p:nvSpPr>
          <p:cNvPr id="24" name="Text 22"/>
          <p:cNvSpPr/>
          <p:nvPr/>
        </p:nvSpPr>
        <p:spPr>
          <a:xfrm>
            <a:off x="9228582" y="2816352"/>
            <a:ext cx="2192274" cy="438912"/>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Beiträge und Bilder, zuletzt zu Tiny Houses</a:t>
            </a:r>
            <a:endParaRPr lang="en-US" sz="1050" dirty="0"/>
          </a:p>
        </p:txBody>
      </p:sp>
      <p:sp>
        <p:nvSpPr>
          <p:cNvPr id="25" name="Shape 23"/>
          <p:cNvSpPr/>
          <p:nvPr/>
        </p:nvSpPr>
        <p:spPr>
          <a:xfrm>
            <a:off x="566928" y="3584448"/>
            <a:ext cx="11055096" cy="1417320"/>
          </a:xfrm>
          <a:prstGeom prst="roundRect">
            <a:avLst>
              <a:gd name="adj" fmla="val 5806"/>
            </a:avLst>
          </a:prstGeom>
          <a:solidFill>
            <a:srgbClr val="F5F6F3"/>
          </a:solidFill>
          <a:ln/>
          <a:effectLst>
            <a:outerShdw sx="100000" sy="100000" kx="0" ky="0" algn="bl" rotWithShape="0" blurRad="127000" dist="25400" dir="5400000">
              <a:srgbClr val="000000">
                <a:alpha val="7000"/>
              </a:srgbClr>
            </a:outerShdw>
          </a:effectLst>
        </p:spPr>
      </p:sp>
      <p:sp>
        <p:nvSpPr>
          <p:cNvPr id="26" name="Text 24"/>
          <p:cNvSpPr/>
          <p:nvPr/>
        </p:nvSpPr>
        <p:spPr>
          <a:xfrm>
            <a:off x="859536" y="3749040"/>
            <a:ext cx="5486400"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Wenn ihr damit arbeiten wollt</a:t>
            </a:r>
            <a:endParaRPr lang="en-US" sz="1700" dirty="0"/>
          </a:p>
        </p:txBody>
      </p:sp>
      <p:sp>
        <p:nvSpPr>
          <p:cNvPr id="27" name="Text 25"/>
          <p:cNvSpPr/>
          <p:nvPr/>
        </p:nvSpPr>
        <p:spPr>
          <a:xfrm>
            <a:off x="896112" y="4114800"/>
            <a:ext cx="10396728" cy="786384"/>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A1819"/>
                </a:solidFill>
                <a:latin typeface="Calibri" pitchFamily="34" charset="0"/>
                <a:ea typeface="Calibri" pitchFamily="34" charset="-122"/>
                <a:cs typeface="Calibri" pitchFamily="34" charset="-120"/>
              </a:rPr>
              <a:t>Sprecht mich an, ich richte einen Zugang ein - das dauert fünf Minuten.</a:t>
            </a:r>
            <a:endParaRPr lang="en-US" sz="1250" dirty="0"/>
          </a:p>
          <a:p>
            <a:pPr marL="342900" indent="-342900">
              <a:spcAft>
                <a:spcPts val="500"/>
              </a:spcAft>
              <a:buSzPct val="100000"/>
              <a:buChar char="•"/>
            </a:pPr>
            <a:r>
              <a:rPr lang="en-US" sz="1250" dirty="0">
                <a:solidFill>
                  <a:srgbClr val="1A1819"/>
                </a:solidFill>
                <a:latin typeface="Calibri" pitchFamily="34" charset="0"/>
                <a:ea typeface="Calibri" pitchFamily="34" charset="-122"/>
                <a:cs typeface="Calibri" pitchFamily="34" charset="-120"/>
              </a:rPr>
              <a:t>Keine Kundendaten und keine personenbezogenen Daten hineingeben. Das ist nicht verhandelbar.</a:t>
            </a:r>
            <a:endParaRPr lang="en-US" sz="1250" dirty="0"/>
          </a:p>
          <a:p>
            <a:pPr marL="342900" indent="-342900">
              <a:spcAft>
                <a:spcPts val="500"/>
              </a:spcAft>
              <a:buSzPct val="100000"/>
              <a:buChar char="•"/>
            </a:pPr>
            <a:r>
              <a:rPr lang="en-US" sz="1250" dirty="0">
                <a:solidFill>
                  <a:srgbClr val="1A1819"/>
                </a:solidFill>
                <a:latin typeface="Calibri" pitchFamily="34" charset="0"/>
                <a:ea typeface="Calibri" pitchFamily="34" charset="-122"/>
                <a:cs typeface="Calibri" pitchFamily="34" charset="-120"/>
              </a:rPr>
              <a:t>Jedes Ergebnis wird fachlich geprüft, bevor es das Haus verlässt. Die Verantwortung bleibt bei uns.</a:t>
            </a:r>
            <a:endParaRPr lang="en-US" sz="1250" dirty="0"/>
          </a:p>
        </p:txBody>
      </p:sp>
      <p:sp>
        <p:nvSpPr>
          <p:cNvPr id="28" name="Shape 26"/>
          <p:cNvSpPr/>
          <p:nvPr/>
        </p:nvSpPr>
        <p:spPr>
          <a:xfrm>
            <a:off x="566928" y="5230368"/>
            <a:ext cx="11055096" cy="786384"/>
          </a:xfrm>
          <a:prstGeom prst="roundRect">
            <a:avLst>
              <a:gd name="adj" fmla="val 10465"/>
            </a:avLst>
          </a:prstGeom>
          <a:solidFill>
            <a:srgbClr val="1A1819"/>
          </a:solidFill>
          <a:ln/>
        </p:spPr>
      </p:sp>
      <p:sp>
        <p:nvSpPr>
          <p:cNvPr id="29" name="Text 27"/>
          <p:cNvSpPr/>
          <p:nvPr/>
        </p:nvSpPr>
        <p:spPr>
          <a:xfrm>
            <a:off x="859536" y="5230368"/>
            <a:ext cx="10469880" cy="786384"/>
          </a:xfrm>
          <a:prstGeom prst="rect">
            <a:avLst/>
          </a:prstGeom>
          <a:noFill/>
          <a:ln/>
        </p:spPr>
        <p:txBody>
          <a:bodyPr wrap="square" lIns="0" tIns="0" rIns="0" bIns="0" rtlCol="0" anchor="ctr"/>
          <a:lstStyle/>
          <a:p>
            <a:pPr indent="0" marL="0">
              <a:buNone/>
            </a:pPr>
            <a:r>
              <a:rPr lang="en-US" sz="1250" b="1" dirty="0">
                <a:solidFill>
                  <a:srgbClr val="58B264"/>
                </a:solidFill>
                <a:latin typeface="Calibri" pitchFamily="34" charset="0"/>
                <a:ea typeface="Calibri" pitchFamily="34" charset="-122"/>
                <a:cs typeface="Calibri" pitchFamily="34" charset="-120"/>
              </a:rPr>
              <a:t>Der Gedanke dahinter:  </a:t>
            </a:r>
            <a:pPr indent="0" marL="0">
              <a:buNone/>
            </a:pPr>
            <a:r>
              <a:rPr lang="en-US" sz="1250" dirty="0">
                <a:solidFill>
                  <a:srgbClr val="FFFFFF"/>
                </a:solidFill>
                <a:latin typeface="Calibri" pitchFamily="34" charset="0"/>
                <a:ea typeface="Calibri" pitchFamily="34" charset="-122"/>
                <a:cs typeface="Calibri" pitchFamily="34" charset="-120"/>
              </a:rPr>
              <a:t>Die Werkzeuge nehmen uns die Fleißarbeit ab - Layout, Formulierung, Zusammenstellen. Die fachliche Einschätzung, die unsere Kunden bezahlen, kommt weiter von uns.</a:t>
            </a:r>
            <a:endParaRPr lang="en-US" sz="1250" dirty="0"/>
          </a:p>
        </p:txBody>
      </p:sp>
      <p:sp>
        <p:nvSpPr>
          <p:cNvPr id="31" name="Text 28"/>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Stand 06.08.2026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2 · PROJEKTE</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ESW Einsparcontracting Kreis Herford</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Ein Projekt, das viele noch nicht kennen - deshalb kurz vorgestellt.</a:t>
            </a:r>
            <a:endParaRPr lang="en-US" sz="1400" dirty="0"/>
          </a:p>
        </p:txBody>
      </p:sp>
      <p:sp>
        <p:nvSpPr>
          <p:cNvPr id="5" name="Shape 3"/>
          <p:cNvSpPr/>
          <p:nvPr/>
        </p:nvSpPr>
        <p:spPr>
          <a:xfrm>
            <a:off x="566928" y="1847088"/>
            <a:ext cx="6633058" cy="2148840"/>
          </a:xfrm>
          <a:prstGeom prst="roundRect">
            <a:avLst>
              <a:gd name="adj" fmla="val 3830"/>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59536" y="2029968"/>
            <a:ext cx="6047842"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Was Einsparcontracting bedeutet</a:t>
            </a:r>
            <a:endParaRPr lang="en-US" sz="1700" dirty="0"/>
          </a:p>
        </p:txBody>
      </p:sp>
      <p:sp>
        <p:nvSpPr>
          <p:cNvPr id="7" name="Text 5"/>
          <p:cNvSpPr/>
          <p:nvPr/>
        </p:nvSpPr>
        <p:spPr>
          <a:xfrm>
            <a:off x="896112" y="2395728"/>
            <a:ext cx="5974690" cy="1481328"/>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819"/>
                </a:solidFill>
                <a:latin typeface="Calibri" pitchFamily="34" charset="0"/>
                <a:ea typeface="Calibri" pitchFamily="34" charset="-122"/>
                <a:cs typeface="Calibri" pitchFamily="34" charset="-120"/>
              </a:rPr>
              <a:t>Ein Dienstleister modernisiert die Gebäudetechnik auf eigene Rechnung und finanziert sich aus der eingesparten Energie.</a:t>
            </a:r>
            <a:endParaRPr lang="en-US" sz="1200" dirty="0"/>
          </a:p>
          <a:p>
            <a:pPr marL="342900" indent="-342900">
              <a:spcAft>
                <a:spcPts val="800"/>
              </a:spcAft>
              <a:buSzPct val="100000"/>
              <a:buChar char="•"/>
            </a:pPr>
            <a:r>
              <a:rPr lang="en-US" sz="1200" dirty="0">
                <a:solidFill>
                  <a:srgbClr val="1A1819"/>
                </a:solidFill>
                <a:latin typeface="Calibri" pitchFamily="34" charset="0"/>
                <a:ea typeface="Calibri" pitchFamily="34" charset="-122"/>
                <a:cs typeface="Calibri" pitchFamily="34" charset="-120"/>
              </a:rPr>
              <a:t>Der Eigentümer muss nicht investieren - er zahlt weiter wie bisher, bis sich die Maßnahme getragen hat.</a:t>
            </a:r>
            <a:endParaRPr lang="en-US" sz="1200" dirty="0"/>
          </a:p>
          <a:p>
            <a:pPr marL="342900" indent="-342900">
              <a:spcAft>
                <a:spcPts val="800"/>
              </a:spcAft>
              <a:buSzPct val="100000"/>
              <a:buChar char="•"/>
            </a:pPr>
            <a:r>
              <a:rPr lang="en-US" sz="1200" dirty="0">
                <a:solidFill>
                  <a:srgbClr val="1A1819"/>
                </a:solidFill>
                <a:latin typeface="Calibri" pitchFamily="34" charset="0"/>
                <a:ea typeface="Calibri" pitchFamily="34" charset="-122"/>
                <a:cs typeface="Calibri" pitchFamily="34" charset="-120"/>
              </a:rPr>
              <a:t>Voraussetzung ist eine belastbare Analyse: Wie viel lässt sich wirklich einsparen? Genau da kommen wir ins Spiel.</a:t>
            </a:r>
            <a:endParaRPr lang="en-US" sz="1200" dirty="0"/>
          </a:p>
        </p:txBody>
      </p:sp>
      <p:sp>
        <p:nvSpPr>
          <p:cNvPr id="8" name="Shape 6"/>
          <p:cNvSpPr/>
          <p:nvPr/>
        </p:nvSpPr>
        <p:spPr>
          <a:xfrm>
            <a:off x="7531638" y="1847088"/>
            <a:ext cx="4090386" cy="2148840"/>
          </a:xfrm>
          <a:prstGeom prst="roundRect">
            <a:avLst>
              <a:gd name="adj" fmla="val 3830"/>
            </a:avLst>
          </a:prstGeom>
          <a:solidFill>
            <a:srgbClr val="EDF5EE"/>
          </a:solidFill>
          <a:ln/>
        </p:spPr>
      </p:sp>
      <p:sp>
        <p:nvSpPr>
          <p:cNvPr id="9" name="Text 7"/>
          <p:cNvSpPr/>
          <p:nvPr/>
        </p:nvSpPr>
        <p:spPr>
          <a:xfrm>
            <a:off x="7805958" y="2029968"/>
            <a:ext cx="3541746"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Wer dran ist</a:t>
            </a:r>
            <a:endParaRPr lang="en-US" sz="1700" dirty="0"/>
          </a:p>
        </p:txBody>
      </p:sp>
      <p:sp>
        <p:nvSpPr>
          <p:cNvPr id="10" name="Text 8"/>
          <p:cNvSpPr/>
          <p:nvPr/>
        </p:nvSpPr>
        <p:spPr>
          <a:xfrm>
            <a:off x="7805958" y="2432304"/>
            <a:ext cx="3541746" cy="603504"/>
          </a:xfrm>
          <a:prstGeom prst="rect">
            <a:avLst/>
          </a:prstGeom>
          <a:noFill/>
          <a:ln/>
        </p:spPr>
        <p:txBody>
          <a:bodyPr wrap="square" lIns="0" tIns="0" rIns="0" bIns="0" rtlCol="0" anchor="t"/>
          <a:lstStyle/>
          <a:p>
            <a:pPr indent="0" marL="0">
              <a:lnSpc>
                <a:spcPts val="2000"/>
              </a:lnSpc>
              <a:buNone/>
            </a:pPr>
            <a:r>
              <a:rPr lang="en-US" sz="1400" b="1" dirty="0">
                <a:solidFill>
                  <a:srgbClr val="1A1819"/>
                </a:solidFill>
                <a:latin typeface="Calibri" pitchFamily="34" charset="0"/>
                <a:ea typeface="Calibri" pitchFamily="34" charset="-122"/>
                <a:cs typeface="Calibri" pitchFamily="34" charset="-120"/>
              </a:rPr>
              <a:t>Christoph Diermann</a:t>
            </a:r>
            <a:endParaRPr lang="en-US" sz="1400" dirty="0"/>
          </a:p>
          <a:p>
            <a:pPr indent="0" marL="0">
              <a:lnSpc>
                <a:spcPts val="2000"/>
              </a:lnSpc>
              <a:buNone/>
            </a:pPr>
            <a:r>
              <a:rPr lang="en-US" sz="1400" b="1" dirty="0">
                <a:solidFill>
                  <a:srgbClr val="1A1819"/>
                </a:solidFill>
                <a:latin typeface="Calibri" pitchFamily="34" charset="0"/>
                <a:ea typeface="Calibri" pitchFamily="34" charset="-122"/>
                <a:cs typeface="Calibri" pitchFamily="34" charset="-120"/>
              </a:rPr>
              <a:t>Dominik Schlüter</a:t>
            </a:r>
            <a:endParaRPr lang="en-US" sz="1400" dirty="0"/>
          </a:p>
        </p:txBody>
      </p:sp>
      <p:sp>
        <p:nvSpPr>
          <p:cNvPr id="11" name="Text 9"/>
          <p:cNvSpPr/>
          <p:nvPr/>
        </p:nvSpPr>
        <p:spPr>
          <a:xfrm>
            <a:off x="7805958" y="3127248"/>
            <a:ext cx="3541746" cy="658368"/>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Auftraggeber: Kreis Herford. Bei Fragen zum Projekt sprecht die beiden direkt an.</a:t>
            </a:r>
            <a:endParaRPr lang="en-US" sz="1150" dirty="0"/>
          </a:p>
        </p:txBody>
      </p:sp>
      <p:sp>
        <p:nvSpPr>
          <p:cNvPr id="12" name="Shape 10"/>
          <p:cNvSpPr/>
          <p:nvPr/>
        </p:nvSpPr>
        <p:spPr>
          <a:xfrm>
            <a:off x="566928" y="4224528"/>
            <a:ext cx="11055096" cy="960120"/>
          </a:xfrm>
          <a:prstGeom prst="roundRect">
            <a:avLst>
              <a:gd name="adj" fmla="val 8571"/>
            </a:avLst>
          </a:prstGeom>
          <a:solidFill>
            <a:srgbClr val="1A1819"/>
          </a:solidFill>
          <a:ln/>
        </p:spPr>
      </p:sp>
      <p:sp>
        <p:nvSpPr>
          <p:cNvPr id="13" name="Text 11"/>
          <p:cNvSpPr/>
          <p:nvPr/>
        </p:nvSpPr>
        <p:spPr>
          <a:xfrm>
            <a:off x="859536" y="4334256"/>
            <a:ext cx="10469880" cy="274320"/>
          </a:xfrm>
          <a:prstGeom prst="rect">
            <a:avLst/>
          </a:prstGeom>
          <a:noFill/>
          <a:ln/>
        </p:spPr>
        <p:txBody>
          <a:bodyPr wrap="square" lIns="0" tIns="0" rIns="0" bIns="0" rtlCol="0" anchor="ctr"/>
          <a:lstStyle/>
          <a:p>
            <a:pPr indent="0" marL="0">
              <a:buNone/>
            </a:pPr>
            <a:r>
              <a:rPr lang="en-US" sz="1500" b="1" dirty="0">
                <a:solidFill>
                  <a:srgbClr val="58B264"/>
                </a:solidFill>
                <a:latin typeface="Trebuchet MS" pitchFamily="34" charset="0"/>
                <a:ea typeface="Trebuchet MS" pitchFamily="34" charset="-122"/>
                <a:cs typeface="Trebuchet MS" pitchFamily="34" charset="-120"/>
              </a:rPr>
              <a:t>Warum das für uns interessant ist</a:t>
            </a:r>
            <a:endParaRPr lang="en-US" sz="1500" dirty="0"/>
          </a:p>
        </p:txBody>
      </p:sp>
      <p:sp>
        <p:nvSpPr>
          <p:cNvPr id="14" name="Text 12"/>
          <p:cNvSpPr/>
          <p:nvPr/>
        </p:nvSpPr>
        <p:spPr>
          <a:xfrm>
            <a:off x="859536" y="4608576"/>
            <a:ext cx="10469880" cy="457200"/>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Kommunale Liegenschaften bekommen mit dem GModG erstmals verbindliche Mindeststandards. Wer heute im Kreis Herford überzeugt, hat morgen die Referenz für jeden anderen Kreis in OWL.</a:t>
            </a:r>
            <a:endParaRPr lang="en-US" sz="1250" dirty="0"/>
          </a:p>
        </p:txBody>
      </p:sp>
      <p:sp>
        <p:nvSpPr>
          <p:cNvPr id="15" name="Shape 13"/>
          <p:cNvSpPr/>
          <p:nvPr/>
        </p:nvSpPr>
        <p:spPr>
          <a:xfrm>
            <a:off x="566928" y="5394960"/>
            <a:ext cx="11055096" cy="566928"/>
          </a:xfrm>
          <a:prstGeom prst="roundRect">
            <a:avLst>
              <a:gd name="adj" fmla="val 14516"/>
            </a:avLst>
          </a:prstGeom>
          <a:solidFill>
            <a:srgbClr val="FFF6E0"/>
          </a:solidFill>
          <a:ln w="12700">
            <a:solidFill>
              <a:srgbClr val="E8CC8A"/>
            </a:solidFill>
            <a:prstDash val="solid"/>
          </a:ln>
        </p:spPr>
      </p:sp>
      <p:sp>
        <p:nvSpPr>
          <p:cNvPr id="16" name="Text 14"/>
          <p:cNvSpPr/>
          <p:nvPr/>
        </p:nvSpPr>
        <p:spPr>
          <a:xfrm>
            <a:off x="768096" y="5449824"/>
            <a:ext cx="10652760" cy="457200"/>
          </a:xfrm>
          <a:prstGeom prst="rect">
            <a:avLst/>
          </a:prstGeom>
          <a:noFill/>
          <a:ln/>
        </p:spPr>
        <p:txBody>
          <a:bodyPr wrap="square" lIns="0" tIns="0" rIns="0" bIns="0" rtlCol="0" anchor="ctr"/>
          <a:lstStyle/>
          <a:p>
            <a:pPr indent="0" marL="0">
              <a:buNone/>
            </a:pPr>
            <a:r>
              <a:rPr lang="en-US" sz="1200" b="1" dirty="0">
                <a:solidFill>
                  <a:srgbClr val="8A6100"/>
                </a:solidFill>
                <a:latin typeface="Calibri" pitchFamily="34" charset="0"/>
                <a:ea typeface="Calibri" pitchFamily="34" charset="-122"/>
                <a:cs typeface="Calibri" pitchFamily="34" charset="-120"/>
              </a:rPr>
              <a:t>Kurzer Aufruf:  </a:t>
            </a:r>
            <a:pPr indent="0" marL="0">
              <a:buNone/>
            </a:pPr>
            <a:r>
              <a:rPr lang="en-US" sz="1200" dirty="0">
                <a:solidFill>
                  <a:srgbClr val="1A1819"/>
                </a:solidFill>
                <a:latin typeface="Calibri" pitchFamily="34" charset="0"/>
                <a:ea typeface="Calibri" pitchFamily="34" charset="-122"/>
                <a:cs typeface="Calibri" pitchFamily="34" charset="-120"/>
              </a:rPr>
              <a:t>Wenn ihr bei Kommunen oder größeren Bestandshaltern im Gespräch seid - Einsparcontracting mitdenken und an Christoph oder Dominik weitergeben.</a:t>
            </a:r>
            <a:endParaRPr lang="en-US" sz="1200" dirty="0"/>
          </a:p>
        </p:txBody>
      </p:sp>
      <p:sp>
        <p:nvSpPr>
          <p:cNvPr id="18" name="Text 1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Projekt läuft · Stand 06.08.2026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2 · WACHSTUM</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Wir werden größer</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Ein neuer Standort und ein gemeinsamer Auftritt mit Kassel.</a:t>
            </a:r>
            <a:endParaRPr lang="en-US" sz="1400" dirty="0"/>
          </a:p>
        </p:txBody>
      </p:sp>
      <p:sp>
        <p:nvSpPr>
          <p:cNvPr id="5" name="Shape 3"/>
          <p:cNvSpPr/>
          <p:nvPr/>
        </p:nvSpPr>
        <p:spPr>
          <a:xfrm>
            <a:off x="566928" y="1828800"/>
            <a:ext cx="5372100" cy="2926080"/>
          </a:xfrm>
          <a:prstGeom prst="roundRect">
            <a:avLst>
              <a:gd name="adj" fmla="val 2813"/>
            </a:avLst>
          </a:prstGeom>
          <a:solidFill>
            <a:srgbClr val="2E7D3A"/>
          </a:solidFill>
          <a:ln/>
        </p:spPr>
      </p:sp>
      <p:sp>
        <p:nvSpPr>
          <p:cNvPr id="6" name="Text 4"/>
          <p:cNvSpPr/>
          <p:nvPr/>
        </p:nvSpPr>
        <p:spPr>
          <a:xfrm>
            <a:off x="877824" y="2029968"/>
            <a:ext cx="4206240" cy="256032"/>
          </a:xfrm>
          <a:prstGeom prst="rect">
            <a:avLst/>
          </a:prstGeom>
          <a:noFill/>
          <a:ln/>
        </p:spPr>
        <p:txBody>
          <a:bodyPr wrap="square" lIns="0" tIns="0" rIns="0" bIns="0" rtlCol="0" anchor="ctr"/>
          <a:lstStyle/>
          <a:p>
            <a:pPr indent="0" marL="0">
              <a:buNone/>
            </a:pPr>
            <a:r>
              <a:rPr lang="en-US" sz="1050" b="1" spc="160" kern="0" dirty="0">
                <a:solidFill>
                  <a:srgbClr val="BFDCC4"/>
                </a:solidFill>
                <a:latin typeface="Calibri" pitchFamily="34" charset="0"/>
                <a:ea typeface="Calibri" pitchFamily="34" charset="-122"/>
                <a:cs typeface="Calibri" pitchFamily="34" charset="-120"/>
              </a:rPr>
              <a:t>NEUER STANDORT</a:t>
            </a:r>
            <a:endParaRPr lang="en-US" sz="1050" dirty="0"/>
          </a:p>
        </p:txBody>
      </p:sp>
      <p:sp>
        <p:nvSpPr>
          <p:cNvPr id="7" name="Text 5"/>
          <p:cNvSpPr/>
          <p:nvPr/>
        </p:nvSpPr>
        <p:spPr>
          <a:xfrm>
            <a:off x="877824" y="2322576"/>
            <a:ext cx="4206240" cy="64008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Dortmund</a:t>
            </a:r>
            <a:endParaRPr lang="en-US" sz="4000" dirty="0"/>
          </a:p>
        </p:txBody>
      </p:sp>
      <p:sp>
        <p:nvSpPr>
          <p:cNvPr id="8" name="Shape 6"/>
          <p:cNvSpPr/>
          <p:nvPr/>
        </p:nvSpPr>
        <p:spPr>
          <a:xfrm>
            <a:off x="877824" y="3072384"/>
            <a:ext cx="2514600" cy="475488"/>
          </a:xfrm>
          <a:prstGeom prst="roundRect">
            <a:avLst>
              <a:gd name="adj" fmla="val 50000"/>
            </a:avLst>
          </a:prstGeom>
          <a:solidFill>
            <a:srgbClr val="FFFFFF"/>
          </a:solidFill>
          <a:ln/>
        </p:spPr>
      </p:sp>
      <p:sp>
        <p:nvSpPr>
          <p:cNvPr id="9" name="Text 7"/>
          <p:cNvSpPr/>
          <p:nvPr/>
        </p:nvSpPr>
        <p:spPr>
          <a:xfrm>
            <a:off x="877824" y="3072384"/>
            <a:ext cx="2514600" cy="475488"/>
          </a:xfrm>
          <a:prstGeom prst="rect">
            <a:avLst/>
          </a:prstGeom>
          <a:noFill/>
          <a:ln/>
        </p:spPr>
        <p:txBody>
          <a:bodyPr wrap="square" lIns="0" tIns="0" rIns="0" bIns="0" rtlCol="0" anchor="ctr"/>
          <a:lstStyle/>
          <a:p>
            <a:pPr algn="ctr" indent="0" marL="0">
              <a:buNone/>
            </a:pPr>
            <a:r>
              <a:rPr lang="en-US" sz="1250" b="1" dirty="0">
                <a:solidFill>
                  <a:srgbClr val="2E7D3A"/>
                </a:solidFill>
                <a:latin typeface="Calibri" pitchFamily="34" charset="0"/>
                <a:ea typeface="Calibri" pitchFamily="34" charset="-122"/>
                <a:cs typeface="Calibri" pitchFamily="34" charset="-120"/>
              </a:rPr>
              <a:t>Start ab 01.10.2026</a:t>
            </a:r>
            <a:endParaRPr lang="en-US" sz="1250" dirty="0"/>
          </a:p>
        </p:txBody>
      </p:sp>
      <p:sp>
        <p:nvSpPr>
          <p:cNvPr id="10" name="Text 8"/>
          <p:cNvSpPr/>
          <p:nvPr/>
        </p:nvSpPr>
        <p:spPr>
          <a:xfrm>
            <a:off x="877824" y="3712464"/>
            <a:ext cx="4750308" cy="566928"/>
          </a:xfrm>
          <a:prstGeom prst="rect">
            <a:avLst/>
          </a:prstGeom>
          <a:noFill/>
          <a:ln/>
        </p:spPr>
        <p:txBody>
          <a:bodyPr wrap="square" lIns="0" tIns="0" rIns="0" bIns="0" rtlCol="0" anchor="t"/>
          <a:lstStyle/>
          <a:p>
            <a:pPr indent="0" marL="0">
              <a:lnSpc>
                <a:spcPts val="1800"/>
              </a:lnSpc>
              <a:buNone/>
            </a:pPr>
            <a:r>
              <a:rPr lang="en-US" sz="1300" dirty="0">
                <a:solidFill>
                  <a:srgbClr val="E4EDE5"/>
                </a:solidFill>
                <a:latin typeface="Calibri" pitchFamily="34" charset="0"/>
                <a:ea typeface="Calibri" pitchFamily="34" charset="-122"/>
                <a:cs typeface="Calibri" pitchFamily="34" charset="-120"/>
              </a:rPr>
              <a:t>Wir gründen einen eigenen Standort in Dortmund. Ab dem 01.10. läuft dort die Terminvergabe.</a:t>
            </a:r>
            <a:endParaRPr lang="en-US" sz="1300" dirty="0"/>
          </a:p>
        </p:txBody>
      </p:sp>
      <p:sp>
        <p:nvSpPr>
          <p:cNvPr id="11" name="Text 9"/>
          <p:cNvSpPr/>
          <p:nvPr/>
        </p:nvSpPr>
        <p:spPr>
          <a:xfrm>
            <a:off x="877824" y="4315968"/>
            <a:ext cx="4750308" cy="384048"/>
          </a:xfrm>
          <a:prstGeom prst="rect">
            <a:avLst/>
          </a:prstGeom>
          <a:noFill/>
          <a:ln/>
        </p:spPr>
        <p:txBody>
          <a:bodyPr wrap="square" lIns="0" tIns="0" rIns="0" bIns="0" rtlCol="0" anchor="t"/>
          <a:lstStyle/>
          <a:p>
            <a:pPr indent="0" marL="0">
              <a:lnSpc>
                <a:spcPts val="1500"/>
              </a:lnSpc>
              <a:buNone/>
            </a:pPr>
            <a:r>
              <a:rPr lang="en-US" sz="1150" i="1" dirty="0">
                <a:solidFill>
                  <a:srgbClr val="BFDCC4"/>
                </a:solidFill>
                <a:latin typeface="Calibri" pitchFamily="34" charset="0"/>
                <a:ea typeface="Calibri" pitchFamily="34" charset="-122"/>
                <a:cs typeface="Calibri" pitchFamily="34" charset="-120"/>
              </a:rPr>
              <a:t>Details zu Team, Räumen und Ablauf gebe ich euch, sobald sie stehen.</a:t>
            </a:r>
            <a:endParaRPr lang="en-US" sz="1150" dirty="0"/>
          </a:p>
        </p:txBody>
      </p:sp>
      <p:sp>
        <p:nvSpPr>
          <p:cNvPr id="12" name="Shape 10"/>
          <p:cNvSpPr/>
          <p:nvPr/>
        </p:nvSpPr>
        <p:spPr>
          <a:xfrm>
            <a:off x="6249924" y="1828800"/>
            <a:ext cx="5372100" cy="2926080"/>
          </a:xfrm>
          <a:prstGeom prst="roundRect">
            <a:avLst>
              <a:gd name="adj" fmla="val 2813"/>
            </a:avLst>
          </a:prstGeom>
          <a:solidFill>
            <a:srgbClr val="F5F6F3"/>
          </a:solidFill>
          <a:ln/>
          <a:effectLst>
            <a:outerShdw sx="100000" sy="100000" kx="0" ky="0" algn="bl" rotWithShape="0" blurRad="127000" dist="25400" dir="5400000">
              <a:srgbClr val="000000">
                <a:alpha val="7000"/>
              </a:srgbClr>
            </a:outerShdw>
          </a:effectLst>
        </p:spPr>
      </p:sp>
      <p:sp>
        <p:nvSpPr>
          <p:cNvPr id="13" name="Text 11"/>
          <p:cNvSpPr/>
          <p:nvPr/>
        </p:nvSpPr>
        <p:spPr>
          <a:xfrm>
            <a:off x="6560820" y="2029968"/>
            <a:ext cx="4206240" cy="256032"/>
          </a:xfrm>
          <a:prstGeom prst="rect">
            <a:avLst/>
          </a:prstGeom>
          <a:noFill/>
          <a:ln/>
        </p:spPr>
        <p:txBody>
          <a:bodyPr wrap="square" lIns="0" tIns="0" rIns="0" bIns="0" rtlCol="0" anchor="ctr"/>
          <a:lstStyle/>
          <a:p>
            <a:pPr indent="0" marL="0">
              <a:buNone/>
            </a:pPr>
            <a:r>
              <a:rPr lang="en-US" sz="1050" b="1" spc="160" kern="0" dirty="0">
                <a:solidFill>
                  <a:srgbClr val="2E7D3A"/>
                </a:solidFill>
                <a:latin typeface="Calibri" pitchFamily="34" charset="0"/>
                <a:ea typeface="Calibri" pitchFamily="34" charset="-122"/>
                <a:cs typeface="Calibri" pitchFamily="34" charset="-120"/>
              </a:rPr>
              <a:t>GEMEINSAMER AUFTRITT</a:t>
            </a:r>
            <a:endParaRPr lang="en-US" sz="1050" dirty="0"/>
          </a:p>
        </p:txBody>
      </p:sp>
      <p:sp>
        <p:nvSpPr>
          <p:cNvPr id="14" name="Text 12"/>
          <p:cNvSpPr/>
          <p:nvPr/>
        </p:nvSpPr>
        <p:spPr>
          <a:xfrm>
            <a:off x="6560820" y="2322576"/>
            <a:ext cx="4480560" cy="786384"/>
          </a:xfrm>
          <a:prstGeom prst="rect">
            <a:avLst/>
          </a:prstGeom>
          <a:noFill/>
          <a:ln/>
        </p:spPr>
        <p:txBody>
          <a:bodyPr wrap="square" lIns="0" tIns="0" rIns="0" bIns="0" rtlCol="0" anchor="t"/>
          <a:lstStyle/>
          <a:p>
            <a:pPr indent="0" marL="0">
              <a:lnSpc>
                <a:spcPts val="2900"/>
              </a:lnSpc>
              <a:buNone/>
            </a:pPr>
            <a:r>
              <a:rPr lang="en-US" sz="2400" b="1" dirty="0">
                <a:solidFill>
                  <a:srgbClr val="1A1819"/>
                </a:solidFill>
                <a:latin typeface="Trebuchet MS" pitchFamily="34" charset="0"/>
                <a:ea typeface="Trebuchet MS" pitchFamily="34" charset="-122"/>
                <a:cs typeface="Trebuchet MS" pitchFamily="34" charset="-120"/>
              </a:rPr>
              <a:t>ID. Polo Markt-</a:t>
            </a:r>
            <a:endParaRPr lang="en-US" sz="2400" dirty="0"/>
          </a:p>
          <a:p>
            <a:pPr indent="0" marL="0">
              <a:lnSpc>
                <a:spcPts val="2900"/>
              </a:lnSpc>
              <a:buNone/>
            </a:pPr>
            <a:r>
              <a:rPr lang="en-US" sz="2400" b="1" dirty="0">
                <a:solidFill>
                  <a:srgbClr val="1A1819"/>
                </a:solidFill>
                <a:latin typeface="Trebuchet MS" pitchFamily="34" charset="0"/>
                <a:ea typeface="Trebuchet MS" pitchFamily="34" charset="-122"/>
                <a:cs typeface="Trebuchet MS" pitchFamily="34" charset="-120"/>
              </a:rPr>
              <a:t>einführungsevent</a:t>
            </a:r>
            <a:endParaRPr lang="en-US" sz="2400" dirty="0"/>
          </a:p>
        </p:txBody>
      </p:sp>
      <p:sp>
        <p:nvSpPr>
          <p:cNvPr id="15" name="Shape 13"/>
          <p:cNvSpPr/>
          <p:nvPr/>
        </p:nvSpPr>
        <p:spPr>
          <a:xfrm>
            <a:off x="6560820" y="3200400"/>
            <a:ext cx="3063240" cy="475488"/>
          </a:xfrm>
          <a:prstGeom prst="roundRect">
            <a:avLst>
              <a:gd name="adj" fmla="val 50000"/>
            </a:avLst>
          </a:prstGeom>
          <a:solidFill>
            <a:srgbClr val="2E7D3A"/>
          </a:solidFill>
          <a:ln/>
        </p:spPr>
      </p:sp>
      <p:sp>
        <p:nvSpPr>
          <p:cNvPr id="16" name="Text 14"/>
          <p:cNvSpPr/>
          <p:nvPr/>
        </p:nvSpPr>
        <p:spPr>
          <a:xfrm>
            <a:off x="6560820" y="3200400"/>
            <a:ext cx="30632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03.09.2026  ·  Kassel</a:t>
            </a:r>
            <a:endParaRPr lang="en-US" sz="1250" dirty="0"/>
          </a:p>
        </p:txBody>
      </p:sp>
      <p:sp>
        <p:nvSpPr>
          <p:cNvPr id="17" name="Text 15"/>
          <p:cNvSpPr/>
          <p:nvPr/>
        </p:nvSpPr>
        <p:spPr>
          <a:xfrm>
            <a:off x="6560820" y="3840480"/>
            <a:ext cx="4750308" cy="603504"/>
          </a:xfrm>
          <a:prstGeom prst="rect">
            <a:avLst/>
          </a:prstGeom>
          <a:noFill/>
          <a:ln/>
        </p:spPr>
        <p:txBody>
          <a:bodyPr wrap="square" lIns="0" tIns="0" rIns="0" bIns="0" rtlCol="0" anchor="t"/>
          <a:lstStyle/>
          <a:p>
            <a:pPr indent="0" marL="0">
              <a:lnSpc>
                <a:spcPts val="1700"/>
              </a:lnSpc>
              <a:buNone/>
            </a:pPr>
            <a:r>
              <a:rPr lang="en-US" sz="1250" dirty="0">
                <a:solidFill>
                  <a:srgbClr val="1A1819"/>
                </a:solidFill>
                <a:latin typeface="Calibri" pitchFamily="34" charset="0"/>
                <a:ea typeface="Calibri" pitchFamily="34" charset="-122"/>
                <a:cs typeface="Calibri" pitchFamily="34" charset="-120"/>
              </a:rPr>
              <a:t>Gemeinsam mit WERK.E Mitte, Glinicke, Audi Kassel, Autarkstrom und der Kasseler Sparkasse. Wir sind mit dabei.</a:t>
            </a:r>
            <a:endParaRPr lang="en-US" sz="1250" dirty="0"/>
          </a:p>
        </p:txBody>
      </p:sp>
      <p:sp>
        <p:nvSpPr>
          <p:cNvPr id="18" name="Shape 16"/>
          <p:cNvSpPr/>
          <p:nvPr/>
        </p:nvSpPr>
        <p:spPr>
          <a:xfrm>
            <a:off x="566928" y="5029200"/>
            <a:ext cx="11055096" cy="960120"/>
          </a:xfrm>
          <a:prstGeom prst="roundRect">
            <a:avLst>
              <a:gd name="adj" fmla="val 8571"/>
            </a:avLst>
          </a:prstGeom>
          <a:solidFill>
            <a:srgbClr val="1A1819"/>
          </a:solidFill>
          <a:ln/>
        </p:spPr>
      </p:sp>
      <p:sp>
        <p:nvSpPr>
          <p:cNvPr id="19" name="Text 17"/>
          <p:cNvSpPr/>
          <p:nvPr/>
        </p:nvSpPr>
        <p:spPr>
          <a:xfrm>
            <a:off x="859536" y="5138928"/>
            <a:ext cx="10469880" cy="274320"/>
          </a:xfrm>
          <a:prstGeom prst="rect">
            <a:avLst/>
          </a:prstGeom>
          <a:noFill/>
          <a:ln/>
        </p:spPr>
        <p:txBody>
          <a:bodyPr wrap="square" lIns="0" tIns="0" rIns="0" bIns="0" rtlCol="0" anchor="ctr"/>
          <a:lstStyle/>
          <a:p>
            <a:pPr indent="0" marL="0">
              <a:buNone/>
            </a:pPr>
            <a:r>
              <a:rPr lang="en-US" sz="1500" b="1" dirty="0">
                <a:solidFill>
                  <a:srgbClr val="58B264"/>
                </a:solidFill>
                <a:latin typeface="Trebuchet MS" pitchFamily="34" charset="0"/>
                <a:ea typeface="Trebuchet MS" pitchFamily="34" charset="-122"/>
                <a:cs typeface="Trebuchet MS" pitchFamily="34" charset="-120"/>
              </a:rPr>
              <a:t>Was das für uns bedeutet</a:t>
            </a:r>
            <a:endParaRPr lang="en-US" sz="1500" dirty="0"/>
          </a:p>
        </p:txBody>
      </p:sp>
      <p:sp>
        <p:nvSpPr>
          <p:cNvPr id="20" name="Text 18"/>
          <p:cNvSpPr/>
          <p:nvPr/>
        </p:nvSpPr>
        <p:spPr>
          <a:xfrm>
            <a:off x="859536" y="5413248"/>
            <a:ext cx="10469880" cy="457200"/>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Mit Paderborn, Kassel und ab Oktober Dortmund decken wir einen deutlich größeren Raum ab. Für euch heißt das mittelfristig auch: mehr Möglichkeiten, wenn sich jemand verändern oder wachsen möchte.</a:t>
            </a:r>
            <a:endParaRPr lang="en-US" sz="1250" dirty="0"/>
          </a:p>
        </p:txBody>
      </p:sp>
      <p:sp>
        <p:nvSpPr>
          <p:cNvPr id="22" name="Text 19"/>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Stand 06.08.2026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3 · KULTUR</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Unser Code of Conduct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Larissa stellt euch den ersten Entwurf vor.</a:t>
            </a:r>
            <a:endParaRPr lang="en-US" sz="1400" dirty="0"/>
          </a:p>
        </p:txBody>
      </p:sp>
      <p:sp>
        <p:nvSpPr>
          <p:cNvPr id="5" name="Shape 3"/>
          <p:cNvSpPr/>
          <p:nvPr/>
        </p:nvSpPr>
        <p:spPr>
          <a:xfrm>
            <a:off x="566928" y="1874520"/>
            <a:ext cx="6190854" cy="2468880"/>
          </a:xfrm>
          <a:prstGeom prst="roundRect">
            <a:avLst>
              <a:gd name="adj" fmla="val 3333"/>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77824" y="2066544"/>
            <a:ext cx="4572000" cy="329184"/>
          </a:xfrm>
          <a:prstGeom prst="rect">
            <a:avLst/>
          </a:prstGeom>
          <a:noFill/>
          <a:ln/>
        </p:spPr>
        <p:txBody>
          <a:bodyPr wrap="square" lIns="0" tIns="0" rIns="0" bIns="0" rtlCol="0" anchor="ctr"/>
          <a:lstStyle/>
          <a:p>
            <a:pPr indent="0" marL="0">
              <a:buNone/>
            </a:pPr>
            <a:r>
              <a:rPr lang="en-US" sz="1800" b="1" dirty="0">
                <a:solidFill>
                  <a:srgbClr val="2E7D3A"/>
                </a:solidFill>
                <a:latin typeface="Trebuchet MS" pitchFamily="34" charset="0"/>
                <a:ea typeface="Trebuchet MS" pitchFamily="34" charset="-122"/>
                <a:cs typeface="Trebuchet MS" pitchFamily="34" charset="-120"/>
              </a:rPr>
              <a:t>Worum es geht</a:t>
            </a:r>
            <a:endParaRPr lang="en-US" sz="1800" dirty="0"/>
          </a:p>
        </p:txBody>
      </p:sp>
      <p:sp>
        <p:nvSpPr>
          <p:cNvPr id="7" name="Text 5"/>
          <p:cNvSpPr/>
          <p:nvPr/>
        </p:nvSpPr>
        <p:spPr>
          <a:xfrm>
            <a:off x="914400" y="2487168"/>
            <a:ext cx="5495910" cy="1700784"/>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Bei WERK.E arbeiten viele Menschen mit sehr unterschiedlichen Aufgaben zusammen - von der Sanierung bis zur Verwaltung.</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Der Kodex hält fest, wie wir miteinander umgehen wollen. Kein Regelwerk von oben, sondern eine gemeinsame Verständigung.</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Der Entwurf ist ausdrücklich ein Arbeitsstand - er soll sich durch eure Rückmeldungen noch verändern.</a:t>
            </a:r>
            <a:endParaRPr lang="en-US" sz="1250" dirty="0"/>
          </a:p>
        </p:txBody>
      </p:sp>
      <p:sp>
        <p:nvSpPr>
          <p:cNvPr id="8" name="Shape 6"/>
          <p:cNvSpPr/>
          <p:nvPr/>
        </p:nvSpPr>
        <p:spPr>
          <a:xfrm>
            <a:off x="7089435" y="1874520"/>
            <a:ext cx="4532589" cy="2468880"/>
          </a:xfrm>
          <a:prstGeom prst="roundRect">
            <a:avLst>
              <a:gd name="adj" fmla="val 3333"/>
            </a:avLst>
          </a:prstGeom>
          <a:solidFill>
            <a:srgbClr val="EDF5EE"/>
          </a:solidFill>
          <a:ln/>
        </p:spPr>
      </p:sp>
      <p:sp>
        <p:nvSpPr>
          <p:cNvPr id="9" name="Text 7"/>
          <p:cNvSpPr/>
          <p:nvPr/>
        </p:nvSpPr>
        <p:spPr>
          <a:xfrm>
            <a:off x="7382043" y="2066544"/>
            <a:ext cx="3947373" cy="329184"/>
          </a:xfrm>
          <a:prstGeom prst="rect">
            <a:avLst/>
          </a:prstGeom>
          <a:noFill/>
          <a:ln/>
        </p:spPr>
        <p:txBody>
          <a:bodyPr wrap="square" lIns="0" tIns="0" rIns="0" bIns="0" rtlCol="0" anchor="ctr"/>
          <a:lstStyle/>
          <a:p>
            <a:pPr indent="0" marL="0">
              <a:buNone/>
            </a:pPr>
            <a:r>
              <a:rPr lang="en-US" sz="1800" b="1" dirty="0">
                <a:solidFill>
                  <a:srgbClr val="2E7D3A"/>
                </a:solidFill>
                <a:latin typeface="Trebuchet MS" pitchFamily="34" charset="0"/>
                <a:ea typeface="Trebuchet MS" pitchFamily="34" charset="-122"/>
                <a:cs typeface="Trebuchet MS" pitchFamily="34" charset="-120"/>
              </a:rPr>
              <a:t>Erarbeitet von</a:t>
            </a:r>
            <a:endParaRPr lang="en-US" sz="1800" dirty="0"/>
          </a:p>
        </p:txBody>
      </p:sp>
      <p:sp>
        <p:nvSpPr>
          <p:cNvPr id="10" name="Text 8"/>
          <p:cNvSpPr/>
          <p:nvPr/>
        </p:nvSpPr>
        <p:spPr>
          <a:xfrm>
            <a:off x="7382043" y="2468880"/>
            <a:ext cx="3947373" cy="566928"/>
          </a:xfrm>
          <a:prstGeom prst="rect">
            <a:avLst/>
          </a:prstGeom>
          <a:noFill/>
          <a:ln/>
        </p:spPr>
        <p:txBody>
          <a:bodyPr wrap="square" lIns="0" tIns="0" rIns="0" bIns="0" rtlCol="0" anchor="t"/>
          <a:lstStyle/>
          <a:p>
            <a:pPr indent="0" marL="0">
              <a:lnSpc>
                <a:spcPts val="1800"/>
              </a:lnSpc>
              <a:buNone/>
            </a:pPr>
            <a:r>
              <a:rPr lang="en-US" sz="1300" b="1" dirty="0">
                <a:solidFill>
                  <a:srgbClr val="1A1819"/>
                </a:solidFill>
                <a:latin typeface="Calibri" pitchFamily="34" charset="0"/>
                <a:ea typeface="Calibri" pitchFamily="34" charset="-122"/>
                <a:cs typeface="Calibri" pitchFamily="34" charset="-120"/>
              </a:rPr>
              <a:t>der AG Demokratie und</a:t>
            </a:r>
            <a:endParaRPr lang="en-US" sz="1300" dirty="0"/>
          </a:p>
          <a:p>
            <a:pPr indent="0" marL="0">
              <a:lnSpc>
                <a:spcPts val="1800"/>
              </a:lnSpc>
              <a:buNone/>
            </a:pPr>
            <a:r>
              <a:rPr lang="en-US" sz="1300" b="1" dirty="0">
                <a:solidFill>
                  <a:srgbClr val="1A1819"/>
                </a:solidFill>
                <a:latin typeface="Calibri" pitchFamily="34" charset="0"/>
                <a:ea typeface="Calibri" pitchFamily="34" charset="-122"/>
                <a:cs typeface="Calibri" pitchFamily="34" charset="-120"/>
              </a:rPr>
              <a:t>Gleichstellung im Betrieb</a:t>
            </a:r>
            <a:endParaRPr lang="en-US" sz="1300" dirty="0"/>
          </a:p>
        </p:txBody>
      </p:sp>
      <p:sp>
        <p:nvSpPr>
          <p:cNvPr id="11" name="Text 9"/>
          <p:cNvSpPr/>
          <p:nvPr/>
        </p:nvSpPr>
        <p:spPr>
          <a:xfrm>
            <a:off x="7382043" y="3127248"/>
            <a:ext cx="3947373" cy="310896"/>
          </a:xfrm>
          <a:prstGeom prst="rect">
            <a:avLst/>
          </a:prstGeom>
          <a:noFill/>
          <a:ln/>
        </p:spPr>
        <p:txBody>
          <a:bodyPr wrap="square" lIns="0" tIns="0" rIns="0" bIns="0" rtlCol="0" anchor="ctr"/>
          <a:lstStyle/>
          <a:p>
            <a:pPr indent="0" marL="0">
              <a:buNone/>
            </a:pPr>
            <a:r>
              <a:rPr lang="en-US" sz="1250" dirty="0">
                <a:solidFill>
                  <a:srgbClr val="1A1819"/>
                </a:solidFill>
                <a:latin typeface="Calibri" pitchFamily="34" charset="0"/>
                <a:ea typeface="Calibri" pitchFamily="34" charset="-122"/>
                <a:cs typeface="Calibri" pitchFamily="34" charset="-120"/>
              </a:rPr>
              <a:t>Larissa · Alina · Marike · Lisa · Birgitta</a:t>
            </a:r>
            <a:endParaRPr lang="en-US" sz="1250" dirty="0"/>
          </a:p>
        </p:txBody>
      </p:sp>
      <p:sp>
        <p:nvSpPr>
          <p:cNvPr id="12" name="Text 10"/>
          <p:cNvSpPr/>
          <p:nvPr/>
        </p:nvSpPr>
        <p:spPr>
          <a:xfrm>
            <a:off x="7382043" y="3529584"/>
            <a:ext cx="3947373" cy="603504"/>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Es gibt bereits eine gestaltete Fassung als PDF - die geht mit dem Protokoll an alle raus.</a:t>
            </a:r>
            <a:endParaRPr lang="en-US" sz="1150" dirty="0"/>
          </a:p>
        </p:txBody>
      </p:sp>
      <p:sp>
        <p:nvSpPr>
          <p:cNvPr id="13" name="Shape 11"/>
          <p:cNvSpPr/>
          <p:nvPr/>
        </p:nvSpPr>
        <p:spPr>
          <a:xfrm>
            <a:off x="566928" y="4617720"/>
            <a:ext cx="11055096" cy="1298448"/>
          </a:xfrm>
          <a:prstGeom prst="roundRect">
            <a:avLst>
              <a:gd name="adj" fmla="val 6338"/>
            </a:avLst>
          </a:prstGeom>
          <a:solidFill>
            <a:srgbClr val="1A1819"/>
          </a:solidFill>
          <a:ln/>
        </p:spPr>
      </p:sp>
      <p:sp>
        <p:nvSpPr>
          <p:cNvPr id="14" name="Text 12"/>
          <p:cNvSpPr/>
          <p:nvPr/>
        </p:nvSpPr>
        <p:spPr>
          <a:xfrm>
            <a:off x="859536" y="4745736"/>
            <a:ext cx="10469880" cy="292608"/>
          </a:xfrm>
          <a:prstGeom prst="rect">
            <a:avLst/>
          </a:prstGeom>
          <a:noFill/>
          <a:ln/>
        </p:spPr>
        <p:txBody>
          <a:bodyPr wrap="square" lIns="0" tIns="0" rIns="0" bIns="0" rtlCol="0" anchor="ctr"/>
          <a:lstStyle/>
          <a:p>
            <a:pPr indent="0" marL="0">
              <a:buNone/>
            </a:pPr>
            <a:r>
              <a:rPr lang="en-US" sz="1600" b="1" dirty="0">
                <a:solidFill>
                  <a:srgbClr val="58B264"/>
                </a:solidFill>
                <a:latin typeface="Trebuchet MS" pitchFamily="34" charset="0"/>
                <a:ea typeface="Trebuchet MS" pitchFamily="34" charset="-122"/>
                <a:cs typeface="Trebuchet MS" pitchFamily="34" charset="-120"/>
              </a:rPr>
              <a:t>Jetzt seid ihr dran</a:t>
            </a:r>
            <a:endParaRPr lang="en-US" sz="1600" dirty="0"/>
          </a:p>
        </p:txBody>
      </p:sp>
      <p:sp>
        <p:nvSpPr>
          <p:cNvPr id="15" name="Text 13"/>
          <p:cNvSpPr/>
          <p:nvPr/>
        </p:nvSpPr>
        <p:spPr>
          <a:xfrm>
            <a:off x="896112" y="5074920"/>
            <a:ext cx="10396728" cy="74980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Passt die Richtung? Fehlt etwas Wesentliches?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Rückmeldungen gerne direkt hier im Raum oder danach an Larissa - schriftlich oder im Gespräch, wie es euch lieber ist.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Ziel ist eine Fassung, hinter der wir alle stehen. Kein Papier für die Schublade.</a:t>
            </a:r>
            <a:endParaRPr lang="en-US" sz="1200" dirty="0"/>
          </a:p>
        </p:txBody>
      </p:sp>
      <p:sp>
        <p:nvSpPr>
          <p:cNvPr id="17" name="Text 14"/>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AG Demokratie &amp; Gleichstellung im Betrieb · Entwurf Stand August 2026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3 · TEAM</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Aus dem Team</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Drei Dinge, die alle wissen sollten.</a:t>
            </a:r>
            <a:endParaRPr lang="en-US" sz="1400" dirty="0"/>
          </a:p>
        </p:txBody>
      </p:sp>
      <p:sp>
        <p:nvSpPr>
          <p:cNvPr id="5" name="Shape 3"/>
          <p:cNvSpPr/>
          <p:nvPr/>
        </p:nvSpPr>
        <p:spPr>
          <a:xfrm>
            <a:off x="566928" y="1874520"/>
            <a:ext cx="5372100" cy="1417320"/>
          </a:xfrm>
          <a:prstGeom prst="roundRect">
            <a:avLst>
              <a:gd name="adj" fmla="val 5806"/>
            </a:avLst>
          </a:prstGeom>
          <a:solidFill>
            <a:srgbClr val="EDF5EE"/>
          </a:solidFill>
          <a:ln/>
        </p:spPr>
      </p:sp>
      <p:sp>
        <p:nvSpPr>
          <p:cNvPr id="6" name="Text 4"/>
          <p:cNvSpPr/>
          <p:nvPr/>
        </p:nvSpPr>
        <p:spPr>
          <a:xfrm>
            <a:off x="877824" y="2048256"/>
            <a:ext cx="4206240" cy="329184"/>
          </a:xfrm>
          <a:prstGeom prst="rect">
            <a:avLst/>
          </a:prstGeom>
          <a:noFill/>
          <a:ln/>
        </p:spPr>
        <p:txBody>
          <a:bodyPr wrap="square" lIns="0" tIns="0" rIns="0" bIns="0" rtlCol="0" anchor="ctr"/>
          <a:lstStyle/>
          <a:p>
            <a:pPr indent="0" marL="0">
              <a:buNone/>
            </a:pPr>
            <a:r>
              <a:rPr lang="en-US" sz="1800" b="1" dirty="0">
                <a:solidFill>
                  <a:srgbClr val="2E7D3A"/>
                </a:solidFill>
                <a:latin typeface="Trebuchet MS" pitchFamily="34" charset="0"/>
                <a:ea typeface="Trebuchet MS" pitchFamily="34" charset="-122"/>
                <a:cs typeface="Trebuchet MS" pitchFamily="34" charset="-120"/>
              </a:rPr>
              <a:t>Katrin kommt zurück</a:t>
            </a:r>
            <a:endParaRPr lang="en-US" sz="1800" dirty="0"/>
          </a:p>
        </p:txBody>
      </p:sp>
      <p:sp>
        <p:nvSpPr>
          <p:cNvPr id="7" name="Text 5"/>
          <p:cNvSpPr/>
          <p:nvPr/>
        </p:nvSpPr>
        <p:spPr>
          <a:xfrm>
            <a:off x="896112" y="2432304"/>
            <a:ext cx="4713732" cy="713232"/>
          </a:xfrm>
          <a:prstGeom prst="rect">
            <a:avLst/>
          </a:prstGeom>
          <a:noFill/>
          <a:ln/>
        </p:spPr>
        <p:txBody>
          <a:bodyPr wrap="square" lIns="0" tIns="0" rIns="0" bIns="0" rtlCol="0" anchor="t"/>
          <a:lstStyle/>
          <a:p>
            <a:pPr indent="0" marL="0">
              <a:lnSpc>
                <a:spcPts val="1700"/>
              </a:lnSpc>
              <a:buNone/>
            </a:pPr>
            <a:r>
              <a:rPr lang="en-US" sz="1250" dirty="0">
                <a:solidFill>
                  <a:srgbClr val="1A1819"/>
                </a:solidFill>
                <a:latin typeface="Calibri" pitchFamily="34" charset="0"/>
                <a:ea typeface="Calibri" pitchFamily="34" charset="-122"/>
                <a:cs typeface="Calibri" pitchFamily="34" charset="-120"/>
              </a:rPr>
              <a:t>In drei Monaten geht es für Katrin wieder los. Wir setzen uns Ende August zusammen und besprechen, wie der Wiedereinstieg aussieht.</a:t>
            </a:r>
            <a:endParaRPr lang="en-US" sz="1250" dirty="0"/>
          </a:p>
        </p:txBody>
      </p:sp>
      <p:sp>
        <p:nvSpPr>
          <p:cNvPr id="8" name="Shape 6"/>
          <p:cNvSpPr/>
          <p:nvPr/>
        </p:nvSpPr>
        <p:spPr>
          <a:xfrm>
            <a:off x="6249924" y="1874520"/>
            <a:ext cx="5372100" cy="1417320"/>
          </a:xfrm>
          <a:prstGeom prst="roundRect">
            <a:avLst>
              <a:gd name="adj" fmla="val 5806"/>
            </a:avLst>
          </a:prstGeom>
          <a:solidFill>
            <a:srgbClr val="F5F6F3"/>
          </a:solidFill>
          <a:ln/>
          <a:effectLst>
            <a:outerShdw sx="100000" sy="100000" kx="0" ky="0" algn="bl" rotWithShape="0" blurRad="127000" dist="25400" dir="5400000">
              <a:srgbClr val="000000">
                <a:alpha val="7000"/>
              </a:srgbClr>
            </a:outerShdw>
          </a:effectLst>
        </p:spPr>
      </p:sp>
      <p:sp>
        <p:nvSpPr>
          <p:cNvPr id="9" name="Text 7"/>
          <p:cNvSpPr/>
          <p:nvPr/>
        </p:nvSpPr>
        <p:spPr>
          <a:xfrm>
            <a:off x="6560820" y="2048256"/>
            <a:ext cx="4206240" cy="329184"/>
          </a:xfrm>
          <a:prstGeom prst="rect">
            <a:avLst/>
          </a:prstGeom>
          <a:noFill/>
          <a:ln/>
        </p:spPr>
        <p:txBody>
          <a:bodyPr wrap="square" lIns="0" tIns="0" rIns="0" bIns="0" rtlCol="0" anchor="ctr"/>
          <a:lstStyle/>
          <a:p>
            <a:pPr indent="0" marL="0">
              <a:buNone/>
            </a:pPr>
            <a:r>
              <a:rPr lang="en-US" sz="1800" b="1" dirty="0">
                <a:solidFill>
                  <a:srgbClr val="2E7D3A"/>
                </a:solidFill>
                <a:latin typeface="Trebuchet MS" pitchFamily="34" charset="0"/>
                <a:ea typeface="Trebuchet MS" pitchFamily="34" charset="-122"/>
                <a:cs typeface="Trebuchet MS" pitchFamily="34" charset="-120"/>
              </a:rPr>
              <a:t>Dominik hat geheiratet</a:t>
            </a:r>
            <a:endParaRPr lang="en-US" sz="1800" dirty="0"/>
          </a:p>
        </p:txBody>
      </p:sp>
      <p:sp>
        <p:nvSpPr>
          <p:cNvPr id="10" name="Text 8"/>
          <p:cNvSpPr/>
          <p:nvPr/>
        </p:nvSpPr>
        <p:spPr>
          <a:xfrm>
            <a:off x="6579108" y="2432304"/>
            <a:ext cx="4713732" cy="713232"/>
          </a:xfrm>
          <a:prstGeom prst="rect">
            <a:avLst/>
          </a:prstGeom>
          <a:noFill/>
          <a:ln/>
        </p:spPr>
        <p:txBody>
          <a:bodyPr wrap="square" lIns="0" tIns="0" rIns="0" bIns="0" rtlCol="0" anchor="t"/>
          <a:lstStyle/>
          <a:p>
            <a:pPr indent="0" marL="0">
              <a:lnSpc>
                <a:spcPts val="1700"/>
              </a:lnSpc>
              <a:buNone/>
            </a:pPr>
            <a:r>
              <a:rPr lang="en-US" sz="1250" dirty="0">
                <a:solidFill>
                  <a:srgbClr val="1A1819"/>
                </a:solidFill>
                <a:latin typeface="Calibri" pitchFamily="34" charset="0"/>
                <a:ea typeface="Calibri" pitchFamily="34" charset="-122"/>
                <a:cs typeface="Calibri" pitchFamily="34" charset="-120"/>
              </a:rPr>
              <a:t>Am 31.07. in Rietberg. Herzlichen Glückwunsch von uns allen - schön, dass wir dabei sein durften.</a:t>
            </a:r>
            <a:endParaRPr lang="en-US" sz="1250" dirty="0"/>
          </a:p>
        </p:txBody>
      </p:sp>
      <p:sp>
        <p:nvSpPr>
          <p:cNvPr id="11" name="Shape 9"/>
          <p:cNvSpPr/>
          <p:nvPr/>
        </p:nvSpPr>
        <p:spPr>
          <a:xfrm>
            <a:off x="566928" y="3529584"/>
            <a:ext cx="11055096" cy="2331720"/>
          </a:xfrm>
          <a:prstGeom prst="roundRect">
            <a:avLst>
              <a:gd name="adj" fmla="val 3529"/>
            </a:avLst>
          </a:prstGeom>
          <a:solidFill>
            <a:srgbClr val="F5F6F3"/>
          </a:solidFill>
          <a:ln/>
          <a:effectLst>
            <a:outerShdw sx="100000" sy="100000" kx="0" ky="0" algn="bl" rotWithShape="0" blurRad="127000" dist="25400" dir="5400000">
              <a:srgbClr val="000000">
                <a:alpha val="7000"/>
              </a:srgbClr>
            </a:outerShdw>
          </a:effectLst>
        </p:spPr>
      </p:sp>
      <p:sp>
        <p:nvSpPr>
          <p:cNvPr id="12" name="Text 10"/>
          <p:cNvSpPr/>
          <p:nvPr/>
        </p:nvSpPr>
        <p:spPr>
          <a:xfrm>
            <a:off x="877824" y="3712464"/>
            <a:ext cx="6858000" cy="329184"/>
          </a:xfrm>
          <a:prstGeom prst="rect">
            <a:avLst/>
          </a:prstGeom>
          <a:noFill/>
          <a:ln/>
        </p:spPr>
        <p:txBody>
          <a:bodyPr wrap="square" lIns="0" tIns="0" rIns="0" bIns="0" rtlCol="0" anchor="ctr"/>
          <a:lstStyle/>
          <a:p>
            <a:pPr indent="0" marL="0">
              <a:buNone/>
            </a:pPr>
            <a:r>
              <a:rPr lang="en-US" sz="1800" b="1" dirty="0">
                <a:solidFill>
                  <a:srgbClr val="2E7D3A"/>
                </a:solidFill>
                <a:latin typeface="Trebuchet MS" pitchFamily="34" charset="0"/>
                <a:ea typeface="Trebuchet MS" pitchFamily="34" charset="-122"/>
                <a:cs typeface="Trebuchet MS" pitchFamily="34" charset="-120"/>
              </a:rPr>
              <a:t>Vertretung im Urlaub - so geht es richtig</a:t>
            </a:r>
            <a:endParaRPr lang="en-US" sz="1800" dirty="0"/>
          </a:p>
        </p:txBody>
      </p:sp>
      <p:sp>
        <p:nvSpPr>
          <p:cNvPr id="13" name="Text 11"/>
          <p:cNvSpPr/>
          <p:nvPr/>
        </p:nvSpPr>
        <p:spPr>
          <a:xfrm>
            <a:off x="896112" y="4096512"/>
            <a:ext cx="6080303" cy="658368"/>
          </a:xfrm>
          <a:prstGeom prst="rect">
            <a:avLst/>
          </a:prstGeom>
          <a:noFill/>
          <a:ln/>
        </p:spPr>
        <p:txBody>
          <a:bodyPr wrap="square" lIns="0" tIns="0" rIns="0" bIns="0" rtlCol="0" anchor="t"/>
          <a:lstStyle/>
          <a:p>
            <a:pPr indent="0" marL="0">
              <a:lnSpc>
                <a:spcPts val="1700"/>
              </a:lnSpc>
              <a:buNone/>
            </a:pPr>
            <a:r>
              <a:rPr lang="en-US" sz="1250" dirty="0">
                <a:solidFill>
                  <a:srgbClr val="1A1819"/>
                </a:solidFill>
                <a:latin typeface="Calibri" pitchFamily="34" charset="0"/>
                <a:ea typeface="Calibri" pitchFamily="34" charset="-122"/>
                <a:cs typeface="Calibri" pitchFamily="34" charset="-120"/>
              </a:rPr>
              <a:t>Melissa ist bis zum 24.08. im Urlaub und hat vorher genau das gemacht, was ich mir von allen wünsche - eine kurze Nachricht in den Chat, mit klaren Zuständigkeiten:</a:t>
            </a:r>
            <a:endParaRPr lang="en-US" sz="1250" dirty="0"/>
          </a:p>
        </p:txBody>
      </p:sp>
      <p:sp>
        <p:nvSpPr>
          <p:cNvPr id="14" name="Text 12"/>
          <p:cNvSpPr/>
          <p:nvPr/>
        </p:nvSpPr>
        <p:spPr>
          <a:xfrm>
            <a:off x="932688" y="4846320"/>
            <a:ext cx="2286000" cy="237744"/>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info@</a:t>
            </a:r>
            <a:endParaRPr lang="en-US" sz="1150" dirty="0"/>
          </a:p>
        </p:txBody>
      </p:sp>
      <p:sp>
        <p:nvSpPr>
          <p:cNvPr id="15" name="Text 13"/>
          <p:cNvSpPr/>
          <p:nvPr/>
        </p:nvSpPr>
        <p:spPr>
          <a:xfrm>
            <a:off x="3264408" y="4846320"/>
            <a:ext cx="1828800" cy="237744"/>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Biggi</a:t>
            </a:r>
            <a:endParaRPr lang="en-US" sz="1150" dirty="0"/>
          </a:p>
        </p:txBody>
      </p:sp>
      <p:sp>
        <p:nvSpPr>
          <p:cNvPr id="16" name="Text 14"/>
          <p:cNvSpPr/>
          <p:nvPr/>
        </p:nvSpPr>
        <p:spPr>
          <a:xfrm>
            <a:off x="932688" y="5093208"/>
            <a:ext cx="2286000" cy="237744"/>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Anträge</a:t>
            </a:r>
            <a:endParaRPr lang="en-US" sz="1150" dirty="0"/>
          </a:p>
        </p:txBody>
      </p:sp>
      <p:sp>
        <p:nvSpPr>
          <p:cNvPr id="17" name="Text 15"/>
          <p:cNvSpPr/>
          <p:nvPr/>
        </p:nvSpPr>
        <p:spPr>
          <a:xfrm>
            <a:off x="3264408" y="5093208"/>
            <a:ext cx="1828800" cy="237744"/>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Lisa</a:t>
            </a:r>
            <a:endParaRPr lang="en-US" sz="1150" dirty="0"/>
          </a:p>
        </p:txBody>
      </p:sp>
      <p:sp>
        <p:nvSpPr>
          <p:cNvPr id="18" name="Text 16"/>
          <p:cNvSpPr/>
          <p:nvPr/>
        </p:nvSpPr>
        <p:spPr>
          <a:xfrm>
            <a:off x="932688" y="5340096"/>
            <a:ext cx="2286000" cy="237744"/>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Rückfragen</a:t>
            </a:r>
            <a:endParaRPr lang="en-US" sz="1150" dirty="0"/>
          </a:p>
        </p:txBody>
      </p:sp>
      <p:sp>
        <p:nvSpPr>
          <p:cNvPr id="19" name="Text 17"/>
          <p:cNvSpPr/>
          <p:nvPr/>
        </p:nvSpPr>
        <p:spPr>
          <a:xfrm>
            <a:off x="3264408" y="5340096"/>
            <a:ext cx="1828800" cy="237744"/>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Alina</a:t>
            </a:r>
            <a:endParaRPr lang="en-US" sz="1150" dirty="0"/>
          </a:p>
        </p:txBody>
      </p:sp>
      <p:sp>
        <p:nvSpPr>
          <p:cNvPr id="20" name="Text 18"/>
          <p:cNvSpPr/>
          <p:nvPr/>
        </p:nvSpPr>
        <p:spPr>
          <a:xfrm>
            <a:off x="932688" y="5586984"/>
            <a:ext cx="2286000" cy="237744"/>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Drucken und Versand</a:t>
            </a:r>
            <a:endParaRPr lang="en-US" sz="1150" dirty="0"/>
          </a:p>
        </p:txBody>
      </p:sp>
      <p:sp>
        <p:nvSpPr>
          <p:cNvPr id="21" name="Text 19"/>
          <p:cNvSpPr/>
          <p:nvPr/>
        </p:nvSpPr>
        <p:spPr>
          <a:xfrm>
            <a:off x="3264408" y="5586984"/>
            <a:ext cx="1828800" cy="237744"/>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Alina</a:t>
            </a:r>
            <a:endParaRPr lang="en-US" sz="1150" dirty="0"/>
          </a:p>
        </p:txBody>
      </p:sp>
      <p:sp>
        <p:nvSpPr>
          <p:cNvPr id="22" name="Shape 20"/>
          <p:cNvSpPr/>
          <p:nvPr/>
        </p:nvSpPr>
        <p:spPr>
          <a:xfrm>
            <a:off x="6978884" y="4041648"/>
            <a:ext cx="4423684" cy="1600200"/>
          </a:xfrm>
          <a:prstGeom prst="roundRect">
            <a:avLst>
              <a:gd name="adj" fmla="val 5143"/>
            </a:avLst>
          </a:prstGeom>
          <a:solidFill>
            <a:srgbClr val="EDF5EE"/>
          </a:solidFill>
          <a:ln/>
        </p:spPr>
      </p:sp>
      <p:sp>
        <p:nvSpPr>
          <p:cNvPr id="23" name="Text 21"/>
          <p:cNvSpPr/>
          <p:nvPr/>
        </p:nvSpPr>
        <p:spPr>
          <a:xfrm>
            <a:off x="7234916" y="4187952"/>
            <a:ext cx="3911620" cy="274320"/>
          </a:xfrm>
          <a:prstGeom prst="rect">
            <a:avLst/>
          </a:prstGeom>
          <a:noFill/>
          <a:ln/>
        </p:spPr>
        <p:txBody>
          <a:bodyPr wrap="square" lIns="0" tIns="0" rIns="0" bIns="0" rtlCol="0" anchor="ctr"/>
          <a:lstStyle/>
          <a:p>
            <a:pPr indent="0" marL="0">
              <a:buNone/>
            </a:pPr>
            <a:r>
              <a:rPr lang="en-US" sz="1400" b="1" dirty="0">
                <a:solidFill>
                  <a:srgbClr val="2E7D3A"/>
                </a:solidFill>
                <a:latin typeface="Trebuchet MS" pitchFamily="34" charset="0"/>
                <a:ea typeface="Trebuchet MS" pitchFamily="34" charset="-122"/>
                <a:cs typeface="Trebuchet MS" pitchFamily="34" charset="-120"/>
              </a:rPr>
              <a:t>Warum das hilft</a:t>
            </a:r>
            <a:endParaRPr lang="en-US" sz="1400" dirty="0"/>
          </a:p>
        </p:txBody>
      </p:sp>
      <p:sp>
        <p:nvSpPr>
          <p:cNvPr id="24" name="Text 22"/>
          <p:cNvSpPr/>
          <p:nvPr/>
        </p:nvSpPr>
        <p:spPr>
          <a:xfrm>
            <a:off x="7234916" y="4498848"/>
            <a:ext cx="3911620" cy="1005840"/>
          </a:xfrm>
          <a:prstGeom prst="rect">
            <a:avLst/>
          </a:prstGeom>
          <a:noFill/>
          <a:ln/>
        </p:spPr>
        <p:txBody>
          <a:bodyPr wrap="square" lIns="0" tIns="0" rIns="0" bIns="0" rtlCol="0" anchor="t"/>
          <a:lstStyle/>
          <a:p>
            <a:pPr indent="0" marL="0">
              <a:lnSpc>
                <a:spcPts val="1600"/>
              </a:lnSpc>
              <a:buNone/>
            </a:pPr>
            <a:r>
              <a:rPr lang="en-US" sz="1200" dirty="0">
                <a:solidFill>
                  <a:srgbClr val="1A1819"/>
                </a:solidFill>
                <a:latin typeface="Calibri" pitchFamily="34" charset="0"/>
                <a:ea typeface="Calibri" pitchFamily="34" charset="-122"/>
                <a:cs typeface="Calibri" pitchFamily="34" charset="-120"/>
              </a:rPr>
              <a:t>Niemand muss raten, an wen er sich wendet. Keine Mail bleibt liegen, kein Kunde wartet unnötig - und wer im Urlaub ist, hat wirklich Urlaub.</a:t>
            </a:r>
            <a:endParaRPr lang="en-US" sz="1200" dirty="0"/>
          </a:p>
        </p:txBody>
      </p:sp>
      <p:sp>
        <p:nvSpPr>
          <p:cNvPr id="26" name="Text 23"/>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Teams-Chats, 06.08.2026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3 · JOBS</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Wir suchen Verstärkung</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Und ihr seid dabei unser bester Kanal - besser als jede Anzeige.</a:t>
            </a:r>
            <a:endParaRPr lang="en-US" sz="1400" dirty="0"/>
          </a:p>
        </p:txBody>
      </p:sp>
      <p:sp>
        <p:nvSpPr>
          <p:cNvPr id="5" name="Shape 3"/>
          <p:cNvSpPr/>
          <p:nvPr/>
        </p:nvSpPr>
        <p:spPr>
          <a:xfrm>
            <a:off x="566928" y="1828800"/>
            <a:ext cx="5372100" cy="2240280"/>
          </a:xfrm>
          <a:prstGeom prst="roundRect">
            <a:avLst>
              <a:gd name="adj" fmla="val 3673"/>
            </a:avLst>
          </a:prstGeom>
          <a:solidFill>
            <a:srgbClr val="1A1819"/>
          </a:solidFill>
          <a:ln/>
        </p:spPr>
      </p:sp>
      <p:sp>
        <p:nvSpPr>
          <p:cNvPr id="6" name="Text 4"/>
          <p:cNvSpPr/>
          <p:nvPr/>
        </p:nvSpPr>
        <p:spPr>
          <a:xfrm>
            <a:off x="877824" y="2011680"/>
            <a:ext cx="4206240" cy="256032"/>
          </a:xfrm>
          <a:prstGeom prst="rect">
            <a:avLst/>
          </a:prstGeom>
          <a:noFill/>
          <a:ln/>
        </p:spPr>
        <p:txBody>
          <a:bodyPr wrap="square" lIns="0" tIns="0" rIns="0" bIns="0" rtlCol="0" anchor="ctr"/>
          <a:lstStyle/>
          <a:p>
            <a:pPr indent="0" marL="0">
              <a:buNone/>
            </a:pPr>
            <a:r>
              <a:rPr lang="en-US" sz="1050" b="1" spc="160" kern="0" dirty="0">
                <a:solidFill>
                  <a:srgbClr val="BFDCC4"/>
                </a:solidFill>
                <a:latin typeface="Calibri" pitchFamily="34" charset="0"/>
                <a:ea typeface="Calibri" pitchFamily="34" charset="-122"/>
                <a:cs typeface="Calibri" pitchFamily="34" charset="-120"/>
              </a:rPr>
              <a:t>OFFENE STELLE</a:t>
            </a:r>
            <a:endParaRPr lang="en-US" sz="1050" dirty="0"/>
          </a:p>
        </p:txBody>
      </p:sp>
      <p:sp>
        <p:nvSpPr>
          <p:cNvPr id="7" name="Text 5"/>
          <p:cNvSpPr/>
          <p:nvPr/>
        </p:nvSpPr>
        <p:spPr>
          <a:xfrm>
            <a:off x="877824" y="2286000"/>
            <a:ext cx="4750308" cy="1133856"/>
          </a:xfrm>
          <a:prstGeom prst="rect">
            <a:avLst/>
          </a:prstGeom>
          <a:noFill/>
          <a:ln/>
        </p:spPr>
        <p:txBody>
          <a:bodyPr wrap="square" lIns="0" tIns="0" rIns="0" bIns="0" rtlCol="0" anchor="t"/>
          <a:lstStyle/>
          <a:p>
            <a:pPr indent="0" marL="0">
              <a:lnSpc>
                <a:spcPts val="4100"/>
              </a:lnSpc>
              <a:buNone/>
            </a:pPr>
            <a:r>
              <a:rPr lang="en-US" sz="3400" b="1" dirty="0">
                <a:solidFill>
                  <a:srgbClr val="FFFFFF"/>
                </a:solidFill>
                <a:latin typeface="Trebuchet MS" pitchFamily="34" charset="0"/>
                <a:ea typeface="Trebuchet MS" pitchFamily="34" charset="-122"/>
                <a:cs typeface="Trebuchet MS" pitchFamily="34" charset="-120"/>
              </a:rPr>
              <a:t>Handwerker /</a:t>
            </a:r>
            <a:endParaRPr lang="en-US" sz="3400" dirty="0"/>
          </a:p>
          <a:p>
            <a:pPr indent="0" marL="0">
              <a:lnSpc>
                <a:spcPts val="4100"/>
              </a:lnSpc>
              <a:buNone/>
            </a:pPr>
            <a:r>
              <a:rPr lang="en-US" sz="3400" b="1" dirty="0">
                <a:solidFill>
                  <a:srgbClr val="FFFFFF"/>
                </a:solidFill>
                <a:latin typeface="Trebuchet MS" pitchFamily="34" charset="0"/>
                <a:ea typeface="Trebuchet MS" pitchFamily="34" charset="-122"/>
                <a:cs typeface="Trebuchet MS" pitchFamily="34" charset="-120"/>
              </a:rPr>
              <a:t>Hausmeister</a:t>
            </a:r>
            <a:endParaRPr lang="en-US" sz="3400" dirty="0"/>
          </a:p>
        </p:txBody>
      </p:sp>
      <p:sp>
        <p:nvSpPr>
          <p:cNvPr id="8" name="Text 6"/>
          <p:cNvSpPr/>
          <p:nvPr/>
        </p:nvSpPr>
        <p:spPr>
          <a:xfrm>
            <a:off x="877824" y="3474720"/>
            <a:ext cx="4750308" cy="530352"/>
          </a:xfrm>
          <a:prstGeom prst="rect">
            <a:avLst/>
          </a:prstGeom>
          <a:noFill/>
          <a:ln/>
        </p:spPr>
        <p:txBody>
          <a:bodyPr wrap="square" lIns="0" tIns="0" rIns="0" bIns="0" rtlCol="0" anchor="t"/>
          <a:lstStyle/>
          <a:p>
            <a:pPr indent="0" marL="0">
              <a:lnSpc>
                <a:spcPts val="1700"/>
              </a:lnSpc>
              <a:buNone/>
            </a:pPr>
            <a:r>
              <a:rPr lang="en-US" sz="1250" dirty="0">
                <a:solidFill>
                  <a:srgbClr val="C9D2CA"/>
                </a:solidFill>
                <a:latin typeface="Calibri" pitchFamily="34" charset="0"/>
                <a:ea typeface="Calibri" pitchFamily="34" charset="-122"/>
                <a:cs typeface="Calibri" pitchFamily="34" charset="-120"/>
              </a:rPr>
              <a:t>Jemand, der anpackt, mitdenkt und zuverlässig ist. Handwerkliches Geschick und Führerschein bringt er oder sie mit.</a:t>
            </a:r>
            <a:endParaRPr lang="en-US" sz="1250" dirty="0"/>
          </a:p>
        </p:txBody>
      </p:sp>
      <p:sp>
        <p:nvSpPr>
          <p:cNvPr id="9" name="Shape 7"/>
          <p:cNvSpPr/>
          <p:nvPr/>
        </p:nvSpPr>
        <p:spPr>
          <a:xfrm>
            <a:off x="6249924" y="1828800"/>
            <a:ext cx="5372100" cy="2240280"/>
          </a:xfrm>
          <a:prstGeom prst="roundRect">
            <a:avLst>
              <a:gd name="adj" fmla="val 3673"/>
            </a:avLst>
          </a:prstGeom>
          <a:solidFill>
            <a:srgbClr val="EDF5EE"/>
          </a:solidFill>
          <a:ln/>
        </p:spPr>
      </p:sp>
      <p:sp>
        <p:nvSpPr>
          <p:cNvPr id="10" name="Text 8"/>
          <p:cNvSpPr/>
          <p:nvPr/>
        </p:nvSpPr>
        <p:spPr>
          <a:xfrm>
            <a:off x="6560820" y="2048256"/>
            <a:ext cx="4750308" cy="402336"/>
          </a:xfrm>
          <a:prstGeom prst="rect">
            <a:avLst/>
          </a:prstGeom>
          <a:noFill/>
          <a:ln/>
        </p:spPr>
        <p:txBody>
          <a:bodyPr wrap="square" lIns="0" tIns="0" rIns="0" bIns="0" rtlCol="0" anchor="ctr"/>
          <a:lstStyle/>
          <a:p>
            <a:pPr indent="0" marL="0">
              <a:buNone/>
            </a:pPr>
            <a:r>
              <a:rPr lang="en-US" sz="2400" b="1" dirty="0">
                <a:solidFill>
                  <a:srgbClr val="2E7D3A"/>
                </a:solidFill>
                <a:latin typeface="Trebuchet MS" pitchFamily="34" charset="0"/>
                <a:ea typeface="Trebuchet MS" pitchFamily="34" charset="-122"/>
                <a:cs typeface="Trebuchet MS" pitchFamily="34" charset="-120"/>
              </a:rPr>
              <a:t>Kennt ihr jemanden?</a:t>
            </a:r>
            <a:endParaRPr lang="en-US" sz="2400" dirty="0"/>
          </a:p>
        </p:txBody>
      </p:sp>
      <p:sp>
        <p:nvSpPr>
          <p:cNvPr id="11" name="Text 9"/>
          <p:cNvSpPr/>
          <p:nvPr/>
        </p:nvSpPr>
        <p:spPr>
          <a:xfrm>
            <a:off x="6597396" y="2542032"/>
            <a:ext cx="4677156" cy="1389888"/>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Denkt an Nachbarn, ehemalige Kollegen, Handwerker von der Baustelle, Bekannte aus dem Verein.</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Eine Empfehlung von euch sagt mehr über einen Menschen aus als jede Bewerbungsmappe.</a:t>
            </a:r>
            <a:endParaRPr lang="en-US" sz="1250" dirty="0"/>
          </a:p>
          <a:p>
            <a:pPr marL="342900" indent="-342900">
              <a:spcAft>
                <a:spcPts val="1000"/>
              </a:spcAft>
              <a:buSzPct val="100000"/>
              <a:buChar char="•"/>
            </a:pPr>
            <a:r>
              <a:rPr lang="en-US" sz="1250" dirty="0">
                <a:solidFill>
                  <a:srgbClr val="1A1819"/>
                </a:solidFill>
                <a:latin typeface="Calibri" pitchFamily="34" charset="0"/>
                <a:ea typeface="Calibri" pitchFamily="34" charset="-122"/>
                <a:cs typeface="Calibri" pitchFamily="34" charset="-120"/>
              </a:rPr>
              <a:t>Es reicht völlig, mir einen Namen und eine Nummer zu geben - den Rest übernehme ich.</a:t>
            </a:r>
            <a:endParaRPr lang="en-US" sz="1250" dirty="0"/>
          </a:p>
        </p:txBody>
      </p:sp>
      <p:sp>
        <p:nvSpPr>
          <p:cNvPr id="12" name="Shape 10"/>
          <p:cNvSpPr/>
          <p:nvPr/>
        </p:nvSpPr>
        <p:spPr>
          <a:xfrm>
            <a:off x="566928" y="4279392"/>
            <a:ext cx="11055096" cy="932688"/>
          </a:xfrm>
          <a:prstGeom prst="roundRect">
            <a:avLst>
              <a:gd name="adj" fmla="val 8824"/>
            </a:avLst>
          </a:prstGeom>
          <a:solidFill>
            <a:srgbClr val="F5F6F3"/>
          </a:solidFill>
          <a:ln/>
          <a:effectLst>
            <a:outerShdw sx="100000" sy="100000" kx="0" ky="0" algn="bl" rotWithShape="0" blurRad="127000" dist="25400" dir="5400000">
              <a:srgbClr val="000000">
                <a:alpha val="7000"/>
              </a:srgbClr>
            </a:outerShdw>
          </a:effectLst>
        </p:spPr>
      </p:sp>
      <p:sp>
        <p:nvSpPr>
          <p:cNvPr id="13" name="Text 11"/>
          <p:cNvSpPr/>
          <p:nvPr/>
        </p:nvSpPr>
        <p:spPr>
          <a:xfrm>
            <a:off x="877824" y="4389120"/>
            <a:ext cx="10433304" cy="274320"/>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Warum jetzt</a:t>
            </a:r>
            <a:endParaRPr lang="en-US" sz="1500" dirty="0"/>
          </a:p>
        </p:txBody>
      </p:sp>
      <p:sp>
        <p:nvSpPr>
          <p:cNvPr id="14" name="Text 12"/>
          <p:cNvSpPr/>
          <p:nvPr/>
        </p:nvSpPr>
        <p:spPr>
          <a:xfrm>
            <a:off x="877824" y="4663440"/>
            <a:ext cx="10433304" cy="438912"/>
          </a:xfrm>
          <a:prstGeom prst="rect">
            <a:avLst/>
          </a:prstGeom>
          <a:noFill/>
          <a:ln/>
        </p:spPr>
        <p:txBody>
          <a:bodyPr wrap="square" lIns="0" tIns="0" rIns="0" bIns="0" rtlCol="0" anchor="t"/>
          <a:lstStyle/>
          <a:p>
            <a:pPr indent="0" marL="0">
              <a:lnSpc>
                <a:spcPts val="1600"/>
              </a:lnSpc>
              <a:buNone/>
            </a:pPr>
            <a:r>
              <a:rPr lang="en-US" sz="1250" dirty="0">
                <a:solidFill>
                  <a:srgbClr val="1A1819"/>
                </a:solidFill>
                <a:latin typeface="Calibri" pitchFamily="34" charset="0"/>
                <a:ea typeface="Calibri" pitchFamily="34" charset="-122"/>
                <a:cs typeface="Calibri" pitchFamily="34" charset="-120"/>
              </a:rPr>
              <a:t>Wir wachsen - mit Kassel, mit Dortmund ab Oktober und mit immer mehr Objekten, die betreut werden wollen. Vieles davon erledigen wir bisher nebenher. Das soll jemand machen, der es richtig kann.</a:t>
            </a:r>
            <a:endParaRPr lang="en-US" sz="1250" dirty="0"/>
          </a:p>
        </p:txBody>
      </p:sp>
      <p:sp>
        <p:nvSpPr>
          <p:cNvPr id="15" name="Shape 13"/>
          <p:cNvSpPr/>
          <p:nvPr/>
        </p:nvSpPr>
        <p:spPr>
          <a:xfrm>
            <a:off x="566928" y="5431536"/>
            <a:ext cx="11055096" cy="621792"/>
          </a:xfrm>
          <a:prstGeom prst="roundRect">
            <a:avLst>
              <a:gd name="adj" fmla="val 13235"/>
            </a:avLst>
          </a:prstGeom>
          <a:solidFill>
            <a:srgbClr val="FFF6E0"/>
          </a:solidFill>
          <a:ln w="12700">
            <a:solidFill>
              <a:srgbClr val="E8CC8A"/>
            </a:solidFill>
            <a:prstDash val="solid"/>
          </a:ln>
        </p:spPr>
      </p:sp>
      <p:sp>
        <p:nvSpPr>
          <p:cNvPr id="16" name="Text 14"/>
          <p:cNvSpPr/>
          <p:nvPr/>
        </p:nvSpPr>
        <p:spPr>
          <a:xfrm>
            <a:off x="768096" y="5486400"/>
            <a:ext cx="10652760" cy="512064"/>
          </a:xfrm>
          <a:prstGeom prst="rect">
            <a:avLst/>
          </a:prstGeom>
          <a:noFill/>
          <a:ln/>
        </p:spPr>
        <p:txBody>
          <a:bodyPr wrap="square" lIns="0" tIns="0" rIns="0" bIns="0" rtlCol="0" anchor="ctr"/>
          <a:lstStyle/>
          <a:p>
            <a:pPr indent="0" marL="0">
              <a:buNone/>
            </a:pPr>
            <a:r>
              <a:rPr lang="en-US" sz="1200" b="1" dirty="0">
                <a:solidFill>
                  <a:srgbClr val="8A6100"/>
                </a:solidFill>
                <a:latin typeface="Calibri" pitchFamily="34" charset="0"/>
                <a:ea typeface="Calibri" pitchFamily="34" charset="-122"/>
                <a:cs typeface="Calibri" pitchFamily="34" charset="-120"/>
              </a:rPr>
              <a:t>So geht's:  </a:t>
            </a:r>
            <a:pPr indent="0" marL="0">
              <a:buNone/>
            </a:pPr>
            <a:r>
              <a:rPr lang="en-US" sz="1200" dirty="0">
                <a:solidFill>
                  <a:srgbClr val="1A1819"/>
                </a:solidFill>
                <a:latin typeface="Calibri" pitchFamily="34" charset="0"/>
                <a:ea typeface="Calibri" pitchFamily="34" charset="-122"/>
                <a:cs typeface="Calibri" pitchFamily="34" charset="-120"/>
              </a:rPr>
              <a:t>Sprecht mich direkt an oder schreibt mir kurz in Teams. Auch ein „Ich frage mal rum" hilft schon - Hauptsache, es bleibt nicht bei einem Nicken hier im Raum.</a:t>
            </a:r>
            <a:endParaRPr lang="en-US" sz="1200" dirty="0"/>
          </a:p>
        </p:txBody>
      </p:sp>
      <p:sp>
        <p:nvSpPr>
          <p:cNvPr id="18" name="Text 1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Meldet euch gerne auch nach dem Meeting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3 · TERMINE</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Und sonst so</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Vier Dinge zum Mitnehmen - und ein Termin, den ihr euch merken solltet.</a:t>
            </a:r>
            <a:endParaRPr lang="en-US" sz="1400" dirty="0"/>
          </a:p>
        </p:txBody>
      </p:sp>
      <p:sp>
        <p:nvSpPr>
          <p:cNvPr id="5" name="Shape 3"/>
          <p:cNvSpPr/>
          <p:nvPr/>
        </p:nvSpPr>
        <p:spPr>
          <a:xfrm>
            <a:off x="566928" y="1847088"/>
            <a:ext cx="5372100" cy="2011680"/>
          </a:xfrm>
          <a:prstGeom prst="roundRect">
            <a:avLst>
              <a:gd name="adj" fmla="val 4091"/>
            </a:avLst>
          </a:prstGeom>
          <a:solidFill>
            <a:srgbClr val="2E7D3A"/>
          </a:solidFill>
          <a:ln/>
        </p:spPr>
      </p:sp>
      <p:sp>
        <p:nvSpPr>
          <p:cNvPr id="6" name="Text 4"/>
          <p:cNvSpPr/>
          <p:nvPr/>
        </p:nvSpPr>
        <p:spPr>
          <a:xfrm>
            <a:off x="877824" y="2029968"/>
            <a:ext cx="4206240" cy="256032"/>
          </a:xfrm>
          <a:prstGeom prst="rect">
            <a:avLst/>
          </a:prstGeom>
          <a:noFill/>
          <a:ln/>
        </p:spPr>
        <p:txBody>
          <a:bodyPr wrap="square" lIns="0" tIns="0" rIns="0" bIns="0" rtlCol="0" anchor="ctr"/>
          <a:lstStyle/>
          <a:p>
            <a:pPr indent="0" marL="0">
              <a:buNone/>
            </a:pPr>
            <a:r>
              <a:rPr lang="en-US" sz="1050" b="1" spc="160" kern="0" dirty="0">
                <a:solidFill>
                  <a:srgbClr val="BFDCC4"/>
                </a:solidFill>
                <a:latin typeface="Calibri" pitchFamily="34" charset="0"/>
                <a:ea typeface="Calibri" pitchFamily="34" charset="-122"/>
                <a:cs typeface="Calibri" pitchFamily="34" charset="-120"/>
              </a:rPr>
              <a:t>SAVE THE DATE</a:t>
            </a:r>
            <a:endParaRPr lang="en-US" sz="1050" dirty="0"/>
          </a:p>
        </p:txBody>
      </p:sp>
      <p:sp>
        <p:nvSpPr>
          <p:cNvPr id="7" name="Text 5"/>
          <p:cNvSpPr/>
          <p:nvPr/>
        </p:nvSpPr>
        <p:spPr>
          <a:xfrm>
            <a:off x="877824" y="2322576"/>
            <a:ext cx="4750308"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After Five Grillen</a:t>
            </a:r>
            <a:endParaRPr lang="en-US" sz="3000" dirty="0"/>
          </a:p>
        </p:txBody>
      </p:sp>
      <p:sp>
        <p:nvSpPr>
          <p:cNvPr id="8" name="Shape 6"/>
          <p:cNvSpPr/>
          <p:nvPr/>
        </p:nvSpPr>
        <p:spPr>
          <a:xfrm>
            <a:off x="877824" y="2962656"/>
            <a:ext cx="2011680" cy="457200"/>
          </a:xfrm>
          <a:prstGeom prst="roundRect">
            <a:avLst>
              <a:gd name="adj" fmla="val 50000"/>
            </a:avLst>
          </a:prstGeom>
          <a:solidFill>
            <a:srgbClr val="FFFFFF"/>
          </a:solidFill>
          <a:ln/>
        </p:spPr>
      </p:sp>
      <p:sp>
        <p:nvSpPr>
          <p:cNvPr id="9" name="Text 7"/>
          <p:cNvSpPr/>
          <p:nvPr/>
        </p:nvSpPr>
        <p:spPr>
          <a:xfrm>
            <a:off x="877824" y="2962656"/>
            <a:ext cx="2011680" cy="457200"/>
          </a:xfrm>
          <a:prstGeom prst="rect">
            <a:avLst/>
          </a:prstGeom>
          <a:noFill/>
          <a:ln/>
        </p:spPr>
        <p:txBody>
          <a:bodyPr wrap="square" lIns="0" tIns="0" rIns="0" bIns="0" rtlCol="0" anchor="ctr"/>
          <a:lstStyle/>
          <a:p>
            <a:pPr algn="ctr" indent="0" marL="0">
              <a:buNone/>
            </a:pPr>
            <a:r>
              <a:rPr lang="en-US" sz="1250" b="1" dirty="0">
                <a:solidFill>
                  <a:srgbClr val="2E7D3A"/>
                </a:solidFill>
                <a:latin typeface="Calibri" pitchFamily="34" charset="0"/>
                <a:ea typeface="Calibri" pitchFamily="34" charset="-122"/>
                <a:cs typeface="Calibri" pitchFamily="34" charset="-120"/>
              </a:rPr>
              <a:t>im September</a:t>
            </a:r>
            <a:endParaRPr lang="en-US" sz="1250" dirty="0"/>
          </a:p>
        </p:txBody>
      </p:sp>
      <p:sp>
        <p:nvSpPr>
          <p:cNvPr id="10" name="Text 8"/>
          <p:cNvSpPr/>
          <p:nvPr/>
        </p:nvSpPr>
        <p:spPr>
          <a:xfrm>
            <a:off x="877824" y="3474720"/>
            <a:ext cx="4750308" cy="365760"/>
          </a:xfrm>
          <a:prstGeom prst="rect">
            <a:avLst/>
          </a:prstGeom>
          <a:noFill/>
          <a:ln/>
        </p:spPr>
        <p:txBody>
          <a:bodyPr wrap="square" lIns="0" tIns="0" rIns="0" bIns="0" rtlCol="0" anchor="t"/>
          <a:lstStyle/>
          <a:p>
            <a:pPr indent="0" marL="0">
              <a:lnSpc>
                <a:spcPts val="1600"/>
              </a:lnSpc>
              <a:buNone/>
            </a:pPr>
            <a:r>
              <a:rPr lang="en-US" sz="1200" dirty="0">
                <a:solidFill>
                  <a:srgbClr val="E4EDE5"/>
                </a:solidFill>
                <a:latin typeface="Calibri" pitchFamily="34" charset="0"/>
                <a:ea typeface="Calibri" pitchFamily="34" charset="-122"/>
                <a:cs typeface="Calibri" pitchFamily="34" charset="-120"/>
              </a:rPr>
              <a:t>Genauer Termin folgt. Haltet euch die Abende im September frei - es lohnt sich.</a:t>
            </a:r>
            <a:endParaRPr lang="en-US" sz="1200" dirty="0"/>
          </a:p>
        </p:txBody>
      </p:sp>
      <p:sp>
        <p:nvSpPr>
          <p:cNvPr id="11" name="Shape 9"/>
          <p:cNvSpPr/>
          <p:nvPr/>
        </p:nvSpPr>
        <p:spPr>
          <a:xfrm>
            <a:off x="6249924" y="1847088"/>
            <a:ext cx="5372100" cy="621792"/>
          </a:xfrm>
          <a:prstGeom prst="roundRect">
            <a:avLst>
              <a:gd name="adj" fmla="val 10294"/>
            </a:avLst>
          </a:prstGeom>
          <a:solidFill>
            <a:srgbClr val="F5F6F3"/>
          </a:solidFill>
          <a:ln/>
        </p:spPr>
      </p:sp>
      <p:sp>
        <p:nvSpPr>
          <p:cNvPr id="12" name="Shape 10"/>
          <p:cNvSpPr/>
          <p:nvPr/>
        </p:nvSpPr>
        <p:spPr>
          <a:xfrm>
            <a:off x="6469380" y="1993392"/>
            <a:ext cx="329184" cy="329184"/>
          </a:xfrm>
          <a:prstGeom prst="ellipse">
            <a:avLst/>
          </a:prstGeom>
          <a:solidFill>
            <a:srgbClr val="58B264"/>
          </a:solidFill>
          <a:ln/>
        </p:spPr>
      </p:sp>
      <p:sp>
        <p:nvSpPr>
          <p:cNvPr id="13" name="Text 11"/>
          <p:cNvSpPr/>
          <p:nvPr/>
        </p:nvSpPr>
        <p:spPr>
          <a:xfrm>
            <a:off x="6469380" y="19933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2"/>
          <p:cNvSpPr/>
          <p:nvPr/>
        </p:nvSpPr>
        <p:spPr>
          <a:xfrm>
            <a:off x="6908292" y="1883664"/>
            <a:ext cx="4494276" cy="274320"/>
          </a:xfrm>
          <a:prstGeom prst="rect">
            <a:avLst/>
          </a:prstGeom>
          <a:noFill/>
          <a:ln/>
        </p:spPr>
        <p:txBody>
          <a:bodyPr wrap="square" lIns="0" tIns="0" rIns="0" bIns="0" rtlCol="0" anchor="ctr"/>
          <a:lstStyle/>
          <a:p>
            <a:pPr indent="0" marL="0">
              <a:buNone/>
            </a:pPr>
            <a:r>
              <a:rPr lang="en-US" sz="1350" b="1" dirty="0">
                <a:solidFill>
                  <a:srgbClr val="1A1819"/>
                </a:solidFill>
                <a:latin typeface="Trebuchet MS" pitchFamily="34" charset="0"/>
                <a:ea typeface="Trebuchet MS" pitchFamily="34" charset="-122"/>
                <a:cs typeface="Trebuchet MS" pitchFamily="34" charset="-120"/>
              </a:rPr>
              <a:t>JobRad-Inspektion</a:t>
            </a:r>
            <a:endParaRPr lang="en-US" sz="1350" dirty="0"/>
          </a:p>
        </p:txBody>
      </p:sp>
      <p:sp>
        <p:nvSpPr>
          <p:cNvPr id="15" name="Text 13"/>
          <p:cNvSpPr/>
          <p:nvPr/>
        </p:nvSpPr>
        <p:spPr>
          <a:xfrm>
            <a:off x="6908292" y="2130552"/>
            <a:ext cx="4512564" cy="310896"/>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Rad durchchecken lassen - ist bereits bezahlt.</a:t>
            </a:r>
            <a:endParaRPr lang="en-US" sz="1050" dirty="0"/>
          </a:p>
        </p:txBody>
      </p:sp>
      <p:sp>
        <p:nvSpPr>
          <p:cNvPr id="16" name="Shape 14"/>
          <p:cNvSpPr/>
          <p:nvPr/>
        </p:nvSpPr>
        <p:spPr>
          <a:xfrm>
            <a:off x="6249924" y="2542032"/>
            <a:ext cx="5372100" cy="621792"/>
          </a:xfrm>
          <a:prstGeom prst="roundRect">
            <a:avLst>
              <a:gd name="adj" fmla="val 10294"/>
            </a:avLst>
          </a:prstGeom>
          <a:solidFill>
            <a:srgbClr val="F5F6F3"/>
          </a:solidFill>
          <a:ln/>
        </p:spPr>
      </p:sp>
      <p:sp>
        <p:nvSpPr>
          <p:cNvPr id="17" name="Shape 15"/>
          <p:cNvSpPr/>
          <p:nvPr/>
        </p:nvSpPr>
        <p:spPr>
          <a:xfrm>
            <a:off x="6469380" y="2688336"/>
            <a:ext cx="329184" cy="329184"/>
          </a:xfrm>
          <a:prstGeom prst="ellipse">
            <a:avLst/>
          </a:prstGeom>
          <a:solidFill>
            <a:srgbClr val="58B264"/>
          </a:solidFill>
          <a:ln/>
        </p:spPr>
      </p:sp>
      <p:sp>
        <p:nvSpPr>
          <p:cNvPr id="18" name="Text 16"/>
          <p:cNvSpPr/>
          <p:nvPr/>
        </p:nvSpPr>
        <p:spPr>
          <a:xfrm>
            <a:off x="6469380" y="26883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p:nvPr/>
        </p:nvSpPr>
        <p:spPr>
          <a:xfrm>
            <a:off x="6908292" y="2578608"/>
            <a:ext cx="4494276" cy="274320"/>
          </a:xfrm>
          <a:prstGeom prst="rect">
            <a:avLst/>
          </a:prstGeom>
          <a:noFill/>
          <a:ln/>
        </p:spPr>
        <p:txBody>
          <a:bodyPr wrap="square" lIns="0" tIns="0" rIns="0" bIns="0" rtlCol="0" anchor="ctr"/>
          <a:lstStyle/>
          <a:p>
            <a:pPr indent="0" marL="0">
              <a:buNone/>
            </a:pPr>
            <a:r>
              <a:rPr lang="en-US" sz="1350" b="1" dirty="0">
                <a:solidFill>
                  <a:srgbClr val="1A1819"/>
                </a:solidFill>
                <a:latin typeface="Trebuchet MS" pitchFamily="34" charset="0"/>
                <a:ea typeface="Trebuchet MS" pitchFamily="34" charset="-122"/>
                <a:cs typeface="Trebuchet MS" pitchFamily="34" charset="-120"/>
              </a:rPr>
              <a:t>Volksbank-Event</a:t>
            </a:r>
            <a:endParaRPr lang="en-US" sz="1350" dirty="0"/>
          </a:p>
        </p:txBody>
      </p:sp>
      <p:sp>
        <p:nvSpPr>
          <p:cNvPr id="20" name="Text 18"/>
          <p:cNvSpPr/>
          <p:nvPr/>
        </p:nvSpPr>
        <p:spPr>
          <a:xfrm>
            <a:off x="6908292" y="2825496"/>
            <a:ext cx="4512564" cy="310896"/>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Zusagen sind raus. Wer noch mit möchte, kurz melden.</a:t>
            </a:r>
            <a:endParaRPr lang="en-US" sz="1050" dirty="0"/>
          </a:p>
        </p:txBody>
      </p:sp>
      <p:sp>
        <p:nvSpPr>
          <p:cNvPr id="21" name="Shape 19"/>
          <p:cNvSpPr/>
          <p:nvPr/>
        </p:nvSpPr>
        <p:spPr>
          <a:xfrm>
            <a:off x="6249924" y="3236976"/>
            <a:ext cx="5372100" cy="621792"/>
          </a:xfrm>
          <a:prstGeom prst="roundRect">
            <a:avLst>
              <a:gd name="adj" fmla="val 10294"/>
            </a:avLst>
          </a:prstGeom>
          <a:solidFill>
            <a:srgbClr val="F5F6F3"/>
          </a:solidFill>
          <a:ln/>
        </p:spPr>
      </p:sp>
      <p:sp>
        <p:nvSpPr>
          <p:cNvPr id="22" name="Shape 20"/>
          <p:cNvSpPr/>
          <p:nvPr/>
        </p:nvSpPr>
        <p:spPr>
          <a:xfrm>
            <a:off x="6469380" y="3383280"/>
            <a:ext cx="329184" cy="329184"/>
          </a:xfrm>
          <a:prstGeom prst="ellipse">
            <a:avLst/>
          </a:prstGeom>
          <a:solidFill>
            <a:srgbClr val="58B264"/>
          </a:solidFill>
          <a:ln/>
        </p:spPr>
      </p:sp>
      <p:sp>
        <p:nvSpPr>
          <p:cNvPr id="23" name="Text 21"/>
          <p:cNvSpPr/>
          <p:nvPr/>
        </p:nvSpPr>
        <p:spPr>
          <a:xfrm>
            <a:off x="6469380" y="3383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p:nvPr/>
        </p:nvSpPr>
        <p:spPr>
          <a:xfrm>
            <a:off x="6908292" y="3273552"/>
            <a:ext cx="4494276" cy="274320"/>
          </a:xfrm>
          <a:prstGeom prst="rect">
            <a:avLst/>
          </a:prstGeom>
          <a:noFill/>
          <a:ln/>
        </p:spPr>
        <p:txBody>
          <a:bodyPr wrap="square" lIns="0" tIns="0" rIns="0" bIns="0" rtlCol="0" anchor="ctr"/>
          <a:lstStyle/>
          <a:p>
            <a:pPr indent="0" marL="0">
              <a:buNone/>
            </a:pPr>
            <a:r>
              <a:rPr lang="en-US" sz="1350" b="1" dirty="0">
                <a:solidFill>
                  <a:srgbClr val="1A1819"/>
                </a:solidFill>
                <a:latin typeface="Trebuchet MS" pitchFamily="34" charset="0"/>
                <a:ea typeface="Trebuchet MS" pitchFamily="34" charset="-122"/>
                <a:cs typeface="Trebuchet MS" pitchFamily="34" charset="-120"/>
              </a:rPr>
              <a:t>SC Paderborn</a:t>
            </a:r>
            <a:endParaRPr lang="en-US" sz="1350" dirty="0"/>
          </a:p>
        </p:txBody>
      </p:sp>
      <p:sp>
        <p:nvSpPr>
          <p:cNvPr id="25" name="Text 23"/>
          <p:cNvSpPr/>
          <p:nvPr/>
        </p:nvSpPr>
        <p:spPr>
          <a:xfrm>
            <a:off x="6908292" y="3520440"/>
            <a:ext cx="4512564" cy="310896"/>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Auswärtsspiel Mainz, VIP-Ticket 270 €. Interesse an Annika.</a:t>
            </a:r>
            <a:endParaRPr lang="en-US" sz="1050" dirty="0"/>
          </a:p>
        </p:txBody>
      </p:sp>
      <p:sp>
        <p:nvSpPr>
          <p:cNvPr id="26" name="Shape 24"/>
          <p:cNvSpPr/>
          <p:nvPr/>
        </p:nvSpPr>
        <p:spPr>
          <a:xfrm>
            <a:off x="6249924" y="3931920"/>
            <a:ext cx="5372100" cy="621792"/>
          </a:xfrm>
          <a:prstGeom prst="roundRect">
            <a:avLst>
              <a:gd name="adj" fmla="val 10294"/>
            </a:avLst>
          </a:prstGeom>
          <a:solidFill>
            <a:srgbClr val="EDF5EE"/>
          </a:solidFill>
          <a:ln/>
        </p:spPr>
      </p:sp>
      <p:sp>
        <p:nvSpPr>
          <p:cNvPr id="27" name="Shape 25"/>
          <p:cNvSpPr/>
          <p:nvPr/>
        </p:nvSpPr>
        <p:spPr>
          <a:xfrm>
            <a:off x="6469380" y="4078224"/>
            <a:ext cx="329184" cy="329184"/>
          </a:xfrm>
          <a:prstGeom prst="ellipse">
            <a:avLst/>
          </a:prstGeom>
          <a:solidFill>
            <a:srgbClr val="2E7D3A"/>
          </a:solidFill>
          <a:ln/>
        </p:spPr>
      </p:sp>
      <p:sp>
        <p:nvSpPr>
          <p:cNvPr id="28" name="Text 26"/>
          <p:cNvSpPr/>
          <p:nvPr/>
        </p:nvSpPr>
        <p:spPr>
          <a:xfrm>
            <a:off x="6469380" y="40782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7"/>
          <p:cNvSpPr/>
          <p:nvPr/>
        </p:nvSpPr>
        <p:spPr>
          <a:xfrm>
            <a:off x="6908292" y="3968496"/>
            <a:ext cx="4494276" cy="274320"/>
          </a:xfrm>
          <a:prstGeom prst="rect">
            <a:avLst/>
          </a:prstGeom>
          <a:noFill/>
          <a:ln/>
        </p:spPr>
        <p:txBody>
          <a:bodyPr wrap="square" lIns="0" tIns="0" rIns="0" bIns="0" rtlCol="0" anchor="ctr"/>
          <a:lstStyle/>
          <a:p>
            <a:pPr indent="0" marL="0">
              <a:buNone/>
            </a:pPr>
            <a:r>
              <a:rPr lang="en-US" sz="1350" b="1" dirty="0">
                <a:solidFill>
                  <a:srgbClr val="1A1819"/>
                </a:solidFill>
                <a:latin typeface="Trebuchet MS" pitchFamily="34" charset="0"/>
                <a:ea typeface="Trebuchet MS" pitchFamily="34" charset="-122"/>
                <a:cs typeface="Trebuchet MS" pitchFamily="34" charset="-120"/>
              </a:rPr>
              <a:t>Neuer Opel Grandland</a:t>
            </a:r>
            <a:endParaRPr lang="en-US" sz="1350" dirty="0"/>
          </a:p>
        </p:txBody>
      </p:sp>
      <p:sp>
        <p:nvSpPr>
          <p:cNvPr id="30" name="Text 28"/>
          <p:cNvSpPr/>
          <p:nvPr/>
        </p:nvSpPr>
        <p:spPr>
          <a:xfrm>
            <a:off x="6908292" y="4224528"/>
            <a:ext cx="4512564" cy="2743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Ist geliefert. Die Fahrzeugpapiere liegen bei Melissa.</a:t>
            </a:r>
            <a:endParaRPr lang="en-US" sz="1050" dirty="0"/>
          </a:p>
        </p:txBody>
      </p:sp>
      <p:sp>
        <p:nvSpPr>
          <p:cNvPr id="31" name="Shape 29"/>
          <p:cNvSpPr/>
          <p:nvPr/>
        </p:nvSpPr>
        <p:spPr>
          <a:xfrm>
            <a:off x="566928" y="4224528"/>
            <a:ext cx="5372100" cy="1481328"/>
          </a:xfrm>
          <a:prstGeom prst="roundRect">
            <a:avLst>
              <a:gd name="adj" fmla="val 5556"/>
            </a:avLst>
          </a:prstGeom>
          <a:solidFill>
            <a:srgbClr val="F5F6F3"/>
          </a:solidFill>
          <a:ln/>
          <a:effectLst>
            <a:outerShdw sx="100000" sy="100000" kx="0" ky="0" algn="bl" rotWithShape="0" blurRad="127000" dist="25400" dir="5400000">
              <a:srgbClr val="000000">
                <a:alpha val="7000"/>
              </a:srgbClr>
            </a:outerShdw>
          </a:effectLst>
        </p:spPr>
      </p:sp>
      <p:sp>
        <p:nvSpPr>
          <p:cNvPr id="32" name="Text 30"/>
          <p:cNvSpPr/>
          <p:nvPr/>
        </p:nvSpPr>
        <p:spPr>
          <a:xfrm>
            <a:off x="877824" y="4407408"/>
            <a:ext cx="4750308" cy="310896"/>
          </a:xfrm>
          <a:prstGeom prst="rect">
            <a:avLst/>
          </a:prstGeom>
          <a:noFill/>
          <a:ln/>
        </p:spPr>
        <p:txBody>
          <a:bodyPr wrap="square" lIns="0" tIns="0" rIns="0" bIns="0" rtlCol="0" anchor="ctr"/>
          <a:lstStyle/>
          <a:p>
            <a:pPr indent="0" marL="0">
              <a:buNone/>
            </a:pPr>
            <a:r>
              <a:rPr lang="en-US" sz="1600" b="1" dirty="0">
                <a:solidFill>
                  <a:srgbClr val="2E7D3A"/>
                </a:solidFill>
                <a:latin typeface="Trebuchet MS" pitchFamily="34" charset="0"/>
                <a:ea typeface="Trebuchet MS" pitchFamily="34" charset="-122"/>
                <a:cs typeface="Trebuchet MS" pitchFamily="34" charset="-120"/>
              </a:rPr>
              <a:t>Fragen, Anliegen, Ideen?</a:t>
            </a:r>
            <a:endParaRPr lang="en-US" sz="1600" dirty="0"/>
          </a:p>
        </p:txBody>
      </p:sp>
      <p:sp>
        <p:nvSpPr>
          <p:cNvPr id="33" name="Text 31"/>
          <p:cNvSpPr/>
          <p:nvPr/>
        </p:nvSpPr>
        <p:spPr>
          <a:xfrm>
            <a:off x="896112" y="4773168"/>
            <a:ext cx="4713732" cy="786384"/>
          </a:xfrm>
          <a:prstGeom prst="rect">
            <a:avLst/>
          </a:prstGeom>
          <a:noFill/>
          <a:ln/>
        </p:spPr>
        <p:txBody>
          <a:bodyPr wrap="square" lIns="0" tIns="0" rIns="0" bIns="0" rtlCol="0" anchor="t"/>
          <a:lstStyle/>
          <a:p>
            <a:pPr indent="0" marL="0">
              <a:lnSpc>
                <a:spcPts val="1700"/>
              </a:lnSpc>
              <a:buNone/>
            </a:pPr>
            <a:r>
              <a:rPr lang="en-US" sz="1250" dirty="0">
                <a:solidFill>
                  <a:srgbClr val="1A1819"/>
                </a:solidFill>
                <a:latin typeface="Calibri" pitchFamily="34" charset="0"/>
                <a:ea typeface="Calibri" pitchFamily="34" charset="-122"/>
                <a:cs typeface="Calibri" pitchFamily="34" charset="-120"/>
              </a:rPr>
              <a:t>Meine Tür steht offen, und über den Buchungskalender könnt ihr euch jederzeit selbst einen Termin bei mir legen. Kein Anlass ist dafür zu klein.</a:t>
            </a:r>
            <a:endParaRPr lang="en-US" sz="1250" dirty="0"/>
          </a:p>
        </p:txBody>
      </p:sp>
      <p:sp>
        <p:nvSpPr>
          <p:cNvPr id="35" name="Text 32"/>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Stand 06.08.2026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819"/>
        </a:solidFill>
      </p:bgPr>
    </p:bg>
    <p:spTree>
      <p:nvGrpSpPr>
        <p:cNvPr id="1" name=""/>
        <p:cNvGrpSpPr/>
        <p:nvPr/>
      </p:nvGrpSpPr>
      <p:grpSpPr>
        <a:xfrm>
          <a:off x="0" y="0"/>
          <a:ext cx="0" cy="0"/>
          <a:chOff x="0" y="0"/>
          <a:chExt cx="0" cy="0"/>
        </a:xfrm>
      </p:grpSpPr>
      <p:sp>
        <p:nvSpPr>
          <p:cNvPr id="2" name="Shape 0"/>
          <p:cNvSpPr/>
          <p:nvPr/>
        </p:nvSpPr>
        <p:spPr>
          <a:xfrm>
            <a:off x="-1645920" y="3840480"/>
            <a:ext cx="4754880" cy="4754880"/>
          </a:xfrm>
          <a:prstGeom prst="ellipse">
            <a:avLst/>
          </a:prstGeom>
          <a:solidFill>
            <a:srgbClr val="256A30"/>
          </a:solidFill>
          <a:ln/>
        </p:spPr>
      </p:sp>
      <p:sp>
        <p:nvSpPr>
          <p:cNvPr id="3" name="Shape 1"/>
          <p:cNvSpPr/>
          <p:nvPr/>
        </p:nvSpPr>
        <p:spPr>
          <a:xfrm>
            <a:off x="9875520" y="-1280160"/>
            <a:ext cx="3840480" cy="3840480"/>
          </a:xfrm>
          <a:prstGeom prst="ellipse">
            <a:avLst/>
          </a:prstGeom>
          <a:solidFill>
            <a:srgbClr val="2E7D3A"/>
          </a:solidFill>
          <a:ln/>
        </p:spPr>
      </p:sp>
      <p:sp>
        <p:nvSpPr>
          <p:cNvPr id="4" name="Text 2"/>
          <p:cNvSpPr/>
          <p:nvPr/>
        </p:nvSpPr>
        <p:spPr>
          <a:xfrm>
            <a:off x="566928" y="731520"/>
            <a:ext cx="7315200" cy="50292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Zum Mitnehmen</a:t>
            </a:r>
            <a:endParaRPr lang="en-US" sz="3000" dirty="0"/>
          </a:p>
        </p:txBody>
      </p:sp>
      <p:sp>
        <p:nvSpPr>
          <p:cNvPr id="5" name="Shape 3"/>
          <p:cNvSpPr/>
          <p:nvPr/>
        </p:nvSpPr>
        <p:spPr>
          <a:xfrm>
            <a:off x="566928" y="1517904"/>
            <a:ext cx="347472" cy="347472"/>
          </a:xfrm>
          <a:prstGeom prst="ellipse">
            <a:avLst/>
          </a:prstGeom>
          <a:solidFill>
            <a:srgbClr val="2E7D3A"/>
          </a:solidFill>
          <a:ln/>
        </p:spPr>
      </p:sp>
      <p:sp>
        <p:nvSpPr>
          <p:cNvPr id="6" name="Text 4"/>
          <p:cNvSpPr/>
          <p:nvPr/>
        </p:nvSpPr>
        <p:spPr>
          <a:xfrm>
            <a:off x="566928" y="151790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115568" y="1481328"/>
            <a:ext cx="886968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Das GModG gilt. Die 65-%-Pflicht ist Geschichte - keine alten Konzepte mehr im Kundengespräch.</a:t>
            </a:r>
            <a:endParaRPr lang="en-US" sz="1350" dirty="0"/>
          </a:p>
        </p:txBody>
      </p:sp>
      <p:sp>
        <p:nvSpPr>
          <p:cNvPr id="8" name="Shape 6"/>
          <p:cNvSpPr/>
          <p:nvPr/>
        </p:nvSpPr>
        <p:spPr>
          <a:xfrm>
            <a:off x="566928" y="2066544"/>
            <a:ext cx="347472" cy="347472"/>
          </a:xfrm>
          <a:prstGeom prst="ellipse">
            <a:avLst/>
          </a:prstGeom>
          <a:solidFill>
            <a:srgbClr val="2E7D3A"/>
          </a:solidFill>
          <a:ln/>
        </p:spPr>
      </p:sp>
      <p:sp>
        <p:nvSpPr>
          <p:cNvPr id="9" name="Text 7"/>
          <p:cNvSpPr/>
          <p:nvPr/>
        </p:nvSpPr>
        <p:spPr>
          <a:xfrm>
            <a:off x="566928" y="206654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p:nvPr/>
        </p:nvSpPr>
        <p:spPr>
          <a:xfrm>
            <a:off x="1115568" y="2029968"/>
            <a:ext cx="886968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Ab Stufe 2 rund um den 01.01.2027 rechnen wir neu. Alte und neue Kennwerte sind nicht vergleichbar.</a:t>
            </a:r>
            <a:endParaRPr lang="en-US" sz="1350" dirty="0"/>
          </a:p>
        </p:txBody>
      </p:sp>
      <p:sp>
        <p:nvSpPr>
          <p:cNvPr id="11" name="Shape 9"/>
          <p:cNvSpPr/>
          <p:nvPr/>
        </p:nvSpPr>
        <p:spPr>
          <a:xfrm>
            <a:off x="566928" y="2615184"/>
            <a:ext cx="347472" cy="347472"/>
          </a:xfrm>
          <a:prstGeom prst="ellipse">
            <a:avLst/>
          </a:prstGeom>
          <a:solidFill>
            <a:srgbClr val="2E7D3A"/>
          </a:solidFill>
          <a:ln/>
        </p:spPr>
      </p:sp>
      <p:sp>
        <p:nvSpPr>
          <p:cNvPr id="12" name="Text 10"/>
          <p:cNvSpPr/>
          <p:nvPr/>
        </p:nvSpPr>
        <p:spPr>
          <a:xfrm>
            <a:off x="566928" y="261518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p:nvPr/>
        </p:nvSpPr>
        <p:spPr>
          <a:xfrm>
            <a:off x="1115568" y="2578608"/>
            <a:ext cx="886968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Laden im Mehrparteienhaus: bis 2.000 € je Stellplatz - aber nur noch bis zum 10.11.2026.</a:t>
            </a:r>
            <a:endParaRPr lang="en-US" sz="1350" dirty="0"/>
          </a:p>
        </p:txBody>
      </p:sp>
      <p:sp>
        <p:nvSpPr>
          <p:cNvPr id="14" name="Shape 12"/>
          <p:cNvSpPr/>
          <p:nvPr/>
        </p:nvSpPr>
        <p:spPr>
          <a:xfrm>
            <a:off x="566928" y="3163824"/>
            <a:ext cx="347472" cy="347472"/>
          </a:xfrm>
          <a:prstGeom prst="ellipse">
            <a:avLst/>
          </a:prstGeom>
          <a:solidFill>
            <a:srgbClr val="2E7D3A"/>
          </a:solidFill>
          <a:ln/>
        </p:spPr>
      </p:sp>
      <p:sp>
        <p:nvSpPr>
          <p:cNvPr id="15" name="Text 13"/>
          <p:cNvSpPr/>
          <p:nvPr/>
        </p:nvSpPr>
        <p:spPr>
          <a:xfrm>
            <a:off x="566928" y="316382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p:nvPr/>
        </p:nvSpPr>
        <p:spPr>
          <a:xfrm>
            <a:off x="1115568" y="3127248"/>
            <a:ext cx="886968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Puffer in die BzA. Wir haben keinen Nachteil, wenn mehr drinsteht.</a:t>
            </a:r>
            <a:endParaRPr lang="en-US" sz="1350" dirty="0"/>
          </a:p>
        </p:txBody>
      </p:sp>
      <p:sp>
        <p:nvSpPr>
          <p:cNvPr id="17" name="Shape 15"/>
          <p:cNvSpPr/>
          <p:nvPr/>
        </p:nvSpPr>
        <p:spPr>
          <a:xfrm>
            <a:off x="566928" y="3712464"/>
            <a:ext cx="347472" cy="347472"/>
          </a:xfrm>
          <a:prstGeom prst="ellipse">
            <a:avLst/>
          </a:prstGeom>
          <a:solidFill>
            <a:srgbClr val="2E7D3A"/>
          </a:solidFill>
          <a:ln/>
        </p:spPr>
      </p:sp>
      <p:sp>
        <p:nvSpPr>
          <p:cNvPr id="18" name="Text 16"/>
          <p:cNvSpPr/>
          <p:nvPr/>
        </p:nvSpPr>
        <p:spPr>
          <a:xfrm>
            <a:off x="566928" y="371246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p:nvPr/>
        </p:nvSpPr>
        <p:spPr>
          <a:xfrm>
            <a:off x="1115568" y="3675888"/>
            <a:ext cx="886968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Ab dem 01.10. sind wir auch in Dortmund.</a:t>
            </a:r>
            <a:endParaRPr lang="en-US" sz="1350" dirty="0"/>
          </a:p>
        </p:txBody>
      </p:sp>
      <p:sp>
        <p:nvSpPr>
          <p:cNvPr id="20" name="Shape 18"/>
          <p:cNvSpPr/>
          <p:nvPr/>
        </p:nvSpPr>
        <p:spPr>
          <a:xfrm>
            <a:off x="566928" y="4261104"/>
            <a:ext cx="347472" cy="347472"/>
          </a:xfrm>
          <a:prstGeom prst="ellipse">
            <a:avLst/>
          </a:prstGeom>
          <a:solidFill>
            <a:srgbClr val="2E7D3A"/>
          </a:solidFill>
          <a:ln/>
        </p:spPr>
      </p:sp>
      <p:sp>
        <p:nvSpPr>
          <p:cNvPr id="21" name="Text 19"/>
          <p:cNvSpPr/>
          <p:nvPr/>
        </p:nvSpPr>
        <p:spPr>
          <a:xfrm>
            <a:off x="566928" y="426110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22" name="Text 20"/>
          <p:cNvSpPr/>
          <p:nvPr/>
        </p:nvSpPr>
        <p:spPr>
          <a:xfrm>
            <a:off x="1115568" y="4224528"/>
            <a:ext cx="8869680" cy="43891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Wir suchen einen Handwerker oder Hausmeister - denkt bitte nach, wen ihr kennt.</a:t>
            </a:r>
            <a:endParaRPr lang="en-US" sz="1350" dirty="0"/>
          </a:p>
        </p:txBody>
      </p:sp>
      <p:sp>
        <p:nvSpPr>
          <p:cNvPr id="23" name="Text 21"/>
          <p:cNvSpPr/>
          <p:nvPr/>
        </p:nvSpPr>
        <p:spPr>
          <a:xfrm>
            <a:off x="566928" y="4956048"/>
            <a:ext cx="7315200" cy="475488"/>
          </a:xfrm>
          <a:prstGeom prst="rect">
            <a:avLst/>
          </a:prstGeom>
          <a:noFill/>
          <a:ln/>
        </p:spPr>
        <p:txBody>
          <a:bodyPr wrap="square" lIns="0" tIns="0" rIns="0" bIns="0" rtlCol="0" anchor="ctr"/>
          <a:lstStyle/>
          <a:p>
            <a:pPr indent="0" marL="0">
              <a:buNone/>
            </a:pPr>
            <a:r>
              <a:rPr lang="en-US" sz="2600" b="1" dirty="0">
                <a:solidFill>
                  <a:srgbClr val="58B264"/>
                </a:solidFill>
                <a:latin typeface="Trebuchet MS" pitchFamily="34" charset="0"/>
                <a:ea typeface="Trebuchet MS" pitchFamily="34" charset="-122"/>
                <a:cs typeface="Trebuchet MS" pitchFamily="34" charset="-120"/>
              </a:rPr>
              <a:t>Fragen und Diskussion</a:t>
            </a:r>
            <a:endParaRPr lang="en-US" sz="2600" dirty="0"/>
          </a:p>
        </p:txBody>
      </p:sp>
      <p:sp>
        <p:nvSpPr>
          <p:cNvPr id="24" name="Text 22"/>
          <p:cNvSpPr/>
          <p:nvPr/>
        </p:nvSpPr>
        <p:spPr>
          <a:xfrm>
            <a:off x="566928" y="5468112"/>
            <a:ext cx="8869680" cy="457200"/>
          </a:xfrm>
          <a:prstGeom prst="rect">
            <a:avLst/>
          </a:prstGeom>
          <a:noFill/>
          <a:ln/>
        </p:spPr>
        <p:txBody>
          <a:bodyPr wrap="square" lIns="0" tIns="0" rIns="0" bIns="0" rtlCol="0" anchor="t"/>
          <a:lstStyle/>
          <a:p>
            <a:pPr indent="0" marL="0">
              <a:lnSpc>
                <a:spcPts val="1700"/>
              </a:lnSpc>
              <a:buNone/>
            </a:pPr>
            <a:r>
              <a:rPr lang="en-US" sz="1300" dirty="0">
                <a:solidFill>
                  <a:srgbClr val="C9D2CA"/>
                </a:solidFill>
                <a:latin typeface="Calibri" pitchFamily="34" charset="0"/>
                <a:ea typeface="Calibri" pitchFamily="34" charset="-122"/>
                <a:cs typeface="Calibri" pitchFamily="34" charset="-120"/>
              </a:rPr>
              <a:t>Alle Schulungsunterlagen liegen in Teams. Fragen aus euren Projekten sammeln wir dort - die Antworten pflege ich ein.</a:t>
            </a:r>
            <a:endParaRPr lang="en-US" sz="1300" dirty="0"/>
          </a:p>
        </p:txBody>
      </p:sp>
      <p:sp>
        <p:nvSpPr>
          <p:cNvPr id="25" name="Text 23"/>
          <p:cNvSpPr/>
          <p:nvPr/>
        </p:nvSpPr>
        <p:spPr>
          <a:xfrm>
            <a:off x="566928" y="6172200"/>
            <a:ext cx="11055096" cy="256032"/>
          </a:xfrm>
          <a:prstGeom prst="rect">
            <a:avLst/>
          </a:prstGeom>
          <a:noFill/>
          <a:ln/>
        </p:spPr>
        <p:txBody>
          <a:bodyPr wrap="square" lIns="0" tIns="0" rIns="0" bIns="0" rtlCol="0" anchor="ctr"/>
          <a:lstStyle/>
          <a:p>
            <a:pPr indent="0" marL="0">
              <a:buNone/>
            </a:pPr>
            <a:r>
              <a:rPr lang="en-US" sz="950" dirty="0">
                <a:solidFill>
                  <a:srgbClr val="5B685D"/>
                </a:solidFill>
                <a:latin typeface="Calibri" pitchFamily="34" charset="0"/>
                <a:ea typeface="Calibri" pitchFamily="34" charset="-122"/>
                <a:cs typeface="Calibri" pitchFamily="34" charset="-120"/>
              </a:rPr>
              <a:t>WERK.E Energie-Effizienz-Beratung  ·  Rolandsweg 80, 33102 Paderborn  ·  07.08.2026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WERK.E Energie-Effizienz-Beratungs GmbH und Co. KG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Grosses Team-Meeting - 07.08.2026</dc:title>
  <dc:subject>PptxGenJS Presentation</dc:subject>
  <dc:creator>WERK.E Energie-Effizienz-Beratung</dc:creator>
  <cp:lastModifiedBy>WERK.E Energie-Effizienz-Beratung</cp:lastModifiedBy>
  <cp:revision>1</cp:revision>
  <dcterms:created xsi:type="dcterms:W3CDTF">2026-08-06T17:55:59Z</dcterms:created>
  <dcterms:modified xsi:type="dcterms:W3CDTF">2026-08-06T17:55:59Z</dcterms:modified>
</cp:coreProperties>
</file>